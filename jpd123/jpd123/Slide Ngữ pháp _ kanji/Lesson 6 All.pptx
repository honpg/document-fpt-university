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2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79" r:id="rId10"/>
    <p:sldId id="280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81" r:id="rId22"/>
    <p:sldId id="273" r:id="rId23"/>
    <p:sldId id="274" r:id="rId24"/>
    <p:sldId id="275" r:id="rId25"/>
    <p:sldId id="276" r:id="rId26"/>
    <p:sldId id="277" r:id="rId27"/>
    <p:sldId id="278" r:id="rId28"/>
  </p:sldIdLst>
  <p:sldSz cx="9144000" cy="5143500" type="screen16x9"/>
  <p:notesSz cx="6858000" cy="9144000"/>
  <p:embeddedFontLst>
    <p:embeddedFont>
      <p:font typeface="游ゴシック" panose="020B0400000000000000" pitchFamily="34" charset="-128"/>
      <p:regular r:id="rId30"/>
      <p:bold r:id="rId31"/>
    </p:embeddedFont>
    <p:embeddedFont>
      <p:font typeface="游ゴシック Light" panose="020B0300000000000000" pitchFamily="34" charset="-128"/>
      <p:regular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Tahoma" panose="020B0604030504040204" pitchFamily="34" charset="0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hAULDtjX4hdd8YWHs9wDI2cQkW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24"/>
    <p:restoredTop sz="94688"/>
  </p:normalViewPr>
  <p:slideViewPr>
    <p:cSldViewPr snapToGrid="0">
      <p:cViewPr>
        <p:scale>
          <a:sx n="178" d="100"/>
          <a:sy n="178" d="100"/>
        </p:scale>
        <p:origin x="2192" y="4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customschemas.google.com/relationships/presentationmetadata" Target="metadata"/><Relationship Id="rId21" Type="http://schemas.openxmlformats.org/officeDocument/2006/relationships/slide" Target="slides/slide19.xml"/><Relationship Id="rId34" Type="http://schemas.openxmlformats.org/officeDocument/2006/relationships/font" Target="fonts/font5.fntdata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7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4.fntdata"/><Relationship Id="rId38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7" name="Google Shape;45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9" name="Google Shape;50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4" name="Google Shape;53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dk2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7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" name="Google Shape;20;p27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" name="Google Shape;21;p27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" name="Google Shape;22;p27"/>
          <p:cNvSpPr txBox="1"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68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5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5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dt" idx="10"/>
          </p:nvPr>
        </p:nvSpPr>
        <p:spPr>
          <a:xfrm>
            <a:off x="76200" y="4551524"/>
            <a:ext cx="2057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7"/>
          <p:cNvSpPr txBox="1">
            <a:spLocks noGrp="1"/>
          </p:cNvSpPr>
          <p:nvPr>
            <p:ph type="ftr" idx="11"/>
          </p:nvPr>
        </p:nvSpPr>
        <p:spPr>
          <a:xfrm>
            <a:off x="2085393" y="177404"/>
            <a:ext cx="586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sldNum" idx="12"/>
          </p:nvPr>
        </p:nvSpPr>
        <p:spPr>
          <a:xfrm>
            <a:off x="8001000" y="17145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Twentieth Century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0EA510-7E03-A34B-AE39-9056C61A6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38793AF-FB54-574F-86BC-085AE14D4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6A8D25-3830-CD48-AC3C-6398883EB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CE80A4-2F39-A044-9159-A2FE9162F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40F272-BC82-BC46-8C26-E64B2045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14964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0FE7AB-74F2-EB4D-BDA2-FD00FFE24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6AE664-6192-BE42-A70E-7C2411538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4435EA-8113-3F4B-9657-633A2B895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46B0A1-CDBF-1448-8BF0-6AD21674A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1EF6B1-F6C1-0A41-86AD-B21143CCF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7335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53E859-FCE9-D046-B9F4-E4DFFF523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2C2034C-A6BE-6747-8A28-410E9B9B8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A27681-24BF-8E44-9B78-5F0CA2510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82B3E3-E3FA-BC46-87A3-B91B8684C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5D9F8A-0E41-914C-A94D-4522C31B8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266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11C47E-D827-6641-8FEA-A2FD16C44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369A13-429B-4546-A7AF-317FC1EDD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9260B9F-C7F7-0A42-A9CE-81CC16C19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8BE15B-9906-C644-B12A-3FF319B27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96FDE5-BE64-1E43-90A0-0BD67FDC5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8B6BB4-1089-1246-AE47-C3E8DC9C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2620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DC5B1C-280D-224C-931D-A4CAB4401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BD2824-3FA5-A24F-8506-FD5AD2055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8724EF3-2012-9C41-997B-4A7A4644A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F197C9F-A0E6-4848-BE73-B04A043388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57F5C9F-C48E-0045-93E0-7C42CCBE54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21E5D0E-6B37-9C43-BC95-273049D64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40E30A0-68AC-6A4D-AE5A-BA1D397F3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2B010D8-3DBB-ED44-9DC9-D0D21237E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7969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8E34A4-07AD-8646-80C7-85A2646CB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62EC598-249C-D546-B4C9-BA1978926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2A7A6AE-AD16-AE47-ACA8-C86D15215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9DEA33F-FDAC-3F45-A327-294B97DB4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7430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AC5303E-EEC3-1F4F-AF8D-DDB6A43B6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F85BA30-8FF0-064A-9135-79031C0BF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8D7B4C-E6AF-BF43-818C-972450D1C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4455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2CA813-04D2-8643-88F6-1B975F556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061061-C4DD-4148-9ED9-DDEB58E9E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F199EEB-A81C-0A4B-86A0-950D1F2C6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5B91B19-2BB0-E44B-8C98-20BE8B22D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B0D31A3-2103-ED48-8EBB-0D08C8FC1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7BE3E7-C0E7-2245-91D3-F8B1FA1BC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3730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5DC012-BB29-5644-AB46-92303ED50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FB85ABB-65A7-EF44-8D63-44F306AA38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5AABD1F-6053-B544-9423-C2A323E99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863D64-CD7C-514A-BFDF-C66BC8842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28A961-8774-EB40-BD79-6369B232F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4ABAFC1-FD6C-5F43-9965-BB0C4D091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9164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062C6A-E00D-EB42-9B81-936CA4B07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CFA078F-105D-D24E-8C51-01901E021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B70A79-8913-B246-986E-D41401BC7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251FBA-67B1-3F43-AAD8-9332A9612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453015-684B-614C-8E73-2912E0838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260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7096824-46AF-0D4A-B314-E1A1D26D26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B5625D1-53B1-2E44-AB81-867A0D649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6EDD39-6EBB-AB48-9D0C-FD06A905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63378E-87DC-6544-9FB9-9A2246156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058433-1878-654B-9C2D-A9C222B9E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4176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8"/>
          <p:cNvSpPr txBox="1"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dt" idx="10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ftr" idx="11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sldNum" idx="12"/>
          </p:nvPr>
        </p:nvSpPr>
        <p:spPr>
          <a:xfrm>
            <a:off x="0" y="1123507"/>
            <a:ext cx="533400" cy="18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body" idx="1"/>
          </p:nvPr>
        </p:nvSpPr>
        <p:spPr>
          <a:xfrm>
            <a:off x="609600" y="1352550"/>
            <a:ext cx="8153400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7583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9090" algn="l" rtl="0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  <a:defRPr sz="29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44169" algn="l" rtl="0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🞑"/>
              <a:defRPr sz="2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3813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sz="23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11150" algn="l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2286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1" name="Google Shape;11;p25"/>
          <p:cNvSpPr txBox="1">
            <a:spLocks noGrp="1"/>
          </p:cNvSpPr>
          <p:nvPr>
            <p:ph type="dt" idx="10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2" name="Google Shape;12;p25"/>
          <p:cNvSpPr txBox="1">
            <a:spLocks noGrp="1"/>
          </p:cNvSpPr>
          <p:nvPr>
            <p:ph type="ftr" idx="11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3" name="Google Shape;13;p25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" name="Google Shape;14;p25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" name="Google Shape;15;p25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" name="Google Shape;16;p25"/>
          <p:cNvSpPr txBox="1">
            <a:spLocks noGrp="1"/>
          </p:cNvSpPr>
          <p:nvPr>
            <p:ph type="sldNum" idx="12"/>
          </p:nvPr>
        </p:nvSpPr>
        <p:spPr>
          <a:xfrm>
            <a:off x="0" y="1123507"/>
            <a:ext cx="533400" cy="18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Twentieth Century"/>
              <a:buNone/>
              <a:defRPr sz="4200" b="0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3AA974D-B87B-4F4C-A051-F309E1BD0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D8996E-E5D1-984A-8A15-684A1EDB3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05BA2F-6048-F74C-BE59-168F3BD32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90BEA3-8767-1541-AD05-282F93EE44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34D719-4471-9141-8F9E-8D16FF9D0A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54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8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36.png"/><Relationship Id="rId4" Type="http://schemas.openxmlformats.org/officeDocument/2006/relationships/image" Target="../media/image3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/>
          <p:nvPr/>
        </p:nvSpPr>
        <p:spPr>
          <a:xfrm>
            <a:off x="1371600" y="114300"/>
            <a:ext cx="6858000" cy="299085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8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一緒に</a:t>
            </a:r>
            <a:endParaRPr sz="13800" b="1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3549915" y="3237497"/>
            <a:ext cx="2501370" cy="78175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第</a:t>
            </a:r>
            <a:r>
              <a:rPr lang="en-US" sz="5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６</a:t>
            </a:r>
            <a:r>
              <a:rPr lang="en-US" sz="3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課</a:t>
            </a:r>
            <a:endParaRPr sz="36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5315198" y="4542535"/>
            <a:ext cx="3779454" cy="55127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『できる日本語』</a:t>
            </a:r>
            <a:endParaRPr sz="32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2590800" y="285750"/>
            <a:ext cx="2667000" cy="533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いっしょ</a:t>
            </a:r>
            <a:endParaRPr sz="4400" b="1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/>
          <p:nvPr/>
        </p:nvSpPr>
        <p:spPr>
          <a:xfrm>
            <a:off x="2359763" y="263491"/>
            <a:ext cx="4038600" cy="667104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第６課</a:t>
            </a: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838200" y="2014548"/>
            <a:ext cx="7620000" cy="238600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一緒に</a:t>
            </a:r>
            <a:endParaRPr sz="6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行きませんか。</a:t>
            </a:r>
            <a:endParaRPr sz="3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 rot="721955">
            <a:off x="6268133" y="1180758"/>
            <a:ext cx="2309116" cy="1163722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パート</a:t>
            </a:r>
            <a:endParaRPr sz="36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PART </a:t>
            </a:r>
            <a:endParaRPr sz="36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9" name="Google Shape;119;p2"/>
          <p:cNvSpPr/>
          <p:nvPr/>
        </p:nvSpPr>
        <p:spPr>
          <a:xfrm rot="829033">
            <a:off x="7900380" y="1418705"/>
            <a:ext cx="548672" cy="122316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１</a:t>
            </a:r>
            <a:endParaRPr sz="96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/>
          <p:nvPr/>
        </p:nvSpPr>
        <p:spPr>
          <a:xfrm>
            <a:off x="2019700" y="1537186"/>
            <a:ext cx="44958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映画を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見に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行きます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2057400" y="1367909"/>
            <a:ext cx="48006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えいが　　　　み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2351876" y="2733258"/>
            <a:ext cx="60198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映画を　見に　行きませんか。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2456952" y="2571750"/>
            <a:ext cx="48006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えいが　　　　み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5238950" y="1537186"/>
            <a:ext cx="14478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ました。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5272817" y="1537186"/>
            <a:ext cx="127655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ません。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5336317" y="1537186"/>
            <a:ext cx="14478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ますか。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5320854" y="1537186"/>
            <a:ext cx="1840029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ましたか。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5326445" y="1535488"/>
            <a:ext cx="260203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ませんでした。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5320854" y="1530549"/>
            <a:ext cx="30480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ませんでしたか。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458768">
            <a:off x="261738" y="1230345"/>
            <a:ext cx="1517824" cy="113690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"/>
          <p:cNvSpPr/>
          <p:nvPr/>
        </p:nvSpPr>
        <p:spPr>
          <a:xfrm rot="201128">
            <a:off x="4745967" y="272932"/>
            <a:ext cx="4076300" cy="74295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47625" cap="flat" cmpd="dbl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CÁCH DIỄN ĐẠT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“RỦ RÊ, MỜI MỌC”</a:t>
            </a:r>
            <a:endParaRPr sz="32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4857252" y="2733258"/>
            <a:ext cx="2400300" cy="52322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-19878" y="2463300"/>
            <a:ext cx="9144000" cy="2680200"/>
          </a:xfrm>
          <a:prstGeom prst="rect">
            <a:avLst/>
          </a:prstGeom>
          <a:solidFill>
            <a:schemeClr val="accent1"/>
          </a:solidFill>
          <a:ln w="47625" cap="flat" cmpd="dbl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838200" y="3018884"/>
            <a:ext cx="7779000" cy="18390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47625" cap="flat" cmpd="dbl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一緒に</a:t>
            </a:r>
            <a:r>
              <a:rPr lang="en-US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　～</a:t>
            </a:r>
            <a:r>
              <a:rPr lang="en-US" sz="54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ませんか</a:t>
            </a:r>
            <a:r>
              <a:rPr lang="en-US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1436561" y="3134225"/>
            <a:ext cx="183062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いっしょ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2456952" y="4305186"/>
            <a:ext cx="409241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Có (làm gì) cùng tớ không?</a:t>
            </a:r>
            <a:endParaRPr sz="2400" i="1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/>
          <p:nvPr/>
        </p:nvSpPr>
        <p:spPr>
          <a:xfrm>
            <a:off x="3524269" y="2103206"/>
            <a:ext cx="990600" cy="718255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47" name="Google Shape;14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95308">
            <a:off x="6965611" y="116811"/>
            <a:ext cx="1935614" cy="1161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78425">
            <a:off x="141448" y="2996829"/>
            <a:ext cx="1744811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66145">
            <a:off x="362807" y="1283367"/>
            <a:ext cx="1628410" cy="117813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4"/>
          <p:cNvSpPr txBox="1"/>
          <p:nvPr/>
        </p:nvSpPr>
        <p:spPr>
          <a:xfrm>
            <a:off x="2590799" y="1516291"/>
            <a:ext cx="63417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今晩、一緒に　テニスを　しませんか。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2624666" y="1298438"/>
            <a:ext cx="48006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こんばん　いっしょ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1524000" y="3257550"/>
            <a:ext cx="7425569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土曜日、一緒に　カラオケに　行きませんか。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1600200" y="3088273"/>
            <a:ext cx="48006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どようび　　　いっしょ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 txBox="1"/>
          <p:nvPr/>
        </p:nvSpPr>
        <p:spPr>
          <a:xfrm rot="-211667">
            <a:off x="317091" y="2245731"/>
            <a:ext cx="99877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Tonight</a:t>
            </a:r>
            <a:endParaRPr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 txBox="1"/>
          <p:nvPr/>
        </p:nvSpPr>
        <p:spPr>
          <a:xfrm rot="-211667">
            <a:off x="199681" y="4620058"/>
            <a:ext cx="113445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Saturday</a:t>
            </a:r>
            <a:endParaRPr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08284">
            <a:off x="2020871" y="2008360"/>
            <a:ext cx="1519238" cy="104272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 txBox="1"/>
          <p:nvPr/>
        </p:nvSpPr>
        <p:spPr>
          <a:xfrm>
            <a:off x="4800600" y="2002577"/>
            <a:ext cx="22860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いいですね。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4800600" y="2530999"/>
            <a:ext cx="40386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一緒に　しましょう。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3551754" y="3927755"/>
            <a:ext cx="990600" cy="718255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60" name="Google Shape;160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08284">
            <a:off x="2048356" y="3832909"/>
            <a:ext cx="1519238" cy="104272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"/>
          <p:cNvSpPr txBox="1"/>
          <p:nvPr/>
        </p:nvSpPr>
        <p:spPr>
          <a:xfrm>
            <a:off x="4828085" y="3827126"/>
            <a:ext cx="22860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いいですね。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4828085" y="4355548"/>
            <a:ext cx="40386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一緒に　行きましょう。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6248400" y="2525797"/>
            <a:ext cx="2057400" cy="528422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6255956" y="4352947"/>
            <a:ext cx="2430843" cy="528422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"/>
          <p:cNvSpPr/>
          <p:nvPr/>
        </p:nvSpPr>
        <p:spPr>
          <a:xfrm rot="201128">
            <a:off x="4649501" y="251890"/>
            <a:ext cx="4076300" cy="74295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47625" cap="flat" cmpd="dbl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CÁCH DIỄN ĐẠT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“HÔ HÀO, KÊU GỌI”</a:t>
            </a:r>
            <a:endParaRPr sz="32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6200" y="1581150"/>
            <a:ext cx="9144000" cy="2680329"/>
          </a:xfrm>
          <a:prstGeom prst="rect">
            <a:avLst/>
          </a:prstGeom>
          <a:solidFill>
            <a:schemeClr val="accent1"/>
          </a:solidFill>
          <a:ln w="47625" cap="flat" cmpd="dbl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387666" y="1885950"/>
            <a:ext cx="8756334" cy="21336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47625" cap="flat" cmpd="dbl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Ⅴ</a:t>
            </a:r>
            <a:r>
              <a:rPr lang="en-US" sz="54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ます</a:t>
            </a:r>
            <a:r>
              <a:rPr lang="en-US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👉　</a:t>
            </a:r>
            <a:r>
              <a:rPr lang="en-US" sz="8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Ⅴ</a:t>
            </a:r>
            <a:r>
              <a:rPr lang="en-US" sz="54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ましょう</a:t>
            </a:r>
            <a:r>
              <a:rPr lang="en-US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2533152" y="3423165"/>
            <a:ext cx="409241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Nào mình cùng…</a:t>
            </a:r>
            <a:endParaRPr sz="2400" i="1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74" name="Google Shape;17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301899">
            <a:off x="193817" y="97208"/>
            <a:ext cx="2455395" cy="1052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7826" y="38817"/>
            <a:ext cx="1746242" cy="133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256574">
            <a:off x="6086742" y="1196420"/>
            <a:ext cx="2397953" cy="1342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"/>
          <p:cNvSpPr txBox="1"/>
          <p:nvPr/>
        </p:nvSpPr>
        <p:spPr>
          <a:xfrm>
            <a:off x="2675467" y="1929887"/>
            <a:ext cx="44069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Cùng tớ vào nhà hàng ở đằng kia không?</a:t>
            </a:r>
            <a:endParaRPr sz="1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2842624" y="3545273"/>
            <a:ext cx="44069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Ngày mai cùng tớ đi mua sắm không?</a:t>
            </a:r>
            <a:endParaRPr sz="1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4" name="Google Shape;18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30397">
            <a:off x="304800" y="1344579"/>
            <a:ext cx="1938392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15492">
            <a:off x="381000" y="3020979"/>
            <a:ext cx="2543175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6"/>
          <p:cNvSpPr txBox="1"/>
          <p:nvPr/>
        </p:nvSpPr>
        <p:spPr>
          <a:xfrm>
            <a:off x="1295400" y="1801779"/>
            <a:ext cx="78486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一緒に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あそこのレストランに入りませんか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1295400" y="1580085"/>
            <a:ext cx="70866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いっしょ　　　　　　　　　　　　　　　　　　　　はい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2281841" y="3554379"/>
            <a:ext cx="6404959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明日、一緒に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買い物に行きませんか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2273374" y="3385102"/>
            <a:ext cx="48006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あした　　　いっしょ　　　か　　もの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 txBox="1"/>
          <p:nvPr/>
        </p:nvSpPr>
        <p:spPr>
          <a:xfrm rot="-211667">
            <a:off x="9345" y="2426665"/>
            <a:ext cx="113064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Overthere</a:t>
            </a:r>
            <a:endParaRPr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 txBox="1"/>
          <p:nvPr/>
        </p:nvSpPr>
        <p:spPr>
          <a:xfrm rot="-211667">
            <a:off x="151249" y="4480215"/>
            <a:ext cx="130713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Tomorrow</a:t>
            </a:r>
            <a:endParaRPr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08284">
            <a:off x="2856570" y="2393633"/>
            <a:ext cx="1519238" cy="1042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66604">
            <a:off x="7365736" y="2304424"/>
            <a:ext cx="1651388" cy="122114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6"/>
          <p:cNvSpPr txBox="1"/>
          <p:nvPr/>
        </p:nvSpPr>
        <p:spPr>
          <a:xfrm>
            <a:off x="2186368" y="2416469"/>
            <a:ext cx="428474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すみません、ちょっと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2311579" y="4083682"/>
            <a:ext cx="428474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明日は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ちょっと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2311579" y="4624277"/>
            <a:ext cx="3784421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いそがしいですから。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267200" y="2348594"/>
            <a:ext cx="2057400" cy="59109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3770116" y="4020385"/>
            <a:ext cx="2057400" cy="59109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9" name="Google Shape;199;p6"/>
          <p:cNvSpPr/>
          <p:nvPr/>
        </p:nvSpPr>
        <p:spPr>
          <a:xfrm rot="10800000">
            <a:off x="6528829" y="2363096"/>
            <a:ext cx="990600" cy="718255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00" name="Google Shape;200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95308">
            <a:off x="6965611" y="116811"/>
            <a:ext cx="1935614" cy="1161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 txBox="1"/>
          <p:nvPr/>
        </p:nvSpPr>
        <p:spPr>
          <a:xfrm>
            <a:off x="1679893" y="4593110"/>
            <a:ext cx="44069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Tối nay ở nhà giám đốc có tiệc.</a:t>
            </a:r>
            <a:endParaRPr sz="1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7" name="Google Shape;207;p7"/>
          <p:cNvSpPr/>
          <p:nvPr/>
        </p:nvSpPr>
        <p:spPr>
          <a:xfrm rot="201608">
            <a:off x="6019800" y="209550"/>
            <a:ext cx="2667000" cy="7620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47625" cap="flat" cmpd="dbl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あります</a:t>
            </a:r>
            <a:endParaRPr sz="36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2057400" y="1421612"/>
            <a:ext cx="50250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Ở thành phố tôi không có siêu thị</a:t>
            </a:r>
            <a:endParaRPr sz="1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1733744" y="1347175"/>
            <a:ext cx="6267256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私の町に　スーパーが　ありません。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2438400" y="1172884"/>
            <a:ext cx="762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まち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80749">
            <a:off x="47344" y="807758"/>
            <a:ext cx="1639055" cy="1227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7" descr="https://encrypted-tbn3.gstatic.com/images?q=tbn:ANd9GcT43F7cbSu0_j0nPGkThPPTtP-9RsREBz5uzcTfqkBp9haXydY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88544">
            <a:off x="265527" y="2179270"/>
            <a:ext cx="1638300" cy="94974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 txBox="1"/>
          <p:nvPr/>
        </p:nvSpPr>
        <p:spPr>
          <a:xfrm>
            <a:off x="2381056" y="2319520"/>
            <a:ext cx="50250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Ở Hải Phòng có nhà máy sản xuất ô tô.</a:t>
            </a:r>
            <a:endParaRPr sz="1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1426703" y="4549350"/>
            <a:ext cx="7331045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今晩　社長の家で　パーティーが　あります。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1417788" y="4352954"/>
            <a:ext cx="3010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こんばん　しゃちょう　うち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231811">
            <a:off x="6822180" y="2804837"/>
            <a:ext cx="2033151" cy="126714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"/>
          <p:cNvSpPr txBox="1"/>
          <p:nvPr/>
        </p:nvSpPr>
        <p:spPr>
          <a:xfrm rot="-211667">
            <a:off x="7822695" y="3969756"/>
            <a:ext cx="113445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Party</a:t>
            </a:r>
            <a:endParaRPr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161286">
            <a:off x="4756696" y="2729708"/>
            <a:ext cx="1776121" cy="144086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 txBox="1"/>
          <p:nvPr/>
        </p:nvSpPr>
        <p:spPr>
          <a:xfrm rot="-211667">
            <a:off x="5271145" y="3969754"/>
            <a:ext cx="113445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Meeting</a:t>
            </a:r>
            <a:endParaRPr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73433">
            <a:off x="2073762" y="2926652"/>
            <a:ext cx="2219345" cy="135325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7"/>
          <p:cNvSpPr txBox="1"/>
          <p:nvPr/>
        </p:nvSpPr>
        <p:spPr>
          <a:xfrm rot="-211667">
            <a:off x="2507858" y="4088437"/>
            <a:ext cx="16277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Football match</a:t>
            </a:r>
            <a:endParaRPr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1364994" y="2249952"/>
            <a:ext cx="70104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ハイフォンに　自動車工場が　あります。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3805175" y="2058898"/>
            <a:ext cx="244790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じどうしゃこうじょう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918244" y="1259599"/>
            <a:ext cx="8225700" cy="17001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47625" cap="flat" cmpd="dbl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【Place】で　～が　あります。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3431723" y="1449908"/>
            <a:ext cx="914400" cy="1078789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1953591" y="4602800"/>
            <a:ext cx="44069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Ngày mai ở công ty có họp.</a:t>
            </a:r>
            <a:endParaRPr sz="1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" name="Google Shape;227;p7"/>
          <p:cNvSpPr txBox="1"/>
          <p:nvPr/>
        </p:nvSpPr>
        <p:spPr>
          <a:xfrm>
            <a:off x="1584355" y="4574677"/>
            <a:ext cx="6416645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明日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会社で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会議が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あります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1601771" y="4402623"/>
            <a:ext cx="36867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あした　　かいしゃ　　　かいぎ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D3DBDF58-60EF-584F-8AD7-967D31061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60" y="0"/>
            <a:ext cx="3446675" cy="51435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B6812F5-BD45-F14A-B948-E08BE595D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018" y="-71120"/>
            <a:ext cx="3472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818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2E5EA210-5B7B-4543-8127-881858556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13" y="0"/>
            <a:ext cx="3565614" cy="51435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7B1E5B7-4418-144B-A1DA-BC7CAFED8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21" y="0"/>
            <a:ext cx="338935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520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8" descr="https://encrypted-tbn2.gstatic.com/images?q=tbn:ANd9GcRmp5E4pgidlc8rstonJ0YyNLKAizIJV5sMG-vttrYi-_eAzlBQ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309314">
            <a:off x="195348" y="106200"/>
            <a:ext cx="1622358" cy="985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8" descr="https://encrypted-tbn2.gstatic.com/images?q=tbn:ANd9GcRmp5E4pgidlc8rstonJ0YyNLKAizIJV5sMG-vttrYi-_eAzlBQ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85823">
            <a:off x="202500" y="527813"/>
            <a:ext cx="1622358" cy="98580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8"/>
          <p:cNvSpPr txBox="1"/>
          <p:nvPr/>
        </p:nvSpPr>
        <p:spPr>
          <a:xfrm>
            <a:off x="2061559" y="1692346"/>
            <a:ext cx="28152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Tôi đã mua vé hòa nhạc.</a:t>
            </a:r>
            <a:endParaRPr sz="1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152400" y="2200930"/>
            <a:ext cx="4455546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私は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コンサートの切符を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8"/>
          <p:cNvSpPr txBox="1"/>
          <p:nvPr/>
        </p:nvSpPr>
        <p:spPr>
          <a:xfrm>
            <a:off x="3317072" y="2019014"/>
            <a:ext cx="87392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きっぷ　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1951" y="2876561"/>
            <a:ext cx="6651989" cy="244460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8"/>
          <p:cNvSpPr txBox="1"/>
          <p:nvPr/>
        </p:nvSpPr>
        <p:spPr>
          <a:xfrm>
            <a:off x="4505682" y="2168143"/>
            <a:ext cx="2423219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買いました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4630675" y="1938446"/>
            <a:ext cx="87392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か　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8"/>
          <p:cNvSpPr txBox="1"/>
          <p:nvPr/>
        </p:nvSpPr>
        <p:spPr>
          <a:xfrm rot="-211667">
            <a:off x="161741" y="1319210"/>
            <a:ext cx="113445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Concert</a:t>
            </a:r>
            <a:endParaRPr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7813809" y="1601369"/>
            <a:ext cx="861448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2枚</a:t>
            </a:r>
            <a:endParaRPr sz="2800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8078015" y="1432092"/>
            <a:ext cx="87392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まい　</a:t>
            </a:r>
            <a:endParaRPr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2061559" y="1675340"/>
            <a:ext cx="455266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Tôi đã mua </a:t>
            </a:r>
            <a:r>
              <a:rPr lang="en-US" sz="1800" i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2 chiếc (2 tấm) </a:t>
            </a:r>
            <a:r>
              <a:rPr lang="en-US" sz="1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vé hòa nhạc.</a:t>
            </a:r>
            <a:endParaRPr sz="1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6" name="Google Shape;246;p8"/>
          <p:cNvSpPr/>
          <p:nvPr/>
        </p:nvSpPr>
        <p:spPr>
          <a:xfrm rot="187314">
            <a:off x="6393162" y="150049"/>
            <a:ext cx="2461459" cy="1017625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47625" cap="flat" cmpd="dbl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助数詞</a:t>
            </a:r>
            <a:endParaRPr sz="4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7" name="Google Shape;247;p8"/>
          <p:cNvSpPr txBox="1"/>
          <p:nvPr/>
        </p:nvSpPr>
        <p:spPr>
          <a:xfrm rot="224613">
            <a:off x="6940295" y="110095"/>
            <a:ext cx="156329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じょすうし　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/>
          <p:nvPr/>
        </p:nvSpPr>
        <p:spPr>
          <a:xfrm rot="-10626634">
            <a:off x="4722354" y="208238"/>
            <a:ext cx="1607664" cy="826774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9" name="Google Shape;249;p8"/>
          <p:cNvSpPr txBox="1"/>
          <p:nvPr/>
        </p:nvSpPr>
        <p:spPr>
          <a:xfrm rot="188279">
            <a:off x="5029027" y="446355"/>
            <a:ext cx="12204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TRỢ SỐ TỪ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0" name="Google Shape;250;p8"/>
          <p:cNvSpPr/>
          <p:nvPr/>
        </p:nvSpPr>
        <p:spPr>
          <a:xfrm rot="-223985">
            <a:off x="1874958" y="168243"/>
            <a:ext cx="2827579" cy="906764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47625" cap="flat" cmpd="dbl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Đi với số từ để xác định </a:t>
            </a:r>
            <a:r>
              <a:rPr lang="en-US" sz="18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CHỦNG LOẠI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của đối tượng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05B8B5A-BB1A-D540-8B6E-6F9569DC12B7}"/>
              </a:ext>
            </a:extLst>
          </p:cNvPr>
          <p:cNvSpPr txBox="1"/>
          <p:nvPr/>
        </p:nvSpPr>
        <p:spPr>
          <a:xfrm>
            <a:off x="6695440" y="209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"/>
          <p:cNvSpPr/>
          <p:nvPr/>
        </p:nvSpPr>
        <p:spPr>
          <a:xfrm>
            <a:off x="533401" y="2223939"/>
            <a:ext cx="5029200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あそこに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傘が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5本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あります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533400" y="1405425"/>
            <a:ext cx="5912209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ケーキを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4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五つ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買います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402657" y="3840786"/>
            <a:ext cx="7983182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（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Order）ハンバーガーを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4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三つ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ください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dirty="0"/>
          </a:p>
        </p:txBody>
      </p:sp>
      <p:sp>
        <p:nvSpPr>
          <p:cNvPr id="259" name="Google Shape;259;p9"/>
          <p:cNvSpPr/>
          <p:nvPr/>
        </p:nvSpPr>
        <p:spPr>
          <a:xfrm>
            <a:off x="402657" y="4585154"/>
            <a:ext cx="8360344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（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Order）スパゲッティを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4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二つ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お願いします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533400" y="3096419"/>
            <a:ext cx="6650604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切手を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10枚</a:t>
            </a:r>
            <a:r>
              <a:rPr lang="en-US" sz="2400" dirty="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と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はがきを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3枚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買います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6600" y="-24665"/>
            <a:ext cx="1844842" cy="125476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9"/>
          <p:cNvSpPr txBox="1"/>
          <p:nvPr/>
        </p:nvSpPr>
        <p:spPr>
          <a:xfrm>
            <a:off x="2006601" y="2064574"/>
            <a:ext cx="1066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かさ</a:t>
            </a:r>
            <a:endParaRPr sz="10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533400" y="2945728"/>
            <a:ext cx="4953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きって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　　　　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まい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　　　　　　　　　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まい</a:t>
            </a:r>
            <a:endParaRPr sz="10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5410200" y="4423603"/>
            <a:ext cx="685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ねが</a:t>
            </a:r>
            <a:endParaRPr sz="10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3000" y="-71488"/>
            <a:ext cx="1844842" cy="1254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3083" y="-87988"/>
            <a:ext cx="1844842" cy="1254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"/>
          <p:cNvSpPr/>
          <p:nvPr/>
        </p:nvSpPr>
        <p:spPr>
          <a:xfrm>
            <a:off x="228600" y="1489578"/>
            <a:ext cx="6899889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先生は　辞書が　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2冊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と　雑誌が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1冊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あります。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188648" y="2005215"/>
            <a:ext cx="6746936" cy="830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A: そこにハンカチが　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何枚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ありますか。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B: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3枚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あります。</a:t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191470" y="2968778"/>
            <a:ext cx="5355696" cy="830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A: コーラを　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何本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買いましたか。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B: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6本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買いました。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78579" y="0"/>
            <a:ext cx="1844842" cy="1254764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0"/>
          <p:cNvSpPr txBox="1"/>
          <p:nvPr/>
        </p:nvSpPr>
        <p:spPr>
          <a:xfrm>
            <a:off x="188648" y="1353420"/>
            <a:ext cx="537395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せんせい　　じしょ　　　　さつ　　　ざっし　　さつ　　</a:t>
            </a:r>
            <a:endParaRPr sz="10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0"/>
          <p:cNvSpPr txBox="1"/>
          <p:nvPr/>
        </p:nvSpPr>
        <p:spPr>
          <a:xfrm>
            <a:off x="3276600" y="1852196"/>
            <a:ext cx="1066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なんまい</a:t>
            </a:r>
            <a:endParaRPr sz="10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2020270" y="2800350"/>
            <a:ext cx="1066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なんぽん</a:t>
            </a:r>
            <a:endParaRPr sz="10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176616" y="3955000"/>
            <a:ext cx="6855298" cy="830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駅の前に　銀行が　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二つ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あります。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A銀行と　B銀行です。</a:t>
            </a:r>
            <a:endParaRPr/>
          </a:p>
        </p:txBody>
      </p:sp>
      <p:sp>
        <p:nvSpPr>
          <p:cNvPr id="280" name="Google Shape;280;p10"/>
          <p:cNvSpPr txBox="1"/>
          <p:nvPr/>
        </p:nvSpPr>
        <p:spPr>
          <a:xfrm>
            <a:off x="181428" y="3785723"/>
            <a:ext cx="339997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えき　　　　　ぎんこう</a:t>
            </a:r>
            <a:endParaRPr sz="10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87072" y="-7124"/>
            <a:ext cx="1844842" cy="1254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0979" y="-18751"/>
            <a:ext cx="1844842" cy="1254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"/>
          <p:cNvSpPr/>
          <p:nvPr/>
        </p:nvSpPr>
        <p:spPr>
          <a:xfrm>
            <a:off x="2359763" y="263491"/>
            <a:ext cx="4038600" cy="667104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第６課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533400" y="2014548"/>
            <a:ext cx="7924800" cy="238600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どちらがいいですか。</a:t>
            </a:r>
            <a:endParaRPr sz="3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1"/>
          <p:cNvSpPr/>
          <p:nvPr/>
        </p:nvSpPr>
        <p:spPr>
          <a:xfrm rot="721955">
            <a:off x="6268133" y="1180758"/>
            <a:ext cx="2309116" cy="1163722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パート</a:t>
            </a:r>
            <a:endParaRPr sz="36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PART </a:t>
            </a:r>
            <a:endParaRPr sz="36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0" name="Google Shape;290;p11"/>
          <p:cNvSpPr/>
          <p:nvPr/>
        </p:nvSpPr>
        <p:spPr>
          <a:xfrm rot="829033">
            <a:off x="7900380" y="1418705"/>
            <a:ext cx="548672" cy="122316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２</a:t>
            </a:r>
            <a:endParaRPr sz="96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8850" y="217556"/>
            <a:ext cx="3771900" cy="2234722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2"/>
          <p:cNvSpPr txBox="1"/>
          <p:nvPr/>
        </p:nvSpPr>
        <p:spPr>
          <a:xfrm>
            <a:off x="2228850" y="2281019"/>
            <a:ext cx="405003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　B　　C　　D　　</a:t>
            </a:r>
            <a:r>
              <a:rPr lang="ja-JP" altLang="en-US" sz="18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　</a:t>
            </a:r>
            <a:r>
              <a:rPr lang="en-US" altLang="ja-JP" sz="18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 </a:t>
            </a:r>
            <a:r>
              <a:rPr lang="en-US" sz="18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</a:t>
            </a:r>
            <a:endParaRPr sz="18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8" name="Google Shape;298;p12"/>
          <p:cNvSpPr txBox="1"/>
          <p:nvPr/>
        </p:nvSpPr>
        <p:spPr>
          <a:xfrm>
            <a:off x="228600" y="1507570"/>
            <a:ext cx="3751262" cy="58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Eは　大きいです。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2"/>
          <p:cNvSpPr txBox="1"/>
          <p:nvPr/>
        </p:nvSpPr>
        <p:spPr>
          <a:xfrm>
            <a:off x="5783262" y="1411526"/>
            <a:ext cx="3817938" cy="58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Aは　小さいです。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2"/>
          <p:cNvSpPr txBox="1"/>
          <p:nvPr/>
        </p:nvSpPr>
        <p:spPr>
          <a:xfrm>
            <a:off x="1274762" y="1336120"/>
            <a:ext cx="804863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おお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2"/>
          <p:cNvSpPr txBox="1"/>
          <p:nvPr/>
        </p:nvSpPr>
        <p:spPr>
          <a:xfrm>
            <a:off x="6773863" y="1240076"/>
            <a:ext cx="76200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ちい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2"/>
          <p:cNvSpPr txBox="1"/>
          <p:nvPr/>
        </p:nvSpPr>
        <p:spPr>
          <a:xfrm>
            <a:off x="2362200" y="2917825"/>
            <a:ext cx="5500687" cy="5842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Eは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Aより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大きいです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2"/>
          <p:cNvSpPr txBox="1"/>
          <p:nvPr/>
        </p:nvSpPr>
        <p:spPr>
          <a:xfrm>
            <a:off x="2362200" y="4060825"/>
            <a:ext cx="5500687" cy="5842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Aは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Eより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小さいです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3824287" y="2917825"/>
            <a:ext cx="914400" cy="584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3810000" y="4065588"/>
            <a:ext cx="914400" cy="584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6" name="Google Shape;306;p12"/>
          <p:cNvSpPr/>
          <p:nvPr/>
        </p:nvSpPr>
        <p:spPr>
          <a:xfrm rot="-1375659">
            <a:off x="22225" y="3316288"/>
            <a:ext cx="2286000" cy="1136650"/>
          </a:xfrm>
          <a:prstGeom prst="wedgeRoundRectCallout">
            <a:avLst>
              <a:gd name="adj1" fmla="val 108120"/>
              <a:gd name="adj2" fmla="val 100412"/>
              <a:gd name="adj3" fmla="val 16667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7" name="Google Shape;307;p12"/>
          <p:cNvSpPr txBox="1"/>
          <p:nvPr/>
        </p:nvSpPr>
        <p:spPr>
          <a:xfrm>
            <a:off x="2819400" y="3476625"/>
            <a:ext cx="1995487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 to hơn A.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8" name="Google Shape;308;p12"/>
          <p:cNvSpPr txBox="1"/>
          <p:nvPr/>
        </p:nvSpPr>
        <p:spPr>
          <a:xfrm>
            <a:off x="2900629" y="4645025"/>
            <a:ext cx="1995487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lang="en-US" sz="24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nhỏ</a:t>
            </a:r>
            <a:r>
              <a:rPr lang="en-US" sz="2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hơn</a:t>
            </a:r>
            <a:r>
              <a:rPr lang="en-US" sz="2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E.</a:t>
            </a:r>
            <a:endParaRPr sz="24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9" name="Google Shape;309;p12"/>
          <p:cNvSpPr/>
          <p:nvPr/>
        </p:nvSpPr>
        <p:spPr>
          <a:xfrm rot="-1375659">
            <a:off x="7937" y="3317875"/>
            <a:ext cx="2286000" cy="1136650"/>
          </a:xfrm>
          <a:prstGeom prst="wedgeRoundRectCallout">
            <a:avLst>
              <a:gd name="adj1" fmla="val 114305"/>
              <a:gd name="adj2" fmla="val 50303"/>
              <a:gd name="adj3" fmla="val 16667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Căn cứ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 sánh</a:t>
            </a:r>
            <a:endParaRPr sz="36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0" name="Google Shape;310;p12"/>
          <p:cNvSpPr txBox="1"/>
          <p:nvPr/>
        </p:nvSpPr>
        <p:spPr>
          <a:xfrm>
            <a:off x="4814887" y="3479800"/>
            <a:ext cx="35814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4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 với A thì E to hơn.)</a:t>
            </a:r>
            <a:endParaRPr sz="24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1" name="Google Shape;311;p12"/>
          <p:cNvSpPr txBox="1"/>
          <p:nvPr/>
        </p:nvSpPr>
        <p:spPr>
          <a:xfrm>
            <a:off x="4792662" y="4622800"/>
            <a:ext cx="35814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4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 với E thì A nhỏ hơn.)</a:t>
            </a:r>
            <a:endParaRPr sz="24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609600" y="217556"/>
            <a:ext cx="2438400" cy="75399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Mẫu câu </a:t>
            </a:r>
            <a:br>
              <a:rPr lang="en-US" sz="2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lang="en-US" sz="2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 sánh hơn</a:t>
            </a:r>
            <a:endParaRPr sz="2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6149975" y="182042"/>
            <a:ext cx="2438400" cy="75399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～より</a:t>
            </a:r>
            <a:endParaRPr sz="4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3048000" y="361951"/>
            <a:ext cx="3101975" cy="40765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5" name="Google Shape;315;p12"/>
          <p:cNvSpPr/>
          <p:nvPr/>
        </p:nvSpPr>
        <p:spPr>
          <a:xfrm rot="325178">
            <a:off x="7629771" y="3069079"/>
            <a:ext cx="3143250" cy="1786509"/>
          </a:xfrm>
          <a:prstGeom prst="wedgeEllipseCallout">
            <a:avLst>
              <a:gd name="adj1" fmla="val -19756"/>
              <a:gd name="adj2" fmla="val -94101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Đặt ngay sau đối tượng bị đem ra so sánh</a:t>
            </a:r>
            <a:endParaRPr sz="2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2296" y="2909571"/>
            <a:ext cx="3954489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1363185"/>
            <a:ext cx="1371600" cy="139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62200" y="1627664"/>
            <a:ext cx="1691435" cy="1125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19800" y="57150"/>
            <a:ext cx="2876550" cy="95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85925" y="1895175"/>
            <a:ext cx="5905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596640">
            <a:off x="5143563" y="2639811"/>
            <a:ext cx="1456290" cy="1634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67525" y="3161982"/>
            <a:ext cx="59055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3"/>
          <p:cNvSpPr/>
          <p:nvPr/>
        </p:nvSpPr>
        <p:spPr>
          <a:xfrm>
            <a:off x="3796748" y="1812272"/>
            <a:ext cx="5334000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英語は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日本語より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やさしいです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3352800" y="4309718"/>
            <a:ext cx="5791200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東京は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大阪より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物価が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高いです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 txBox="1"/>
          <p:nvPr/>
        </p:nvSpPr>
        <p:spPr>
          <a:xfrm>
            <a:off x="3806687" y="1605301"/>
            <a:ext cx="2289313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えいご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3"/>
          <p:cNvSpPr txBox="1"/>
          <p:nvPr/>
        </p:nvSpPr>
        <p:spPr>
          <a:xfrm>
            <a:off x="3235624" y="4125568"/>
            <a:ext cx="5070176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とうきょう　おおさか　　  ぶっか　　たか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9800" y="57150"/>
            <a:ext cx="2876550" cy="95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85925" y="1895175"/>
            <a:ext cx="5905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72250" y="3181350"/>
            <a:ext cx="5905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8070" y="1477733"/>
            <a:ext cx="1423988" cy="1007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32920" y="1361713"/>
            <a:ext cx="1795462" cy="1150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176837" y="2591117"/>
            <a:ext cx="1395413" cy="1572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65157" y="2529470"/>
            <a:ext cx="2178843" cy="158235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4"/>
          <p:cNvSpPr/>
          <p:nvPr/>
        </p:nvSpPr>
        <p:spPr>
          <a:xfrm>
            <a:off x="228070" y="2512659"/>
            <a:ext cx="4039130" cy="15696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ハノイは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ホーチミンより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人口が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多いです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じんこ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3505200" y="4139404"/>
            <a:ext cx="5410200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私は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あの人より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背が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高いです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4"/>
          <p:cNvSpPr txBox="1"/>
          <p:nvPr/>
        </p:nvSpPr>
        <p:spPr>
          <a:xfrm>
            <a:off x="1416268" y="3136496"/>
            <a:ext cx="804863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おお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4"/>
          <p:cNvSpPr txBox="1"/>
          <p:nvPr/>
        </p:nvSpPr>
        <p:spPr>
          <a:xfrm>
            <a:off x="6289812" y="4447193"/>
            <a:ext cx="186690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せ　　　たか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9800" y="57150"/>
            <a:ext cx="2876550" cy="95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15" descr="https://encrypted-tbn3.gstatic.com/images?q=tbn:ANd9GcTbnsxKnbbcKS_1dHFssfwh7v4O483G2K_57ATP8pmc0Ti4Z6P2fQ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044" y="1371162"/>
            <a:ext cx="1676400" cy="1044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14600" y="1317157"/>
            <a:ext cx="1962150" cy="1098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8800" y="1608383"/>
            <a:ext cx="5905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445467">
            <a:off x="4645086" y="1155584"/>
            <a:ext cx="1585367" cy="1496147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5"/>
          <p:cNvSpPr txBox="1"/>
          <p:nvPr/>
        </p:nvSpPr>
        <p:spPr>
          <a:xfrm>
            <a:off x="304800" y="2747933"/>
            <a:ext cx="88392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新幹線</a:t>
            </a:r>
            <a:r>
              <a:rPr lang="en-US" sz="32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と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飛行機</a:t>
            </a:r>
            <a:r>
              <a:rPr lang="en-US" sz="32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と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32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どちらが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速いです</a:t>
            </a:r>
            <a:r>
              <a:rPr lang="en-US" sz="32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か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5"/>
          <p:cNvSpPr txBox="1"/>
          <p:nvPr/>
        </p:nvSpPr>
        <p:spPr>
          <a:xfrm>
            <a:off x="249060" y="2574745"/>
            <a:ext cx="6837539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しんかんせん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　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ひこうき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　　　　　　　　　　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はや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5"/>
          <p:cNvSpPr txBox="1"/>
          <p:nvPr/>
        </p:nvSpPr>
        <p:spPr>
          <a:xfrm rot="-211667">
            <a:off x="6002818" y="1736899"/>
            <a:ext cx="113064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Fast</a:t>
            </a:r>
            <a:endParaRPr sz="20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5"/>
          <p:cNvSpPr/>
          <p:nvPr/>
        </p:nvSpPr>
        <p:spPr>
          <a:xfrm rot="317231">
            <a:off x="907111" y="551975"/>
            <a:ext cx="603956" cy="838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47625" cap="flat" cmpd="dbl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62" name="Google Shape;362;p15"/>
          <p:cNvSpPr txBox="1"/>
          <p:nvPr/>
        </p:nvSpPr>
        <p:spPr>
          <a:xfrm>
            <a:off x="897294" y="3519096"/>
            <a:ext cx="557970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buClr>
                <a:schemeClr val="dk1"/>
              </a:buClr>
              <a:buSzPts val="3200"/>
            </a:pPr>
            <a:r>
              <a:rPr lang="en-US" sz="3200" dirty="0" err="1">
                <a:solidFill>
                  <a:schemeClr val="dk1"/>
                </a:solidFill>
              </a:rPr>
              <a:t>飛行機</a:t>
            </a:r>
            <a:r>
              <a:rPr lang="en-US" sz="32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のほうが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速いです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5"/>
          <p:cNvSpPr txBox="1"/>
          <p:nvPr/>
        </p:nvSpPr>
        <p:spPr>
          <a:xfrm>
            <a:off x="841555" y="3345952"/>
            <a:ext cx="4035246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buClr>
                <a:schemeClr val="dk1"/>
              </a:buClr>
              <a:buSzPts val="1800"/>
            </a:pPr>
            <a:r>
              <a:rPr lang="en-US" sz="1800" dirty="0" err="1">
                <a:solidFill>
                  <a:schemeClr val="dk1"/>
                </a:solidFill>
              </a:rPr>
              <a:t>ひこうき</a:t>
            </a:r>
            <a:r>
              <a:rPr lang="en-US" sz="1800" dirty="0">
                <a:solidFill>
                  <a:schemeClr val="dk1"/>
                </a:solidFill>
              </a:rPr>
              <a:t> 　　　　　　　　</a:t>
            </a:r>
            <a:r>
              <a:rPr lang="ja-JP" altLang="en-US" sz="1800">
                <a:solidFill>
                  <a:schemeClr val="dk1"/>
                </a:solidFill>
              </a:rPr>
              <a:t>　　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はや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5"/>
          <p:cNvSpPr/>
          <p:nvPr/>
        </p:nvSpPr>
        <p:spPr>
          <a:xfrm rot="-441394">
            <a:off x="3193696" y="456828"/>
            <a:ext cx="603956" cy="838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47625" cap="flat" cmpd="dbl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65" name="Google Shape;365;p15"/>
          <p:cNvSpPr txBox="1"/>
          <p:nvPr/>
        </p:nvSpPr>
        <p:spPr>
          <a:xfrm>
            <a:off x="908583" y="4272975"/>
            <a:ext cx="557970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どちらも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速いです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5"/>
          <p:cNvSpPr txBox="1"/>
          <p:nvPr/>
        </p:nvSpPr>
        <p:spPr>
          <a:xfrm>
            <a:off x="2895867" y="4116764"/>
            <a:ext cx="695558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はや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BC4285D-071A-2547-AB5A-93A1AEDA05AF}"/>
              </a:ext>
            </a:extLst>
          </p:cNvPr>
          <p:cNvSpPr/>
          <p:nvPr/>
        </p:nvSpPr>
        <p:spPr>
          <a:xfrm>
            <a:off x="304800" y="96498"/>
            <a:ext cx="2103120" cy="4555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/>
              <a:t>Câu hỏi so sánh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8400" y="209550"/>
            <a:ext cx="3771900" cy="2234722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6"/>
          <p:cNvSpPr txBox="1"/>
          <p:nvPr/>
        </p:nvSpPr>
        <p:spPr>
          <a:xfrm>
            <a:off x="2438400" y="2273013"/>
            <a:ext cx="34686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　B　　C　　　　D　　　　　　　　E</a:t>
            </a:r>
            <a:endParaRPr sz="18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2438400" y="1962150"/>
            <a:ext cx="609600" cy="68019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75" name="Google Shape;375;p16"/>
          <p:cNvSpPr txBox="1"/>
          <p:nvPr/>
        </p:nvSpPr>
        <p:spPr>
          <a:xfrm>
            <a:off x="1066800" y="2907535"/>
            <a:ext cx="7010400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Aは　Bより　ちょっと　小さいです。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6"/>
          <p:cNvSpPr txBox="1"/>
          <p:nvPr/>
        </p:nvSpPr>
        <p:spPr>
          <a:xfrm>
            <a:off x="5715000" y="2737308"/>
            <a:ext cx="804863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ちい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6"/>
          <p:cNvSpPr txBox="1"/>
          <p:nvPr/>
        </p:nvSpPr>
        <p:spPr>
          <a:xfrm>
            <a:off x="3488972" y="3525091"/>
            <a:ext cx="1828800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すこし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4403372" y="204611"/>
            <a:ext cx="1852083" cy="2437734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2393245" y="1962150"/>
            <a:ext cx="413632" cy="680194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0" name="Google Shape;380;p16"/>
          <p:cNvSpPr txBox="1"/>
          <p:nvPr/>
        </p:nvSpPr>
        <p:spPr>
          <a:xfrm>
            <a:off x="1066800" y="4375056"/>
            <a:ext cx="7010400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Aは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Eより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ずっと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小さいです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3488972" y="2907535"/>
            <a:ext cx="2073628" cy="1202331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3657600" y="4358666"/>
            <a:ext cx="1371600" cy="601166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3" name="Google Shape;383;p16"/>
          <p:cNvSpPr/>
          <p:nvPr/>
        </p:nvSpPr>
        <p:spPr>
          <a:xfrm rot="-269160">
            <a:off x="679205" y="2275891"/>
            <a:ext cx="2121077" cy="1216677"/>
          </a:xfrm>
          <a:prstGeom prst="wedgeRoundRectCallout">
            <a:avLst>
              <a:gd name="adj1" fmla="val 77327"/>
              <a:gd name="adj2" fmla="val 78086"/>
              <a:gd name="adj3" fmla="val 16667"/>
            </a:avLst>
          </a:prstGeom>
          <a:solidFill>
            <a:schemeClr val="l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Mức độ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MỘT CHÚT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MỘT ÍT</a:t>
            </a:r>
            <a:endParaRPr sz="2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4" name="Google Shape;384;p16"/>
          <p:cNvSpPr/>
          <p:nvPr/>
        </p:nvSpPr>
        <p:spPr>
          <a:xfrm rot="479206">
            <a:off x="6343718" y="3380015"/>
            <a:ext cx="2121077" cy="1216677"/>
          </a:xfrm>
          <a:prstGeom prst="wedgeRoundRectCallout">
            <a:avLst>
              <a:gd name="adj1" fmla="val -106320"/>
              <a:gd name="adj2" fmla="val 73349"/>
              <a:gd name="adj3" fmla="val 16667"/>
            </a:avLst>
          </a:prstGeom>
          <a:solidFill>
            <a:schemeClr val="l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Mức độ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HƠN HẲN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RẤT NHIỀU</a:t>
            </a:r>
            <a:endParaRPr sz="2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8400" y="733699"/>
            <a:ext cx="3771900" cy="2234722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7"/>
          <p:cNvSpPr txBox="1"/>
          <p:nvPr/>
        </p:nvSpPr>
        <p:spPr>
          <a:xfrm>
            <a:off x="2438400" y="2797162"/>
            <a:ext cx="34686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　B　　C　　　　D　　　　　　　　E</a:t>
            </a:r>
            <a:endParaRPr sz="18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92" name="Google Shape;392;p17"/>
          <p:cNvSpPr txBox="1"/>
          <p:nvPr/>
        </p:nvSpPr>
        <p:spPr>
          <a:xfrm>
            <a:off x="1066800" y="3431684"/>
            <a:ext cx="4953000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Aは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一番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小さいです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7"/>
          <p:cNvSpPr txBox="1"/>
          <p:nvPr/>
        </p:nvSpPr>
        <p:spPr>
          <a:xfrm>
            <a:off x="2209800" y="3297206"/>
            <a:ext cx="1962943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いちばん　ちい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4403372" y="728760"/>
            <a:ext cx="1852083" cy="2437734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2393245" y="2486299"/>
            <a:ext cx="413632" cy="680194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96" name="Google Shape;396;p17"/>
          <p:cNvSpPr txBox="1"/>
          <p:nvPr/>
        </p:nvSpPr>
        <p:spPr>
          <a:xfrm>
            <a:off x="1066800" y="4400550"/>
            <a:ext cx="7010400" cy="58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Aは　一番　大きいです。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2110404" y="3412063"/>
            <a:ext cx="1257476" cy="617556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2053342" y="4420438"/>
            <a:ext cx="1371600" cy="601166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99" name="Google Shape;399;p17"/>
          <p:cNvSpPr txBox="1"/>
          <p:nvPr/>
        </p:nvSpPr>
        <p:spPr>
          <a:xfrm>
            <a:off x="2209801" y="4236288"/>
            <a:ext cx="1962942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いちばん　おお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609600" y="217556"/>
            <a:ext cx="2438400" cy="75399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Mẫu câu </a:t>
            </a:r>
            <a:br>
              <a:rPr lang="en-US" sz="2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lang="en-US" sz="2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 sánh nhất</a:t>
            </a:r>
            <a:endParaRPr sz="2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6149974" y="182042"/>
            <a:ext cx="2689225" cy="75399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いちばん</a:t>
            </a:r>
            <a:endParaRPr sz="4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3048000" y="344670"/>
            <a:ext cx="3101975" cy="44221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3" name="Google Shape;403;p17"/>
          <p:cNvSpPr/>
          <p:nvPr/>
        </p:nvSpPr>
        <p:spPr>
          <a:xfrm rot="325178">
            <a:off x="5515652" y="1667156"/>
            <a:ext cx="3629435" cy="1786509"/>
          </a:xfrm>
          <a:prstGeom prst="wedgeEllipseCallout">
            <a:avLst>
              <a:gd name="adj1" fmla="val 10971"/>
              <a:gd name="adj2" fmla="val -91772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Đặt ngay phía trước tính từ được đem ra so sánh;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như 1 phó từ</a:t>
            </a:r>
            <a:endParaRPr sz="2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ACF09D5-3812-0E4E-950F-06FC03B5A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JP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3F949D-A281-964E-AE07-D2A734A74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268016"/>
            <a:ext cx="7927298" cy="3253184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905C2FB-A517-9046-87FB-F1E1A2A7214C}"/>
              </a:ext>
            </a:extLst>
          </p:cNvPr>
          <p:cNvSpPr/>
          <p:nvPr/>
        </p:nvSpPr>
        <p:spPr>
          <a:xfrm>
            <a:off x="965200" y="416560"/>
            <a:ext cx="2174240" cy="4978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2000" dirty="0"/>
              <a:t>So sánh nhất</a:t>
            </a:r>
          </a:p>
        </p:txBody>
      </p:sp>
    </p:spTree>
    <p:extLst>
      <p:ext uri="{BB962C8B-B14F-4D97-AF65-F5344CB8AC3E}">
        <p14:creationId xmlns:p14="http://schemas.microsoft.com/office/powerpoint/2010/main" val="322005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8"/>
          <p:cNvSpPr txBox="1"/>
          <p:nvPr/>
        </p:nvSpPr>
        <p:spPr>
          <a:xfrm>
            <a:off x="2820988" y="4068124"/>
            <a:ext cx="479266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Bạn Hoa giỏi tiếng Nhật nhất.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0" name="Google Shape;410;p18"/>
          <p:cNvSpPr txBox="1"/>
          <p:nvPr/>
        </p:nvSpPr>
        <p:spPr>
          <a:xfrm>
            <a:off x="1312464" y="4055462"/>
            <a:ext cx="23812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Trong lớp này,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1" name="Google Shape;411;p18"/>
          <p:cNvSpPr txBox="1"/>
          <p:nvPr/>
        </p:nvSpPr>
        <p:spPr>
          <a:xfrm>
            <a:off x="913871" y="2395537"/>
            <a:ext cx="1647825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Ở　Nhật Bản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2" name="Google Shape;412;p18"/>
          <p:cNvSpPr txBox="1"/>
          <p:nvPr/>
        </p:nvSpPr>
        <p:spPr>
          <a:xfrm>
            <a:off x="954493" y="3107412"/>
            <a:ext cx="1647825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Ở　Việt Nam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3" name="Google Shape;413;p18"/>
          <p:cNvSpPr txBox="1"/>
          <p:nvPr/>
        </p:nvSpPr>
        <p:spPr>
          <a:xfrm>
            <a:off x="3733800" y="712790"/>
            <a:ext cx="5083175" cy="585787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～</a:t>
            </a: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が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いちばん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～</a:t>
            </a: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です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8"/>
          <p:cNvSpPr txBox="1"/>
          <p:nvPr/>
        </p:nvSpPr>
        <p:spPr>
          <a:xfrm>
            <a:off x="2911239" y="1625065"/>
            <a:ext cx="3810000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(Tôi) thích bóng đá nhất.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5" name="Google Shape;415;p18"/>
          <p:cNvSpPr txBox="1"/>
          <p:nvPr/>
        </p:nvSpPr>
        <p:spPr>
          <a:xfrm>
            <a:off x="2907535" y="3152774"/>
            <a:ext cx="479266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Tháng 8 nóng nhất.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6" name="Google Shape;416;p18"/>
          <p:cNvSpPr txBox="1"/>
          <p:nvPr/>
        </p:nvSpPr>
        <p:spPr>
          <a:xfrm>
            <a:off x="2827338" y="2216952"/>
            <a:ext cx="479266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Tokyo rộng lớn Nhất.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7" name="Google Shape;417;p18"/>
          <p:cNvSpPr txBox="1"/>
          <p:nvPr/>
        </p:nvSpPr>
        <p:spPr>
          <a:xfrm>
            <a:off x="4681971" y="129231"/>
            <a:ext cx="3117850" cy="5842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～（の　中）で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8"/>
          <p:cNvSpPr txBox="1"/>
          <p:nvPr/>
        </p:nvSpPr>
        <p:spPr>
          <a:xfrm>
            <a:off x="2446338" y="2278062"/>
            <a:ext cx="6621462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東京が　いちばん　大きいです。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8"/>
          <p:cNvSpPr txBox="1"/>
          <p:nvPr/>
        </p:nvSpPr>
        <p:spPr>
          <a:xfrm>
            <a:off x="2420147" y="3031550"/>
            <a:ext cx="6621462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8月が　いちばん　あついです。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8"/>
          <p:cNvSpPr txBox="1"/>
          <p:nvPr/>
        </p:nvSpPr>
        <p:spPr>
          <a:xfrm>
            <a:off x="381000" y="4490460"/>
            <a:ext cx="8610600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ホアさんは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日本語が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いちばん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上手です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8"/>
          <p:cNvSpPr txBox="1"/>
          <p:nvPr/>
        </p:nvSpPr>
        <p:spPr>
          <a:xfrm>
            <a:off x="-26641" y="1613552"/>
            <a:ext cx="2678210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Trong các môn thể thao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2" name="Google Shape;422;p18"/>
          <p:cNvSpPr txBox="1"/>
          <p:nvPr/>
        </p:nvSpPr>
        <p:spPr>
          <a:xfrm>
            <a:off x="-26641" y="1484929"/>
            <a:ext cx="2537531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スポーツで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8"/>
          <p:cNvSpPr txBox="1"/>
          <p:nvPr/>
        </p:nvSpPr>
        <p:spPr>
          <a:xfrm>
            <a:off x="876078" y="2264787"/>
            <a:ext cx="1756099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日本で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8"/>
          <p:cNvSpPr txBox="1"/>
          <p:nvPr/>
        </p:nvSpPr>
        <p:spPr>
          <a:xfrm>
            <a:off x="152400" y="3009118"/>
            <a:ext cx="2267747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ベトナムで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8"/>
          <p:cNvSpPr txBox="1"/>
          <p:nvPr/>
        </p:nvSpPr>
        <p:spPr>
          <a:xfrm>
            <a:off x="761314" y="3913116"/>
            <a:ext cx="5607859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このクラス（の中）で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2010598" y="4478947"/>
            <a:ext cx="609600" cy="582612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4084638" y="4492623"/>
            <a:ext cx="609600" cy="582612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3117850" y="3031550"/>
            <a:ext cx="609600" cy="58261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3214688" y="2266950"/>
            <a:ext cx="609600" cy="582612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2420938" y="2266950"/>
            <a:ext cx="1001712" cy="582612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2409825" y="3015675"/>
            <a:ext cx="852488" cy="58261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379481" y="4505323"/>
            <a:ext cx="1684338" cy="582612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2820987" y="4505323"/>
            <a:ext cx="1377713" cy="582612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34" name="Google Shape;434;p18"/>
          <p:cNvSpPr/>
          <p:nvPr/>
        </p:nvSpPr>
        <p:spPr>
          <a:xfrm rot="-584958">
            <a:off x="222250" y="1567664"/>
            <a:ext cx="1371600" cy="728663"/>
          </a:xfrm>
          <a:prstGeom prst="wedgeRoundRectCallout">
            <a:avLst>
              <a:gd name="adj1" fmla="val 97403"/>
              <a:gd name="adj2" fmla="val 139150"/>
              <a:gd name="adj3" fmla="val 16667"/>
            </a:avLst>
          </a:prstGeom>
          <a:solidFill>
            <a:schemeClr val="l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どこ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/>
          <p:nvPr/>
        </p:nvSpPr>
        <p:spPr>
          <a:xfrm rot="-584958">
            <a:off x="144700" y="3319225"/>
            <a:ext cx="1371600" cy="728662"/>
          </a:xfrm>
          <a:prstGeom prst="wedgeRoundRectCallout">
            <a:avLst>
              <a:gd name="adj1" fmla="val 55359"/>
              <a:gd name="adj2" fmla="val 150629"/>
              <a:gd name="adj3" fmla="val 16667"/>
            </a:avLst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だれ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 rot="1188665">
            <a:off x="4913142" y="3812752"/>
            <a:ext cx="1373188" cy="728663"/>
          </a:xfrm>
          <a:prstGeom prst="wedgeRoundRectCallout">
            <a:avLst>
              <a:gd name="adj1" fmla="val -90015"/>
              <a:gd name="adj2" fmla="val 125935"/>
              <a:gd name="adj3" fmla="val 16667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なに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 txBox="1"/>
          <p:nvPr/>
        </p:nvSpPr>
        <p:spPr>
          <a:xfrm>
            <a:off x="6877017" y="4291459"/>
            <a:ext cx="136366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じょうず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8"/>
          <p:cNvSpPr txBox="1"/>
          <p:nvPr/>
        </p:nvSpPr>
        <p:spPr>
          <a:xfrm>
            <a:off x="2446338" y="1488145"/>
            <a:ext cx="6621462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サッカーが　いちばん　すきです。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4038600" y="1532739"/>
            <a:ext cx="609600" cy="58102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2446350" y="1489214"/>
            <a:ext cx="1712700" cy="581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41" name="Google Shape;441;p18"/>
          <p:cNvSpPr/>
          <p:nvPr/>
        </p:nvSpPr>
        <p:spPr>
          <a:xfrm rot="367354">
            <a:off x="3866768" y="1821540"/>
            <a:ext cx="2535237" cy="1279525"/>
          </a:xfrm>
          <a:prstGeom prst="wedgeRoundRectCallout">
            <a:avLst>
              <a:gd name="adj1" fmla="val -75143"/>
              <a:gd name="adj2" fmla="val 83008"/>
              <a:gd name="adj3" fmla="val 1666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いつ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なんがつ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2" name="Google Shape;44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20537">
            <a:off x="203327" y="173679"/>
            <a:ext cx="1783581" cy="1251169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8"/>
          <p:cNvSpPr txBox="1"/>
          <p:nvPr/>
        </p:nvSpPr>
        <p:spPr>
          <a:xfrm rot="-217693">
            <a:off x="1535934" y="161763"/>
            <a:ext cx="2743200" cy="584200"/>
          </a:xfrm>
          <a:prstGeom prst="rect">
            <a:avLst/>
          </a:prstGeom>
          <a:solidFill>
            <a:schemeClr val="accent1"/>
          </a:solidFill>
          <a:ln w="47625" cap="flat" cmpd="dbl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So sánh nhất</a:t>
            </a:r>
            <a:endParaRPr sz="32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4" name="Google Shape;444;p18"/>
          <p:cNvSpPr/>
          <p:nvPr/>
        </p:nvSpPr>
        <p:spPr>
          <a:xfrm rot="-787261">
            <a:off x="2697232" y="223825"/>
            <a:ext cx="1905000" cy="914400"/>
          </a:xfrm>
          <a:prstGeom prst="wedgeEllipseCallout">
            <a:avLst>
              <a:gd name="adj1" fmla="val 94221"/>
              <a:gd name="adj2" fmla="val 6592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Xác định phạm vị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45" name="Google Shape;445;p18"/>
          <p:cNvSpPr/>
          <p:nvPr/>
        </p:nvSpPr>
        <p:spPr>
          <a:xfrm rot="857161">
            <a:off x="3802496" y="399079"/>
            <a:ext cx="1371600" cy="728663"/>
          </a:xfrm>
          <a:prstGeom prst="wedgeRoundRectCallout">
            <a:avLst>
              <a:gd name="adj1" fmla="val -77090"/>
              <a:gd name="adj2" fmla="val 141393"/>
              <a:gd name="adj3" fmla="val 16667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なに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2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2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2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20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2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0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0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20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20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2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20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822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9"/>
          <p:cNvSpPr/>
          <p:nvPr/>
        </p:nvSpPr>
        <p:spPr>
          <a:xfrm>
            <a:off x="2359763" y="263491"/>
            <a:ext cx="4038600" cy="667104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第６課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9"/>
          <p:cNvSpPr/>
          <p:nvPr/>
        </p:nvSpPr>
        <p:spPr>
          <a:xfrm>
            <a:off x="838200" y="2014548"/>
            <a:ext cx="7620000" cy="238600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約束</a:t>
            </a:r>
            <a:endParaRPr sz="5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9"/>
          <p:cNvSpPr/>
          <p:nvPr/>
        </p:nvSpPr>
        <p:spPr>
          <a:xfrm rot="721955">
            <a:off x="6268133" y="1180758"/>
            <a:ext cx="2309116" cy="1163722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パート</a:t>
            </a:r>
            <a:endParaRPr sz="36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PART </a:t>
            </a:r>
            <a:endParaRPr sz="36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53" name="Google Shape;453;p19"/>
          <p:cNvSpPr/>
          <p:nvPr/>
        </p:nvSpPr>
        <p:spPr>
          <a:xfrm rot="829033">
            <a:off x="7900380" y="1418705"/>
            <a:ext cx="548672" cy="122316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３</a:t>
            </a:r>
            <a:endParaRPr sz="96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54" name="Google Shape;454;p19"/>
          <p:cNvSpPr/>
          <p:nvPr/>
        </p:nvSpPr>
        <p:spPr>
          <a:xfrm>
            <a:off x="3124200" y="2038985"/>
            <a:ext cx="2667000" cy="533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やくそく</a:t>
            </a: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68844">
            <a:off x="4797684" y="1152640"/>
            <a:ext cx="1987345" cy="1821733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20"/>
          <p:cNvSpPr txBox="1"/>
          <p:nvPr/>
        </p:nvSpPr>
        <p:spPr>
          <a:xfrm>
            <a:off x="739424" y="2109958"/>
            <a:ext cx="1905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Tôi đã ăn cơm.</a:t>
            </a:r>
            <a:endParaRPr sz="1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2" name="Google Shape;462;p20"/>
          <p:cNvSpPr txBox="1"/>
          <p:nvPr/>
        </p:nvSpPr>
        <p:spPr>
          <a:xfrm>
            <a:off x="434623" y="1602127"/>
            <a:ext cx="4567767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私は　ご飯を　食べました。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0"/>
          <p:cNvSpPr txBox="1"/>
          <p:nvPr/>
        </p:nvSpPr>
        <p:spPr>
          <a:xfrm>
            <a:off x="1916290" y="1428750"/>
            <a:ext cx="2057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はん　　　た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0"/>
          <p:cNvSpPr txBox="1"/>
          <p:nvPr/>
        </p:nvSpPr>
        <p:spPr>
          <a:xfrm>
            <a:off x="2133600" y="4142038"/>
            <a:ext cx="3314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Bạn Linh đã uống thuốc chưa?</a:t>
            </a:r>
            <a:endParaRPr sz="1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5" name="Google Shape;465;p20"/>
          <p:cNvSpPr txBox="1"/>
          <p:nvPr/>
        </p:nvSpPr>
        <p:spPr>
          <a:xfrm>
            <a:off x="2436742" y="3634207"/>
            <a:ext cx="626982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リンさんは　薬を　飲みましたか。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6" name="Google Shape;466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457604">
            <a:off x="601203" y="3438403"/>
            <a:ext cx="1728482" cy="1728482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0"/>
          <p:cNvSpPr txBox="1"/>
          <p:nvPr/>
        </p:nvSpPr>
        <p:spPr>
          <a:xfrm>
            <a:off x="2603954" y="2107217"/>
            <a:ext cx="21966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Tôi đã ăn cơm </a:t>
            </a:r>
            <a:r>
              <a:rPr lang="en-US" sz="1800" i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rồi</a:t>
            </a:r>
            <a:r>
              <a:rPr lang="en-US" sz="1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8" name="Google Shape;468;p20"/>
          <p:cNvSpPr txBox="1"/>
          <p:nvPr/>
        </p:nvSpPr>
        <p:spPr>
          <a:xfrm>
            <a:off x="422827" y="2648790"/>
            <a:ext cx="6267256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私は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8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もう</a:t>
            </a:r>
            <a:r>
              <a:rPr lang="en-US" sz="2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ご飯を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食べました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0"/>
          <p:cNvSpPr txBox="1"/>
          <p:nvPr/>
        </p:nvSpPr>
        <p:spPr>
          <a:xfrm>
            <a:off x="2944990" y="2489453"/>
            <a:ext cx="2057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はん　　　た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0"/>
          <p:cNvSpPr txBox="1"/>
          <p:nvPr/>
        </p:nvSpPr>
        <p:spPr>
          <a:xfrm>
            <a:off x="4419600" y="3466998"/>
            <a:ext cx="2057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くすり</a:t>
            </a: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</a:t>
            </a:r>
            <a:r>
              <a:rPr lang="en-US" sz="16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の</a:t>
            </a: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0"/>
          <p:cNvSpPr txBox="1"/>
          <p:nvPr/>
        </p:nvSpPr>
        <p:spPr>
          <a:xfrm>
            <a:off x="5699471" y="4143764"/>
            <a:ext cx="32921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Bạn Linh đã uống thuốc </a:t>
            </a:r>
            <a:r>
              <a:rPr lang="en-US" sz="1800" i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rồi</a:t>
            </a:r>
            <a:r>
              <a:rPr lang="en-US" sz="1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à?</a:t>
            </a:r>
            <a:endParaRPr sz="1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2" name="Google Shape;472;p20"/>
          <p:cNvSpPr txBox="1"/>
          <p:nvPr/>
        </p:nvSpPr>
        <p:spPr>
          <a:xfrm>
            <a:off x="2362200" y="4620280"/>
            <a:ext cx="69342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リンさんは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8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もう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薬を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飲みましたか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0"/>
          <p:cNvSpPr txBox="1"/>
          <p:nvPr/>
        </p:nvSpPr>
        <p:spPr>
          <a:xfrm>
            <a:off x="5448300" y="4450347"/>
            <a:ext cx="2057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くすり　　　の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0"/>
          <p:cNvSpPr/>
          <p:nvPr/>
        </p:nvSpPr>
        <p:spPr>
          <a:xfrm>
            <a:off x="2417180" y="2151901"/>
            <a:ext cx="282224" cy="3056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5422290" y="4174540"/>
            <a:ext cx="282224" cy="3056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76" name="Google Shape;476;p20"/>
          <p:cNvSpPr/>
          <p:nvPr/>
        </p:nvSpPr>
        <p:spPr>
          <a:xfrm>
            <a:off x="494147" y="285750"/>
            <a:ext cx="1422143" cy="6369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もう</a:t>
            </a:r>
            <a:endParaRPr sz="36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77" name="Google Shape;477;p20"/>
          <p:cNvSpPr/>
          <p:nvPr/>
        </p:nvSpPr>
        <p:spPr>
          <a:xfrm>
            <a:off x="2057400" y="438150"/>
            <a:ext cx="762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78" name="Google Shape;478;p20"/>
          <p:cNvSpPr/>
          <p:nvPr/>
        </p:nvSpPr>
        <p:spPr>
          <a:xfrm>
            <a:off x="2936523" y="1"/>
            <a:ext cx="3488463" cy="1208474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9050" cap="flat" cmpd="sng">
            <a:solidFill>
              <a:srgbClr val="29487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Thêm vào để nhấn mạnh ý “</a:t>
            </a:r>
            <a:r>
              <a:rPr lang="en-US" sz="2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đã hoàn thành</a:t>
            </a: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 </a:t>
            </a:r>
            <a:b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của đối tượng</a:t>
            </a:r>
            <a:endParaRPr sz="2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79" name="Google Shape;479;p20"/>
          <p:cNvSpPr/>
          <p:nvPr/>
        </p:nvSpPr>
        <p:spPr>
          <a:xfrm rot="410498">
            <a:off x="5831449" y="585406"/>
            <a:ext cx="1944762" cy="78937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Thường đi với động từ quá khứ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1"/>
          <p:cNvSpPr/>
          <p:nvPr/>
        </p:nvSpPr>
        <p:spPr>
          <a:xfrm>
            <a:off x="55032" y="3567082"/>
            <a:ext cx="8957733" cy="1586066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486" name="Google Shape;48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457604">
            <a:off x="296403" y="1331030"/>
            <a:ext cx="1728482" cy="1728482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21"/>
          <p:cNvSpPr txBox="1"/>
          <p:nvPr/>
        </p:nvSpPr>
        <p:spPr>
          <a:xfrm>
            <a:off x="2078565" y="1708313"/>
            <a:ext cx="69342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リンさんは　</a:t>
            </a: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もう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薬を　飲みましたか。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1"/>
          <p:cNvSpPr txBox="1"/>
          <p:nvPr/>
        </p:nvSpPr>
        <p:spPr>
          <a:xfrm>
            <a:off x="5109633" y="1527363"/>
            <a:ext cx="2057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くすり　　　の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1"/>
          <p:cNvSpPr/>
          <p:nvPr/>
        </p:nvSpPr>
        <p:spPr>
          <a:xfrm>
            <a:off x="494147" y="285750"/>
            <a:ext cx="1422143" cy="6369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もう</a:t>
            </a:r>
            <a:endParaRPr sz="36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90" name="Google Shape;490;p21"/>
          <p:cNvSpPr/>
          <p:nvPr/>
        </p:nvSpPr>
        <p:spPr>
          <a:xfrm>
            <a:off x="2057400" y="438150"/>
            <a:ext cx="762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91" name="Google Shape;491;p21"/>
          <p:cNvSpPr/>
          <p:nvPr/>
        </p:nvSpPr>
        <p:spPr>
          <a:xfrm>
            <a:off x="2936523" y="1"/>
            <a:ext cx="3488463" cy="1208474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9050" cap="flat" cmpd="sng">
            <a:solidFill>
              <a:srgbClr val="29487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Thêm vào để nhấn mạnh ý “đã hoàn thành” </a:t>
            </a:r>
            <a:b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của đối tượng</a:t>
            </a:r>
            <a:endParaRPr sz="2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92" name="Google Shape;492;p21"/>
          <p:cNvSpPr/>
          <p:nvPr/>
        </p:nvSpPr>
        <p:spPr>
          <a:xfrm rot="434840">
            <a:off x="5885428" y="503919"/>
            <a:ext cx="1944762" cy="78937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Thường đi với động từ quá khứ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93" name="Google Shape;493;p21"/>
          <p:cNvSpPr/>
          <p:nvPr/>
        </p:nvSpPr>
        <p:spPr>
          <a:xfrm>
            <a:off x="1916290" y="2266020"/>
            <a:ext cx="1893710" cy="14478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Answer</a:t>
            </a:r>
            <a:endParaRPr sz="2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94" name="Google Shape;494;p21"/>
          <p:cNvSpPr txBox="1"/>
          <p:nvPr/>
        </p:nvSpPr>
        <p:spPr>
          <a:xfrm>
            <a:off x="4800601" y="2365755"/>
            <a:ext cx="37338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（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もう）飲みました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1"/>
          <p:cNvSpPr txBox="1"/>
          <p:nvPr/>
        </p:nvSpPr>
        <p:spPr>
          <a:xfrm>
            <a:off x="3810001" y="2365755"/>
            <a:ext cx="10668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はい、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1"/>
          <p:cNvSpPr txBox="1"/>
          <p:nvPr/>
        </p:nvSpPr>
        <p:spPr>
          <a:xfrm>
            <a:off x="5105400" y="3034214"/>
            <a:ext cx="2061633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まだです。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1"/>
          <p:cNvSpPr txBox="1"/>
          <p:nvPr/>
        </p:nvSpPr>
        <p:spPr>
          <a:xfrm>
            <a:off x="3810000" y="3034214"/>
            <a:ext cx="1447799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いいえ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、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8" name="Google Shape;498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441956">
            <a:off x="7150580" y="3660274"/>
            <a:ext cx="1421309" cy="142130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1"/>
          <p:cNvSpPr txBox="1"/>
          <p:nvPr/>
        </p:nvSpPr>
        <p:spPr>
          <a:xfrm>
            <a:off x="4282570" y="3840211"/>
            <a:ext cx="2782764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もう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９時です。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Google Shape;500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55291">
            <a:off x="231460" y="3674432"/>
            <a:ext cx="1172461" cy="1116387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1"/>
          <p:cNvSpPr txBox="1"/>
          <p:nvPr/>
        </p:nvSpPr>
        <p:spPr>
          <a:xfrm>
            <a:off x="1407031" y="3817607"/>
            <a:ext cx="2782764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もう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春です。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1"/>
          <p:cNvSpPr txBox="1"/>
          <p:nvPr/>
        </p:nvSpPr>
        <p:spPr>
          <a:xfrm>
            <a:off x="1407031" y="4400083"/>
            <a:ext cx="2782764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もう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8月です。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1"/>
          <p:cNvSpPr txBox="1"/>
          <p:nvPr/>
        </p:nvSpPr>
        <p:spPr>
          <a:xfrm>
            <a:off x="4282570" y="4410730"/>
            <a:ext cx="2782764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もう　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遅いです。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1"/>
          <p:cNvSpPr txBox="1"/>
          <p:nvPr/>
        </p:nvSpPr>
        <p:spPr>
          <a:xfrm>
            <a:off x="2438400" y="3618047"/>
            <a:ext cx="6096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はる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1"/>
          <p:cNvSpPr txBox="1"/>
          <p:nvPr/>
        </p:nvSpPr>
        <p:spPr>
          <a:xfrm>
            <a:off x="5322764" y="4765035"/>
            <a:ext cx="6096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おそ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1"/>
          <p:cNvSpPr/>
          <p:nvPr/>
        </p:nvSpPr>
        <p:spPr>
          <a:xfrm rot="-182167">
            <a:off x="226348" y="1658032"/>
            <a:ext cx="3004338" cy="1662862"/>
          </a:xfrm>
          <a:prstGeom prst="wedgeRoundRectCallout">
            <a:avLst>
              <a:gd name="adj1" fmla="val -1963"/>
              <a:gd name="adj2" fmla="val 86067"/>
              <a:gd name="adj3" fmla="val 16667"/>
            </a:avLst>
          </a:prstGeom>
          <a:solidFill>
            <a:schemeClr val="accent2"/>
          </a:solidFill>
          <a:ln w="47625" cap="flat" cmpd="dbl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Có thể đi cùng với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DANH TỪ, TÍNH TỪ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thời hiện tại để thể hiện ý “ĐÃ…RỒI”</a:t>
            </a:r>
            <a:endParaRPr sz="2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2"/>
          <p:cNvSpPr/>
          <p:nvPr/>
        </p:nvSpPr>
        <p:spPr>
          <a:xfrm rot="-216935">
            <a:off x="489319" y="132755"/>
            <a:ext cx="3635162" cy="72713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47625" cap="flat" cmpd="dbl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どうですか。</a:t>
            </a:r>
            <a:endParaRPr sz="4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513" name="Google Shape;51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53344">
            <a:off x="6264717" y="114382"/>
            <a:ext cx="2328544" cy="192317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22"/>
          <p:cNvSpPr txBox="1"/>
          <p:nvPr/>
        </p:nvSpPr>
        <p:spPr>
          <a:xfrm>
            <a:off x="1019080" y="1369872"/>
            <a:ext cx="4611253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日本料理は　どうですか。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2"/>
          <p:cNvSpPr txBox="1"/>
          <p:nvPr/>
        </p:nvSpPr>
        <p:spPr>
          <a:xfrm>
            <a:off x="996502" y="1972330"/>
            <a:ext cx="6090098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おいしいです。そして、きれいです。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2"/>
          <p:cNvSpPr txBox="1"/>
          <p:nvPr/>
        </p:nvSpPr>
        <p:spPr>
          <a:xfrm>
            <a:off x="304800" y="1362111"/>
            <a:ext cx="8382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A：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2"/>
          <p:cNvSpPr txBox="1"/>
          <p:nvPr/>
        </p:nvSpPr>
        <p:spPr>
          <a:xfrm>
            <a:off x="304800" y="1962627"/>
            <a:ext cx="8382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B：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2"/>
          <p:cNvSpPr txBox="1"/>
          <p:nvPr/>
        </p:nvSpPr>
        <p:spPr>
          <a:xfrm>
            <a:off x="1981200" y="2788757"/>
            <a:ext cx="70866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一緒に　昼ごはんを食べに　行きませんか。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2"/>
          <p:cNvSpPr txBox="1"/>
          <p:nvPr/>
        </p:nvSpPr>
        <p:spPr>
          <a:xfrm>
            <a:off x="1958622" y="3391215"/>
            <a:ext cx="6821054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いいですね。何を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食べますか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2"/>
          <p:cNvSpPr txBox="1"/>
          <p:nvPr/>
        </p:nvSpPr>
        <p:spPr>
          <a:xfrm>
            <a:off x="1266920" y="2780996"/>
            <a:ext cx="8382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A：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2"/>
          <p:cNvSpPr txBox="1"/>
          <p:nvPr/>
        </p:nvSpPr>
        <p:spPr>
          <a:xfrm>
            <a:off x="1266920" y="3381512"/>
            <a:ext cx="8382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B：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2"/>
          <p:cNvSpPr txBox="1"/>
          <p:nvPr/>
        </p:nvSpPr>
        <p:spPr>
          <a:xfrm>
            <a:off x="1981200" y="3974267"/>
            <a:ext cx="4611253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日本料理は　どうですか。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2"/>
          <p:cNvSpPr txBox="1"/>
          <p:nvPr/>
        </p:nvSpPr>
        <p:spPr>
          <a:xfrm>
            <a:off x="1958622" y="4576725"/>
            <a:ext cx="4975578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いいです。そうしましょう。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2"/>
          <p:cNvSpPr txBox="1"/>
          <p:nvPr/>
        </p:nvSpPr>
        <p:spPr>
          <a:xfrm>
            <a:off x="1266920" y="3966506"/>
            <a:ext cx="8382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A：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2"/>
          <p:cNvSpPr txBox="1"/>
          <p:nvPr/>
        </p:nvSpPr>
        <p:spPr>
          <a:xfrm>
            <a:off x="1266920" y="4567022"/>
            <a:ext cx="8382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B：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2"/>
          <p:cNvSpPr/>
          <p:nvPr/>
        </p:nvSpPr>
        <p:spPr>
          <a:xfrm>
            <a:off x="3171409" y="1362111"/>
            <a:ext cx="2010191" cy="52322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7" name="Google Shape;527;p22"/>
          <p:cNvSpPr txBox="1"/>
          <p:nvPr/>
        </p:nvSpPr>
        <p:spPr>
          <a:xfrm>
            <a:off x="1693976" y="1201433"/>
            <a:ext cx="2057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りょうり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2"/>
          <p:cNvSpPr txBox="1"/>
          <p:nvPr/>
        </p:nvSpPr>
        <p:spPr>
          <a:xfrm>
            <a:off x="2080747" y="2602298"/>
            <a:ext cx="2057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いっしょ　　ひる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2"/>
          <p:cNvSpPr txBox="1"/>
          <p:nvPr/>
        </p:nvSpPr>
        <p:spPr>
          <a:xfrm>
            <a:off x="2667000" y="3824396"/>
            <a:ext cx="2057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りょうり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2"/>
          <p:cNvSpPr/>
          <p:nvPr/>
        </p:nvSpPr>
        <p:spPr>
          <a:xfrm>
            <a:off x="4138147" y="3966506"/>
            <a:ext cx="2010191" cy="52322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1" name="Google Shape;531;p22"/>
          <p:cNvSpPr/>
          <p:nvPr/>
        </p:nvSpPr>
        <p:spPr>
          <a:xfrm rot="234674">
            <a:off x="5825215" y="2695761"/>
            <a:ext cx="3047899" cy="1078308"/>
          </a:xfrm>
          <a:prstGeom prst="wedgeEllipseCallout">
            <a:avLst>
              <a:gd name="adj1" fmla="val -44907"/>
              <a:gd name="adj2" fmla="val 68526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Đề xuất,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đưa ý kiến</a:t>
            </a:r>
            <a:endParaRPr sz="2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3"/>
          <p:cNvSpPr txBox="1"/>
          <p:nvPr/>
        </p:nvSpPr>
        <p:spPr>
          <a:xfrm>
            <a:off x="739424" y="2109958"/>
            <a:ext cx="1905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 giờ rồi nhỉ.</a:t>
            </a:r>
            <a:endParaRPr sz="1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8" name="Google Shape;538;p23"/>
          <p:cNvSpPr txBox="1"/>
          <p:nvPr/>
        </p:nvSpPr>
        <p:spPr>
          <a:xfrm>
            <a:off x="434622" y="1602127"/>
            <a:ext cx="3222978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もう12時です</a:t>
            </a: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ね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3"/>
          <p:cNvSpPr/>
          <p:nvPr/>
        </p:nvSpPr>
        <p:spPr>
          <a:xfrm>
            <a:off x="2613380" y="133350"/>
            <a:ext cx="3764840" cy="9144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47625" cap="flat" cmpd="dbl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『ね』</a:t>
            </a: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　　VS　　</a:t>
            </a:r>
            <a:r>
              <a:rPr lang="en-US" sz="4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『よ』</a:t>
            </a:r>
            <a:endParaRPr sz="4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40" name="Google Shape;540;p23"/>
          <p:cNvSpPr txBox="1"/>
          <p:nvPr/>
        </p:nvSpPr>
        <p:spPr>
          <a:xfrm>
            <a:off x="725313" y="2987121"/>
            <a:ext cx="1905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 giờ rồi đấy.</a:t>
            </a:r>
            <a:endParaRPr sz="1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1" name="Google Shape;541;p23"/>
          <p:cNvSpPr txBox="1"/>
          <p:nvPr/>
        </p:nvSpPr>
        <p:spPr>
          <a:xfrm>
            <a:off x="420511" y="2479290"/>
            <a:ext cx="3222978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もう12時です</a:t>
            </a: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よ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3"/>
          <p:cNvSpPr txBox="1"/>
          <p:nvPr/>
        </p:nvSpPr>
        <p:spPr>
          <a:xfrm>
            <a:off x="722491" y="3864284"/>
            <a:ext cx="1905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 giờ rồi à?</a:t>
            </a:r>
            <a:endParaRPr sz="1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3" name="Google Shape;543;p23"/>
          <p:cNvSpPr txBox="1"/>
          <p:nvPr/>
        </p:nvSpPr>
        <p:spPr>
          <a:xfrm>
            <a:off x="417689" y="3356453"/>
            <a:ext cx="3222978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もう12時です</a:t>
            </a: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か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3"/>
          <p:cNvSpPr txBox="1"/>
          <p:nvPr/>
        </p:nvSpPr>
        <p:spPr>
          <a:xfrm>
            <a:off x="708380" y="4741447"/>
            <a:ext cx="22634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 giờ rồi nhưng...</a:t>
            </a:r>
            <a:endParaRPr sz="1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5" name="Google Shape;545;p23"/>
          <p:cNvSpPr txBox="1"/>
          <p:nvPr/>
        </p:nvSpPr>
        <p:spPr>
          <a:xfrm>
            <a:off x="403578" y="4233616"/>
            <a:ext cx="3222978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もう12時です</a:t>
            </a: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が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3"/>
          <p:cNvSpPr/>
          <p:nvPr/>
        </p:nvSpPr>
        <p:spPr>
          <a:xfrm>
            <a:off x="4106333" y="1309071"/>
            <a:ext cx="5029200" cy="3834429"/>
          </a:xfrm>
          <a:prstGeom prst="rect">
            <a:avLst/>
          </a:prstGeom>
          <a:solidFill>
            <a:schemeClr val="accent3"/>
          </a:solidFill>
          <a:ln w="47625" cap="flat" cmpd="dbl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47" name="Google Shape;547;p23"/>
          <p:cNvSpPr txBox="1"/>
          <p:nvPr/>
        </p:nvSpPr>
        <p:spPr>
          <a:xfrm>
            <a:off x="4343400" y="1586738"/>
            <a:ext cx="12954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「</a:t>
            </a: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ね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」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3"/>
          <p:cNvSpPr txBox="1"/>
          <p:nvPr/>
        </p:nvSpPr>
        <p:spPr>
          <a:xfrm>
            <a:off x="4991100" y="2217680"/>
            <a:ext cx="3162300" cy="4001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(1) Kêu gọi sự đồng tình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9" name="Google Shape;549;p23"/>
          <p:cNvSpPr txBox="1"/>
          <p:nvPr/>
        </p:nvSpPr>
        <p:spPr>
          <a:xfrm>
            <a:off x="4991100" y="2725512"/>
            <a:ext cx="3162300" cy="4001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(2) Xác nhận thông tin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0" name="Google Shape;550;p23"/>
          <p:cNvSpPr txBox="1"/>
          <p:nvPr/>
        </p:nvSpPr>
        <p:spPr>
          <a:xfrm>
            <a:off x="4343400" y="3341064"/>
            <a:ext cx="1295400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「</a:t>
            </a: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よ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」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3"/>
          <p:cNvSpPr txBox="1"/>
          <p:nvPr/>
        </p:nvSpPr>
        <p:spPr>
          <a:xfrm>
            <a:off x="4991100" y="3972006"/>
            <a:ext cx="3162300" cy="4001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(1) Đưa ra thông tin mới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2" name="Google Shape;552;p23"/>
          <p:cNvSpPr txBox="1"/>
          <p:nvPr/>
        </p:nvSpPr>
        <p:spPr>
          <a:xfrm>
            <a:off x="4991100" y="4479838"/>
            <a:ext cx="3771900" cy="4001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(2) Nhấn mạnh ý kiến, tình cảm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idescreenPresentation16x9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1880</TotalTime>
  <Words>1018</Words>
  <Application>Microsoft Macintosh PowerPoint</Application>
  <PresentationFormat>On-screen Show (16:9)</PresentationFormat>
  <Paragraphs>277</Paragraphs>
  <Slides>26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Twentieth Century</vt:lpstr>
      <vt:lpstr>Calibri</vt:lpstr>
      <vt:lpstr>Arial</vt:lpstr>
      <vt:lpstr>Noto Sans Symbols</vt:lpstr>
      <vt:lpstr>游ゴシック Light</vt:lpstr>
      <vt:lpstr>Tahoma</vt:lpstr>
      <vt:lpstr>游ゴシック</vt:lpstr>
      <vt:lpstr>WidescreenPresentation16x9</vt:lpstr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>Microsoft Office User</cp:lastModifiedBy>
  <cp:revision>9</cp:revision>
  <dcterms:created xsi:type="dcterms:W3CDTF">2014-12-17T03:39:57Z</dcterms:created>
  <dcterms:modified xsi:type="dcterms:W3CDTF">2022-06-05T13:59:53Z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TC101769309990</vt:lpwstr>
  </property>
</Properties>
</file>