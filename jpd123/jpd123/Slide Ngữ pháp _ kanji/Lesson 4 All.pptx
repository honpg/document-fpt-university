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91" r:id="rId31"/>
    <p:sldId id="287" r:id="rId32"/>
    <p:sldId id="288" r:id="rId33"/>
    <p:sldId id="289" r:id="rId34"/>
    <p:sldId id="290" r:id="rId35"/>
  </p:sldIdLst>
  <p:sldSz cx="12192000" cy="6858000"/>
  <p:notesSz cx="6858000" cy="9144000"/>
  <p:embeddedFontLst>
    <p:embeddedFont>
      <p:font typeface="游ゴシック" panose="020B0400000000000000" pitchFamily="34" charset="-128"/>
      <p:regular r:id="rId37"/>
      <p:bold r:id="rId38"/>
    </p:embeddedFont>
    <p:embeddedFont>
      <p:font typeface="游ゴシック Light" panose="020B0300000000000000" pitchFamily="34" charset="-128"/>
      <p:regular r:id="rId39"/>
    </p:embeddedFont>
    <p:embeddedFont>
      <p:font typeface="Architects Daughter" pitchFamily="2" charset="0"/>
      <p:regular r:id="rId40"/>
    </p:embeddedFont>
    <p:embeddedFont>
      <p:font typeface="MS Mincho" panose="02020609040205080304" pitchFamily="49" charset="-128"/>
      <p:regular r:id="rId41"/>
    </p:embeddedFont>
    <p:embeddedFont>
      <p:font typeface="Quattrocento Sans" panose="020B0502050000020003" pitchFamily="34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iaQzslk/mI1m04C0cb4B5tMkw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02"/>
    <p:restoredTop sz="93072"/>
  </p:normalViewPr>
  <p:slideViewPr>
    <p:cSldViewPr snapToGrid="0" snapToObjects="1">
      <p:cViewPr>
        <p:scale>
          <a:sx n="170" d="100"/>
          <a:sy n="170" d="100"/>
        </p:scale>
        <p:origin x="600" y="-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5C923-DF30-5244-B1A0-150825591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41343A-E831-F142-9488-89114C76F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3EF35A-0891-074C-8AE9-019242DA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9D6F51-AB07-2543-89F6-ED587DC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B2D040-0062-EA4C-AC36-5709E327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157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235D8-9CF4-4044-95E9-FBC0B65B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B83972-35DD-304E-A90E-7A297CA60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85D1F1-0C0C-E54D-B2EA-1E0BA4F7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2CC626-01F6-2046-983A-94F16757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6A724-3BE4-8944-8C94-D18883A4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514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AFA7C-CEFA-B04E-8DBC-CB17A47A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03D0CE-187D-C145-A2F6-5959B5FFC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146511-E65D-AC43-81B8-DED956C5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641399-09D6-FE41-B4CC-A8894AB2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D38AB1-CFEA-C744-A8D3-4C880488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926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52ACBC-C04A-9C45-96C3-6D0D20E0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D8B93F-AC02-614E-B8AB-8E6085262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B99CA4-6BE2-5E40-B86F-BE2D37FD3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888604-42AE-F547-8F3F-3C14B782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A00450-3A8D-0B40-87DD-0C5E0DFE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0623D7-02FE-2942-9617-4694D812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749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004EDD-3981-0943-A444-2CF46E9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C9C035-BD4F-E34F-AC2C-C46CDE52A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979857-36EE-454E-B004-7DEFF1D55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891F6D-8FDA-6E4D-B0AD-C1F90AFAE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C33605-F838-A346-BE3A-2712386A9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88DC22-2D9B-5246-AB5C-5A5AD03D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0F8C2B-B679-8747-AD01-33AAF213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DC3260-3B99-5948-9C27-46914C12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96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5022F9-56C0-5749-8F45-AD433B2F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3B2D48-2B5C-5C49-8A35-0DC527E6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4BB9C70-92C8-DC4E-85F8-09986F46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0669EF-FE04-7741-8BB3-2D463293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221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BE788-3DB5-6A46-A561-85BBC8DD9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D819E6-CCBB-DF4C-BAB6-2E2819B5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5ABD16-9DDC-4F44-980E-342D6F70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471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5842B-DCBF-C244-A7BD-32EE5FF1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AC7072-C47D-8E46-A076-94D64A3D3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3E9243-BE19-314E-AA87-6DE087F95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35C510-C746-8E40-B3ED-0966643F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EAF068-50F0-8041-8D79-2B9B3FD1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3890B1-B6D9-D24B-9233-B7C433D5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550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5CA503-646D-C64B-8B4E-73C53C87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4AC2F75-D398-674F-AF55-A525EE03C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A3AE5C-CAD4-6042-AC2A-AF5205F80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2500F2-A6E6-C94F-A83C-845E2BD2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A66718-72F9-634F-8983-7B718D93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562D03-A836-914E-B670-95194AF4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740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0FD9D-719F-474C-A716-75703FF5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62169C-DD55-3F41-ABD1-9F1A43480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82194A-5E7D-6E4D-9841-5252B03B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C70E5A-C07C-E146-90D2-414BF70A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F200FA-E80B-BF4D-9985-E2BFD0E9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47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5C56F3-4E2C-E940-8728-06AFFB693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E14AD0-EDC0-1F49-8268-687015F2F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0302E8-B2FB-2E49-A7FD-269146D4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0AE12B-E0A5-B546-A2AE-2B445D37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E56520-85BA-FC4E-8619-B79B9014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17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D6B43C-5289-9248-B588-FF0A6707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6FBD66-3670-214C-A93A-9FF786154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530AD-32DB-0641-B1D9-F7C5C04E8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3FCFA9-E3D5-8141-B5D4-B4AD8992B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DB47C-4EF6-A048-AC8D-ABD04232F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8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"/>
          <p:cNvSpPr/>
          <p:nvPr/>
        </p:nvSpPr>
        <p:spPr>
          <a:xfrm>
            <a:off x="455037" y="2903858"/>
            <a:ext cx="10894281" cy="259364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dirty="0" err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私の国・町</a:t>
            </a:r>
            <a:endParaRPr sz="15000" b="1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"/>
          <p:cNvSpPr/>
          <p:nvPr/>
        </p:nvSpPr>
        <p:spPr>
          <a:xfrm rot="709668">
            <a:off x="7566902" y="1519455"/>
            <a:ext cx="2692400" cy="112036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第</a:t>
            </a:r>
            <a:r>
              <a:rPr lang="en-US" sz="7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４</a:t>
            </a:r>
            <a:r>
              <a:rPr lang="en-US" sz="5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課</a:t>
            </a:r>
            <a:endParaRPr sz="5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"/>
          <p:cNvSpPr/>
          <p:nvPr/>
        </p:nvSpPr>
        <p:spPr>
          <a:xfrm rot="-263980">
            <a:off x="205174" y="634359"/>
            <a:ext cx="7493000" cy="166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できる日本語</a:t>
            </a:r>
            <a:endParaRPr sz="7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"/>
          <p:cNvSpPr/>
          <p:nvPr/>
        </p:nvSpPr>
        <p:spPr>
          <a:xfrm>
            <a:off x="3048000" y="331387"/>
            <a:ext cx="6169718" cy="115486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BCA0"/>
              </a:gs>
              <a:gs pos="50000">
                <a:srgbClr val="00BA98"/>
              </a:gs>
              <a:gs pos="100000">
                <a:srgbClr val="00AC8C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第４課</a:t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838200" y="2286000"/>
            <a:ext cx="11051482" cy="31949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どこ？</a:t>
            </a:r>
            <a:endParaRPr sz="1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パート</a:t>
            </a:r>
            <a:endParaRPr sz="3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</a:t>
            </a:r>
            <a:endParaRPr/>
          </a:p>
        </p:txBody>
      </p:sp>
      <p:sp>
        <p:nvSpPr>
          <p:cNvPr id="205" name="Google Shape;205;p2"/>
          <p:cNvSpPr/>
          <p:nvPr/>
        </p:nvSpPr>
        <p:spPr>
          <a:xfrm rot="829033">
            <a:off x="9743122" y="1235365"/>
            <a:ext cx="838200" cy="83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１</a:t>
            </a:r>
            <a:endParaRPr sz="9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"/>
          <p:cNvSpPr/>
          <p:nvPr/>
        </p:nvSpPr>
        <p:spPr>
          <a:xfrm>
            <a:off x="748183" y="997466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Nhà bạn ở đâu?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615390" y="1000990"/>
            <a:ext cx="52208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お家は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どこですか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41349">
            <a:off x="8530243" y="233234"/>
            <a:ext cx="3233143" cy="229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"/>
          <p:cNvSpPr/>
          <p:nvPr/>
        </p:nvSpPr>
        <p:spPr>
          <a:xfrm>
            <a:off x="748183" y="1878992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(Nhà tôi) ở Hà Nội.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748183" y="2685062"/>
            <a:ext cx="44080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 đâu của Hà Nội vậy?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748183" y="3474908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 Hoàng Mai.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748183" y="4227763"/>
            <a:ext cx="44080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Hoàng Mai là ở đâu vậy?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748183" y="5015163"/>
            <a:ext cx="38619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Ở phía Nam Hà Nội.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202083" y="997466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202082" y="1882516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202082" y="2687219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202082" y="3472462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202082" y="4229920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202083" y="5015163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748182" y="1834922"/>
            <a:ext cx="62876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私の家は）ハノイです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748182" y="2634262"/>
            <a:ext cx="58431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ハノイの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どこですか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748182" y="3445870"/>
            <a:ext cx="47128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ホアン・マイです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748182" y="4246319"/>
            <a:ext cx="72655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ホアン・マイは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どこですか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748182" y="5074359"/>
            <a:ext cx="916009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ホアン・マイは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ハノイの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南です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 txBox="1"/>
          <p:nvPr/>
        </p:nvSpPr>
        <p:spPr>
          <a:xfrm>
            <a:off x="1175141" y="561390"/>
            <a:ext cx="7572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うち　　　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"/>
          <p:cNvSpPr txBox="1"/>
          <p:nvPr/>
        </p:nvSpPr>
        <p:spPr>
          <a:xfrm>
            <a:off x="7300667" y="4826820"/>
            <a:ext cx="10120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みなみ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6322594" y="5021218"/>
            <a:ext cx="827506" cy="781049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41349">
            <a:off x="9464968" y="116652"/>
            <a:ext cx="2342579" cy="166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78799">
            <a:off x="9609527" y="4684814"/>
            <a:ext cx="221932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"/>
          <p:cNvSpPr/>
          <p:nvPr/>
        </p:nvSpPr>
        <p:spPr>
          <a:xfrm>
            <a:off x="10096500" y="1893129"/>
            <a:ext cx="698500" cy="285667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39" name="Google Shape;23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3825" y="2520621"/>
            <a:ext cx="43243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920">
            <a:off x="8848276" y="1903061"/>
            <a:ext cx="1232077" cy="91107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/>
          <p:cNvSpPr/>
          <p:nvPr/>
        </p:nvSpPr>
        <p:spPr>
          <a:xfrm>
            <a:off x="748183" y="997466"/>
            <a:ext cx="8075142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Từ nhà tới công ty bạn đi bằng (phương tiện) gì?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824260" y="1005357"/>
            <a:ext cx="8640054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家</a:t>
            </a:r>
            <a:r>
              <a:rPr lang="en-US" sz="40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から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会社まで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何で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行きますか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202083" y="997466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202083" y="1861050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748183" y="1856077"/>
            <a:ext cx="38365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(Tôi) đi bằng xe đạp.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842273" y="1887343"/>
            <a:ext cx="51065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自転車</a:t>
            </a:r>
            <a:r>
              <a:rPr lang="en-US" sz="4000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で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行きます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 rot="-265349">
            <a:off x="9498351" y="3403245"/>
            <a:ext cx="2077426" cy="406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long???</a:t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748183" y="3117851"/>
            <a:ext cx="8075142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Từ nhà tới công ty bạn mất bao lâu?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748183" y="3310480"/>
            <a:ext cx="8640054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家から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会社まで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どのくらいですか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202083" y="3117851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202083" y="4624379"/>
            <a:ext cx="8266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B: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748183" y="4624379"/>
            <a:ext cx="38365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 phút ạ.</a:t>
            </a:r>
            <a:endParaRPr/>
          </a:p>
        </p:txBody>
      </p:sp>
      <p:sp>
        <p:nvSpPr>
          <p:cNvPr id="253" name="Google Shape;253;p4"/>
          <p:cNvSpPr/>
          <p:nvPr/>
        </p:nvSpPr>
        <p:spPr>
          <a:xfrm>
            <a:off x="748183" y="4551513"/>
            <a:ext cx="362193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３０分です。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748183" y="3815176"/>
            <a:ext cx="759734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どのくらい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かかります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。）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37925" y="5345726"/>
            <a:ext cx="58939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（３０分</a:t>
            </a:r>
            <a:r>
              <a:rPr lang="en-US" sz="4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かかります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。）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4584700" y="992493"/>
            <a:ext cx="1270000" cy="781049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4584700" y="3141032"/>
            <a:ext cx="2679304" cy="781049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4"/>
          <p:cNvSpPr txBox="1"/>
          <p:nvPr/>
        </p:nvSpPr>
        <p:spPr>
          <a:xfrm>
            <a:off x="893628" y="874912"/>
            <a:ext cx="27939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うち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かいしゃ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 txBox="1"/>
          <p:nvPr/>
        </p:nvSpPr>
        <p:spPr>
          <a:xfrm>
            <a:off x="1028700" y="1715909"/>
            <a:ext cx="27939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じてんしゃ　　　い　　　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1891143" y="4477081"/>
            <a:ext cx="88852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ぷん　　　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Quattrocento Sans"/>
              <a:buNone/>
            </a:pPr>
            <a:r>
              <a:rPr lang="en-US"/>
              <a:t>Số đếm: lượng thời gian</a:t>
            </a:r>
            <a:endParaRPr/>
          </a:p>
        </p:txBody>
      </p:sp>
      <p:sp>
        <p:nvSpPr>
          <p:cNvPr id="305" name="Google Shape;305;p6"/>
          <p:cNvSpPr txBox="1">
            <a:spLocks noGrp="1"/>
          </p:cNvSpPr>
          <p:nvPr>
            <p:ph idx="1"/>
          </p:nvPr>
        </p:nvSpPr>
        <p:spPr>
          <a:xfrm>
            <a:off x="838199" y="1532965"/>
            <a:ext cx="10833847" cy="464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◆"/>
            </a:pPr>
            <a:r>
              <a:rPr lang="en-US" sz="2800"/>
              <a:t>～時間(tiếng)：４よじかん　７しちじかん　９くじかん</a:t>
            </a: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◆"/>
            </a:pPr>
            <a:r>
              <a:rPr lang="en-US" sz="2800"/>
              <a:t>～日(ngày)：いちにち（にじゅうよじかん）２～１０（～か）</a:t>
            </a: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◆"/>
            </a:pPr>
            <a:r>
              <a:rPr lang="en-US" sz="2800"/>
              <a:t>～しゅうかん(tuần)：１いっしゅうかん　</a:t>
            </a:r>
            <a:r>
              <a:rPr lang="en-US" sz="2800">
                <a:solidFill>
                  <a:srgbClr val="FF0000"/>
                </a:solidFill>
              </a:rPr>
              <a:t>６ろくしゅうかん</a:t>
            </a:r>
            <a:r>
              <a:rPr lang="en-US" sz="2800"/>
              <a:t>　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　　　　　　　　８はっしゅうかん・はちしゅうかん　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　　　　　　　　１０じゅっしゅうかん</a:t>
            </a: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◆"/>
            </a:pPr>
            <a:r>
              <a:rPr lang="en-US" sz="2800"/>
              <a:t>～ヶ月(tháng)：１いっかげつ　６ろっかげつ　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                            １０じゅっかげつ  ８はちかげつ・はっかげつ</a:t>
            </a: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◆"/>
            </a:pPr>
            <a:r>
              <a:rPr lang="en-US" sz="2800"/>
              <a:t>～年(năm)：</a:t>
            </a:r>
            <a:r>
              <a:rPr lang="en-US" sz="2800">
                <a:solidFill>
                  <a:srgbClr val="FF0000"/>
                </a:solidFill>
              </a:rPr>
              <a:t>４よねん</a:t>
            </a:r>
            <a:r>
              <a:rPr lang="en-US" sz="2800"/>
              <a:t>　７しちねん・ななねん　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　　　　　　　９くねん・きゅうねん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いち、に、さん、よん、ご、ろく、しち・なな、はち、く。きゅう、じゅう</a:t>
            </a:r>
            <a:endParaRPr sz="2800"/>
          </a:p>
          <a:p>
            <a:pPr marL="342900" lvl="0" indent="-1784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800"/>
          </a:p>
          <a:p>
            <a:pPr marL="342900" lvl="0" indent="-1784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303683" y="70091"/>
            <a:ext cx="76084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0" name="Google Shape;340;p8"/>
          <p:cNvSpPr/>
          <p:nvPr/>
        </p:nvSpPr>
        <p:spPr>
          <a:xfrm>
            <a:off x="88900" y="713027"/>
            <a:ext cx="10286999" cy="130415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毎日、学校で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日本語</a:t>
            </a:r>
            <a:r>
              <a:rPr lang="en-US" sz="40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を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勉強します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</a:p>
        </p:txBody>
      </p:sp>
      <p:sp>
        <p:nvSpPr>
          <p:cNvPr id="341" name="Google Shape;341;p8"/>
          <p:cNvSpPr txBox="1"/>
          <p:nvPr/>
        </p:nvSpPr>
        <p:spPr>
          <a:xfrm>
            <a:off x="200522" y="758976"/>
            <a:ext cx="84100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まいにち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307913" y="1567071"/>
            <a:ext cx="8418538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3" name="Google Shape;343;p8"/>
          <p:cNvSpPr/>
          <p:nvPr/>
        </p:nvSpPr>
        <p:spPr>
          <a:xfrm>
            <a:off x="4577" y="2386116"/>
            <a:ext cx="12270877" cy="99991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毎日、学校で8時から12時まで日本語を勉強します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-65272" y="2129016"/>
            <a:ext cx="108185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まいにち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　　　　　　　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15305" y="3586080"/>
            <a:ext cx="76084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6" name="Google Shape;346;p8"/>
          <p:cNvSpPr/>
          <p:nvPr/>
        </p:nvSpPr>
        <p:spPr>
          <a:xfrm>
            <a:off x="200522" y="4229016"/>
            <a:ext cx="10286999" cy="11731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毎日、学校で４時間日本語を勉強します。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312144" y="4274965"/>
            <a:ext cx="84100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まいにち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06467" y="5325052"/>
            <a:ext cx="10286999" cy="11731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毎日、学校で日本語を４時間勉強します。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318089" y="5371001"/>
            <a:ext cx="100015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まいにち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A070C-02F2-871A-D44B-286508A8E4B8}"/>
              </a:ext>
            </a:extLst>
          </p:cNvPr>
          <p:cNvSpPr txBox="1"/>
          <p:nvPr/>
        </p:nvSpPr>
        <p:spPr>
          <a:xfrm>
            <a:off x="3874957" y="4159770"/>
            <a:ext cx="1056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じかん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47026-F6D6-758B-D4AD-C12CD52B24D5}"/>
              </a:ext>
            </a:extLst>
          </p:cNvPr>
          <p:cNvSpPr txBox="1"/>
          <p:nvPr/>
        </p:nvSpPr>
        <p:spPr>
          <a:xfrm>
            <a:off x="5036695" y="4159770"/>
            <a:ext cx="139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にほんご</a:t>
            </a:r>
            <a:endParaRPr lang="en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DF393-AEA2-1660-4F6D-A64A6235E09A}"/>
              </a:ext>
            </a:extLst>
          </p:cNvPr>
          <p:cNvSpPr txBox="1"/>
          <p:nvPr/>
        </p:nvSpPr>
        <p:spPr>
          <a:xfrm>
            <a:off x="5666282" y="5371001"/>
            <a:ext cx="119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よじかん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86532">
            <a:off x="9371012" y="101600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303683" y="357477"/>
            <a:ext cx="76084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9"/>
          <p:cNvSpPr/>
          <p:nvPr/>
        </p:nvSpPr>
        <p:spPr>
          <a:xfrm>
            <a:off x="88900" y="1000413"/>
            <a:ext cx="10286999" cy="11731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毎日、学校で４時間半日本語を勉強します。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222745" y="1795248"/>
            <a:ext cx="76084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9"/>
          <p:cNvSpPr/>
          <p:nvPr/>
        </p:nvSpPr>
        <p:spPr>
          <a:xfrm>
            <a:off x="88900" y="2667288"/>
            <a:ext cx="8521699" cy="100800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毎晩、３０分ぐらいテレビを見ます。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214783" y="3840451"/>
            <a:ext cx="116851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9"/>
          <p:cNvSpPr/>
          <p:nvPr/>
        </p:nvSpPr>
        <p:spPr>
          <a:xfrm>
            <a:off x="88901" y="4483388"/>
            <a:ext cx="10604500" cy="15872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学校で２年間ぐらい勉強します。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それから、会社で８カ月ぐらい実習します。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 rot="283516">
            <a:off x="6324600" y="144463"/>
            <a:ext cx="2590800" cy="971550"/>
          </a:xfrm>
          <a:prstGeom prst="wedgeRoundRectCallout">
            <a:avLst>
              <a:gd name="adj1" fmla="val -111249"/>
              <a:gd name="adj2" fmla="val 102814"/>
              <a:gd name="adj3" fmla="val 16667"/>
            </a:avLst>
          </a:prstGeom>
          <a:gradFill>
            <a:gsLst>
              <a:gs pos="0">
                <a:srgbClr val="9ADBC8"/>
              </a:gs>
              <a:gs pos="50000">
                <a:srgbClr val="8DD1BD"/>
              </a:gs>
              <a:gs pos="100000">
                <a:srgbClr val="78CFB7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2" name="Google Shape;362;p9"/>
          <p:cNvSpPr/>
          <p:nvPr/>
        </p:nvSpPr>
        <p:spPr>
          <a:xfrm rot="283516">
            <a:off x="6303963" y="158750"/>
            <a:ext cx="2590800" cy="971550"/>
          </a:xfrm>
          <a:prstGeom prst="wedgeRoundRectCallout">
            <a:avLst>
              <a:gd name="adj1" fmla="val -141954"/>
              <a:gd name="adj2" fmla="val 214549"/>
              <a:gd name="adj3" fmla="val 16667"/>
            </a:avLst>
          </a:prstGeom>
          <a:gradFill>
            <a:gsLst>
              <a:gs pos="0">
                <a:srgbClr val="9ADBC8"/>
              </a:gs>
              <a:gs pos="50000">
                <a:srgbClr val="8DD1BD"/>
              </a:gs>
              <a:gs pos="100000">
                <a:srgbClr val="78CFB7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3" name="Google Shape;363;p9"/>
          <p:cNvSpPr/>
          <p:nvPr/>
        </p:nvSpPr>
        <p:spPr>
          <a:xfrm rot="283516">
            <a:off x="6303962" y="140699"/>
            <a:ext cx="2590800" cy="971550"/>
          </a:xfrm>
          <a:prstGeom prst="wedgeRoundRectCallout">
            <a:avLst>
              <a:gd name="adj1" fmla="val -54581"/>
              <a:gd name="adj2" fmla="val 206917"/>
              <a:gd name="adj3" fmla="val 16667"/>
            </a:avLst>
          </a:prstGeom>
          <a:gradFill>
            <a:gsLst>
              <a:gs pos="0">
                <a:srgbClr val="9ADBC8"/>
              </a:gs>
              <a:gs pos="50000">
                <a:srgbClr val="8DD1BD"/>
              </a:gs>
              <a:gs pos="100000">
                <a:srgbClr val="78CFB7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どのくらい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157004" y="772506"/>
            <a:ext cx="84100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まいにち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じかんはん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189680" y="2263415"/>
            <a:ext cx="94456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まいばん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ぷん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　　　　　　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み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189680" y="4414624"/>
            <a:ext cx="84100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がっこう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ねんかん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       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べんきょう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2736665" y="5739254"/>
            <a:ext cx="84100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かいしゃ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かげつ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じっしゅう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 rot="-637759">
            <a:off x="7274285" y="2807662"/>
            <a:ext cx="3879128" cy="1581493"/>
          </a:xfrm>
          <a:prstGeom prst="wedgeEllipseCallout">
            <a:avLst>
              <a:gd name="adj1" fmla="val 64424"/>
              <a:gd name="adj2" fmla="val 27913"/>
            </a:avLst>
          </a:prstGeom>
          <a:gradFill>
            <a:gsLst>
              <a:gs pos="0">
                <a:srgbClr val="9ADEFF"/>
              </a:gs>
              <a:gs pos="50000">
                <a:srgbClr val="8DD8FF"/>
              </a:gs>
              <a:gs pos="100000">
                <a:srgbClr val="78D6FF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なんかげつ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 rot="-637759">
            <a:off x="-44349" y="256576"/>
            <a:ext cx="3659901" cy="1104327"/>
          </a:xfrm>
          <a:prstGeom prst="wedgeEllipseCallout">
            <a:avLst>
              <a:gd name="adj1" fmla="val 47323"/>
              <a:gd name="adj2" fmla="val 86500"/>
            </a:avLst>
          </a:prstGeom>
          <a:gradFill>
            <a:gsLst>
              <a:gs pos="0">
                <a:srgbClr val="FFD89B"/>
              </a:gs>
              <a:gs pos="50000">
                <a:srgbClr val="FFD18D"/>
              </a:gs>
              <a:gs pos="100000">
                <a:srgbClr val="FFCE78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なんじかん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3048000" y="331387"/>
            <a:ext cx="6169718" cy="115486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BCA0"/>
              </a:gs>
              <a:gs pos="50000">
                <a:srgbClr val="00BA98"/>
              </a:gs>
              <a:gs pos="100000">
                <a:srgbClr val="00AC8C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第４課</a:t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38200" y="2286000"/>
            <a:ext cx="11051482" cy="31949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どんなところ？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パート</a:t>
            </a:r>
            <a:endParaRPr sz="3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</a:t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 rot="829033">
            <a:off x="9808437" y="1235365"/>
            <a:ext cx="838200" cy="83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２</a:t>
            </a:r>
            <a:endParaRPr sz="9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 txBox="1">
            <a:spLocks noGrp="1"/>
          </p:cNvSpPr>
          <p:nvPr>
            <p:ph type="title"/>
          </p:nvPr>
        </p:nvSpPr>
        <p:spPr>
          <a:xfrm>
            <a:off x="539750" y="5338763"/>
            <a:ext cx="3059113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ct val="100000"/>
              <a:buFont typeface="MS Mincho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おんせん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5338763" y="5235575"/>
            <a:ext cx="2152650" cy="7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かわ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7967663" y="344488"/>
            <a:ext cx="2936875" cy="7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やま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385" name="Google Shape;385;p11" descr="C:\Users\Thu-Tao\Desktop\Tranh quyen dekiru\Ｓｕｏｉ　ｎｕｏｃ　ｎｏｎｇ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63" y="1223963"/>
            <a:ext cx="3870325" cy="3716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1" descr="C:\Users\Thu-Tao\Desktop\Tranh quyen dekiru\Ｓｏｎｇ　ｎｕｉ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11613" y="1177925"/>
            <a:ext cx="762000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"/>
          <p:cNvSpPr txBox="1"/>
          <p:nvPr/>
        </p:nvSpPr>
        <p:spPr>
          <a:xfrm>
            <a:off x="1130300" y="5737225"/>
            <a:ext cx="33083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きょうかい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7397750" y="5441950"/>
            <a:ext cx="2233613" cy="7413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しろ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393" name="Google Shape;393;p12" descr="C:\Users\Thu-Tao\Desktop\Tranh quyen dekiru\anh nha th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552450"/>
            <a:ext cx="3797300" cy="45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2" descr="C:\Users\Thu-Tao\Desktop\Tranh quyen dekiru\Ｔｈａｎｈ　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4300" y="704850"/>
            <a:ext cx="5549900" cy="4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"/>
          <p:cNvSpPr txBox="1"/>
          <p:nvPr/>
        </p:nvSpPr>
        <p:spPr>
          <a:xfrm>
            <a:off x="1130300" y="5737225"/>
            <a:ext cx="33083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じんじゃ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7021234" y="5511895"/>
            <a:ext cx="3615391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（お）てら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401" name="Google Shape;401;p13" descr="C:\Users\Thu-Tao\Desktop\Tranh quyen dekiru\Ｄｅｎ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688" y="1022350"/>
            <a:ext cx="4868862" cy="411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 descr="C:\Users\Thu-Tao\Desktop\Tranh quyen dekiru\Ｃｈｕａ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0400" y="1020763"/>
            <a:ext cx="540067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14" descr="D:\Giang day\Thulx\file scan tu moi shin\第8課\Picture 1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3975" y="265113"/>
            <a:ext cx="7119938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 txBox="1"/>
          <p:nvPr/>
        </p:nvSpPr>
        <p:spPr>
          <a:xfrm>
            <a:off x="1601788" y="5662613"/>
            <a:ext cx="3309937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あたらしい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7383463" y="5678488"/>
            <a:ext cx="2232025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ふるい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"/>
          <p:cNvSpPr txBox="1"/>
          <p:nvPr/>
        </p:nvSpPr>
        <p:spPr>
          <a:xfrm>
            <a:off x="1601788" y="5662613"/>
            <a:ext cx="3309937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おおきい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7383463" y="5678488"/>
            <a:ext cx="29400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ちいさい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416" name="Google Shape;416;p15" descr="D:\Giang day\Thulx\file scan tu moi shin\第8課\Picture 1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3250" y="358775"/>
            <a:ext cx="8126413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"/>
          <p:cNvSpPr txBox="1"/>
          <p:nvPr/>
        </p:nvSpPr>
        <p:spPr>
          <a:xfrm>
            <a:off x="1601788" y="5662613"/>
            <a:ext cx="3309937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たかい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7383463" y="5678488"/>
            <a:ext cx="29400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ひくい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423" name="Google Shape;423;p16" descr="D:\Giang day\Thulx\file scan tu moi shin\第8課\Picture 2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163" y="279400"/>
            <a:ext cx="8907462" cy="52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17" descr="D:\Giang day\Thulx\file scan tu moi shin\第8課\Picture 13.jpg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276225"/>
            <a:ext cx="7439025" cy="501808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7"/>
          <p:cNvSpPr txBox="1"/>
          <p:nvPr/>
        </p:nvSpPr>
        <p:spPr>
          <a:xfrm>
            <a:off x="1601788" y="5662613"/>
            <a:ext cx="3309937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しずか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7383463" y="5678488"/>
            <a:ext cx="29400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にぎやか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/>
        </p:nvSpPr>
        <p:spPr>
          <a:xfrm>
            <a:off x="1068949" y="5474355"/>
            <a:ext cx="3910012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きれい（な）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6642848" y="5436442"/>
            <a:ext cx="4518211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ゆうめい（な）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pic>
        <p:nvPicPr>
          <p:cNvPr id="437" name="Google Shape;437;p18" descr="D:\Giang day\Thulx\file scan tu moi shin\第8課\Picture 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13" y="693738"/>
            <a:ext cx="4794250" cy="4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8" descr="D:\Giang day\Thulx\file scan tu moi shin\第8課\Picture 11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3913" y="708025"/>
            <a:ext cx="5613400" cy="46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19" descr="D:\Giang day\Thulx\file scan tu moi shin\第8課\Picture 13.jpg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303213"/>
            <a:ext cx="7439025" cy="501808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9"/>
          <p:cNvSpPr txBox="1"/>
          <p:nvPr/>
        </p:nvSpPr>
        <p:spPr>
          <a:xfrm>
            <a:off x="1601788" y="5662613"/>
            <a:ext cx="3309937" cy="741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しずか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7383463" y="5678488"/>
            <a:ext cx="294005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にぎやか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0" descr="D:\Giang day\Thulx\file scan tu moi shin\第12課\Picture 10.jpg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285750"/>
            <a:ext cx="6991350" cy="5148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 txBox="1"/>
          <p:nvPr/>
        </p:nvSpPr>
        <p:spPr>
          <a:xfrm>
            <a:off x="1062318" y="5692775"/>
            <a:ext cx="4660620" cy="7397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（人が）おおい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5975913" y="5661772"/>
            <a:ext cx="5368925" cy="7413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1E00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6E1E00"/>
                </a:solidFill>
                <a:latin typeface="MS Mincho"/>
                <a:ea typeface="MS Mincho"/>
                <a:cs typeface="MS Mincho"/>
                <a:sym typeface="MS Mincho"/>
              </a:rPr>
              <a:t>（人が）すくない</a:t>
            </a:r>
            <a:endParaRPr sz="4800" b="1">
              <a:solidFill>
                <a:srgbClr val="6E1E00"/>
              </a:solidFill>
              <a:latin typeface="MS Mincho"/>
              <a:ea typeface="MS Mincho"/>
              <a:cs typeface="MS Mincho"/>
              <a:sym typeface="MS Minch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6024" y="188348"/>
            <a:ext cx="3952876" cy="297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24712">
            <a:off x="8625854" y="573973"/>
            <a:ext cx="2921408" cy="22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1355">
            <a:off x="364814" y="521781"/>
            <a:ext cx="2744192" cy="2055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1"/>
          <p:cNvSpPr/>
          <p:nvPr/>
        </p:nvSpPr>
        <p:spPr>
          <a:xfrm>
            <a:off x="455274" y="4229100"/>
            <a:ext cx="5461000" cy="1549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形容詞</a:t>
            </a:r>
            <a:endParaRPr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043274" y="4229100"/>
            <a:ext cx="5461000" cy="1549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形容動詞</a:t>
            </a:r>
            <a:endParaRPr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356974" y="3530600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6944974" y="3530600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Na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3756024" y="1653152"/>
            <a:ext cx="3657600" cy="698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E55947"/>
              </a:gs>
              <a:gs pos="50000">
                <a:srgbClr val="E63700"/>
              </a:gs>
              <a:gs pos="100000">
                <a:srgbClr val="D42B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JAPANESE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21"/>
          <p:cNvCxnSpPr>
            <a:endCxn id="462" idx="0"/>
          </p:cNvCxnSpPr>
          <p:nvPr/>
        </p:nvCxnSpPr>
        <p:spPr>
          <a:xfrm flipH="1">
            <a:off x="3185774" y="2351600"/>
            <a:ext cx="2399100" cy="1179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6" name="Google Shape;466;p21"/>
          <p:cNvCxnSpPr>
            <a:stCxn id="464" idx="2"/>
            <a:endCxn id="463" idx="0"/>
          </p:cNvCxnSpPr>
          <p:nvPr/>
        </p:nvCxnSpPr>
        <p:spPr>
          <a:xfrm>
            <a:off x="5584824" y="2351652"/>
            <a:ext cx="3189000" cy="1179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7" name="Google Shape;467;p21"/>
          <p:cNvSpPr/>
          <p:nvPr/>
        </p:nvSpPr>
        <p:spPr>
          <a:xfrm rot="-469838">
            <a:off x="2122409" y="13339"/>
            <a:ext cx="3113426" cy="3072377"/>
          </a:xfrm>
          <a:prstGeom prst="wedgeRoundRectCallout">
            <a:avLst>
              <a:gd name="adj1" fmla="val -3042"/>
              <a:gd name="adj2" fmla="val 56737"/>
              <a:gd name="adj3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あたらしい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ふるい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いい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わるい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おおい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すくない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おおきい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ちいさい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たかい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ひくい</a:t>
            </a:r>
            <a:endParaRPr sz="20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1"/>
          <p:cNvSpPr/>
          <p:nvPr/>
        </p:nvSpPr>
        <p:spPr>
          <a:xfrm rot="267364">
            <a:off x="8551237" y="416269"/>
            <a:ext cx="3113426" cy="2631212"/>
          </a:xfrm>
          <a:prstGeom prst="wedgeRoundRectCallout">
            <a:avLst>
              <a:gd name="adj1" fmla="val 1328"/>
              <a:gd name="adj2" fmla="val 67497"/>
              <a:gd name="adj3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きれい（な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しずか（な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にぎやか（な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ゆうめい（な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きらい（な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716738" y="5409168"/>
            <a:ext cx="3297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けい　　　よう　　　し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6878380" y="5441079"/>
            <a:ext cx="37241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けい　　　よう　　どう　　　し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/>
          <p:nvPr/>
        </p:nvSpPr>
        <p:spPr>
          <a:xfrm>
            <a:off x="2093266" y="914400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Cái cặp này mới.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621182" y="1828800"/>
            <a:ext cx="77227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このかばんは　あたらしいです。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6736791" y="4089948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Lan xinh đẹp.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3231591" y="0"/>
            <a:ext cx="2508809" cy="914400"/>
          </a:xfrm>
          <a:prstGeom prst="cloudCallout">
            <a:avLst>
              <a:gd name="adj1" fmla="val -48675"/>
              <a:gd name="adj2" fmla="val 625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あたらしい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5567274" y="3114813"/>
            <a:ext cx="2508809" cy="914400"/>
          </a:xfrm>
          <a:prstGeom prst="cloudCallout">
            <a:avLst>
              <a:gd name="adj1" fmla="val 92559"/>
              <a:gd name="adj2" fmla="val 75001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きれい（な）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95204">
            <a:off x="9888082" y="2025052"/>
            <a:ext cx="1979982" cy="271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07034">
            <a:off x="264423" y="-113629"/>
            <a:ext cx="1909277" cy="1655763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2"/>
          <p:cNvSpPr/>
          <p:nvPr/>
        </p:nvSpPr>
        <p:spPr>
          <a:xfrm>
            <a:off x="3602397" y="4943613"/>
            <a:ext cx="6438561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ランさんは　きれいです。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6821676" y="4943613"/>
            <a:ext cx="335720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きれいなです。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2"/>
          <p:cNvCxnSpPr/>
          <p:nvPr/>
        </p:nvCxnSpPr>
        <p:spPr>
          <a:xfrm flipH="1">
            <a:off x="8500278" y="4963405"/>
            <a:ext cx="469900" cy="63075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5" name="Google Shape;485;p22"/>
          <p:cNvCxnSpPr/>
          <p:nvPr/>
        </p:nvCxnSpPr>
        <p:spPr>
          <a:xfrm>
            <a:off x="8343900" y="4943612"/>
            <a:ext cx="774700" cy="60628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302232" y="941049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212157" y="4217582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形容動詞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1632815" y="1925389"/>
            <a:ext cx="9245600" cy="134981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～は［I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-adjective］です。</a:t>
            </a:r>
            <a:endParaRPr sz="5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494" name="Google Shape;494;p23"/>
          <p:cNvSpPr/>
          <p:nvPr/>
        </p:nvSpPr>
        <p:spPr>
          <a:xfrm>
            <a:off x="1632815" y="5378097"/>
            <a:ext cx="9245600" cy="134981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～は［Na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-adjective］です。</a:t>
            </a:r>
            <a:endParaRPr sz="5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4203700" y="2116674"/>
            <a:ext cx="774700" cy="931931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4038784" y="5200313"/>
            <a:ext cx="1041764" cy="1705389"/>
          </a:xfrm>
          <a:prstGeom prst="mathMultiply">
            <a:avLst>
              <a:gd name="adj1" fmla="val 8891"/>
            </a:avLst>
          </a:prstGeom>
          <a:solidFill>
            <a:srgbClr val="FF0000"/>
          </a:solidFill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7" name="Google Shape;497;p23"/>
          <p:cNvSpPr/>
          <p:nvPr/>
        </p:nvSpPr>
        <p:spPr>
          <a:xfrm rot="593823">
            <a:off x="4112075" y="975594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KHẲNG ĐỊNH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8" name="Google Shape;498;p23"/>
          <p:cNvSpPr/>
          <p:nvPr/>
        </p:nvSpPr>
        <p:spPr>
          <a:xfrm rot="593823">
            <a:off x="6551884" y="997038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HIỆN TẠI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9" name="Google Shape;499;p23"/>
          <p:cNvSpPr/>
          <p:nvPr/>
        </p:nvSpPr>
        <p:spPr>
          <a:xfrm rot="593823">
            <a:off x="4126200" y="4453157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KHẲNG ĐỊNH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0" name="Google Shape;500;p23"/>
          <p:cNvSpPr/>
          <p:nvPr/>
        </p:nvSpPr>
        <p:spPr>
          <a:xfrm rot="593823">
            <a:off x="6566009" y="4474601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HIỆN TẠI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621182" y="249037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02" name="Google Shape;502;p23"/>
          <p:cNvSpPr/>
          <p:nvPr/>
        </p:nvSpPr>
        <p:spPr>
          <a:xfrm>
            <a:off x="595800" y="3607005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Na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4"/>
          <p:cNvSpPr/>
          <p:nvPr/>
        </p:nvSpPr>
        <p:spPr>
          <a:xfrm>
            <a:off x="3541751" y="100793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Đại</a:t>
            </a:r>
            <a:r>
              <a:rPr lang="en-US" sz="2800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r>
              <a:rPr lang="en-US" sz="2800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FPT to.</a:t>
            </a:r>
            <a:endParaRPr sz="2800" i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3516782" y="1131332"/>
            <a:ext cx="61225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FPT大学は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大きいです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4116415" y="3658000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Hà Nội náo nhiệt.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327534" y="4462107"/>
            <a:ext cx="700309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ハノイは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にぎやかです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9119936" y="1121687"/>
            <a:ext cx="11822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5960542" y="4462107"/>
            <a:ext cx="11822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50954">
            <a:off x="418528" y="366676"/>
            <a:ext cx="2935513" cy="193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10784">
            <a:off x="7399051" y="3609007"/>
            <a:ext cx="4211810" cy="1706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4"/>
          <p:cNvSpPr/>
          <p:nvPr/>
        </p:nvSpPr>
        <p:spPr>
          <a:xfrm>
            <a:off x="3494916" y="1951184"/>
            <a:ext cx="4903749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はい、大き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い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963648" y="5301173"/>
            <a:ext cx="612251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はい、にぎやかです。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963648" y="6063173"/>
            <a:ext cx="215385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いいえ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3541751" y="2779247"/>
            <a:ext cx="215385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いいえ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5423888" y="2730436"/>
            <a:ext cx="617816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大き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くない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2839470" y="6063173"/>
            <a:ext cx="6233690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にぎやか</a:t>
            </a:r>
            <a:r>
              <a:rPr lang="en-US" sz="40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ではありません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12999">
            <a:off x="6033972" y="397422"/>
            <a:ext cx="420789" cy="5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12999">
            <a:off x="6946730" y="3701463"/>
            <a:ext cx="420789" cy="5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4"/>
          <p:cNvSpPr/>
          <p:nvPr/>
        </p:nvSpPr>
        <p:spPr>
          <a:xfrm rot="164946">
            <a:off x="6906384" y="4871803"/>
            <a:ext cx="3781603" cy="1319135"/>
          </a:xfrm>
          <a:prstGeom prst="cloudCallout">
            <a:avLst>
              <a:gd name="adj1" fmla="val -63747"/>
              <a:gd name="adj2" fmla="val 59306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Giống DANH TỪ</a:t>
            </a:r>
            <a:endParaRPr/>
          </a:p>
        </p:txBody>
      </p:sp>
      <p:sp>
        <p:nvSpPr>
          <p:cNvPr id="524" name="Google Shape;524;p24"/>
          <p:cNvSpPr txBox="1"/>
          <p:nvPr/>
        </p:nvSpPr>
        <p:spPr>
          <a:xfrm>
            <a:off x="4618678" y="666643"/>
            <a:ext cx="44544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だいがく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4"/>
          <p:cNvSpPr txBox="1"/>
          <p:nvPr/>
        </p:nvSpPr>
        <p:spPr>
          <a:xfrm>
            <a:off x="5522763" y="2587001"/>
            <a:ext cx="8480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5"/>
          <p:cNvSpPr/>
          <p:nvPr/>
        </p:nvSpPr>
        <p:spPr>
          <a:xfrm>
            <a:off x="0" y="0"/>
            <a:ext cx="12192000" cy="3597168"/>
          </a:xfrm>
          <a:prstGeom prst="rect">
            <a:avLst/>
          </a:prstGeom>
          <a:gradFill>
            <a:gsLst>
              <a:gs pos="0">
                <a:srgbClr val="FFC047"/>
              </a:gs>
              <a:gs pos="50000">
                <a:srgbClr val="FFBE00"/>
              </a:gs>
              <a:gs pos="100000">
                <a:srgbClr val="E3AD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212157" y="856869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0" y="3597168"/>
            <a:ext cx="12192000" cy="3260832"/>
          </a:xfrm>
          <a:prstGeom prst="rect">
            <a:avLst/>
          </a:prstGeom>
          <a:gradFill>
            <a:gsLst>
              <a:gs pos="0">
                <a:srgbClr val="47C5F9"/>
              </a:gs>
              <a:gs pos="50000">
                <a:srgbClr val="00C2FE"/>
              </a:gs>
              <a:gs pos="100000">
                <a:srgbClr val="00B1E3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212157" y="4201762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形容動詞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1044923" y="1950079"/>
            <a:ext cx="10389890" cy="134981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～は［I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</a:t>
            </a: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くない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です。</a:t>
            </a:r>
            <a:endParaRPr sz="5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101600" y="5333565"/>
            <a:ext cx="11849100" cy="134981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～は［Na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</a:t>
            </a: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ではありません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。</a:t>
            </a:r>
            <a:endParaRPr sz="5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36" name="Google Shape;536;p25"/>
          <p:cNvSpPr/>
          <p:nvPr/>
        </p:nvSpPr>
        <p:spPr>
          <a:xfrm rot="593823">
            <a:off x="4126200" y="4437337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PHỦ ĐỊNH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7" name="Google Shape;537;p25"/>
          <p:cNvSpPr/>
          <p:nvPr/>
        </p:nvSpPr>
        <p:spPr>
          <a:xfrm rot="593823">
            <a:off x="6566009" y="4458781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HIỆN TẠI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8" name="Google Shape;538;p25"/>
          <p:cNvSpPr/>
          <p:nvPr/>
        </p:nvSpPr>
        <p:spPr>
          <a:xfrm rot="593823">
            <a:off x="4180121" y="988828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PHỦ ĐỊNH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9" name="Google Shape;539;p25"/>
          <p:cNvSpPr/>
          <p:nvPr/>
        </p:nvSpPr>
        <p:spPr>
          <a:xfrm rot="593823">
            <a:off x="6619930" y="1010272"/>
            <a:ext cx="2493425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HIỆN TẠI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3011144" y="1772293"/>
            <a:ext cx="1041764" cy="1705389"/>
          </a:xfrm>
          <a:prstGeom prst="mathMultiply">
            <a:avLst>
              <a:gd name="adj1" fmla="val 8891"/>
            </a:avLst>
          </a:prstGeom>
          <a:solidFill>
            <a:srgbClr val="FF0000"/>
          </a:solidFill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2154244" y="5155779"/>
            <a:ext cx="1041764" cy="1705389"/>
          </a:xfrm>
          <a:prstGeom prst="mathMultiply">
            <a:avLst>
              <a:gd name="adj1" fmla="val 8891"/>
            </a:avLst>
          </a:prstGeom>
          <a:solidFill>
            <a:srgbClr val="FF0000"/>
          </a:solidFill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2" name="Google Shape;542;p25"/>
          <p:cNvSpPr/>
          <p:nvPr/>
        </p:nvSpPr>
        <p:spPr>
          <a:xfrm rot="-271372">
            <a:off x="7378700" y="209860"/>
            <a:ext cx="4572000" cy="936231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いい</a:t>
            </a:r>
            <a:r>
              <a:rPr lang="en-US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　🖝　</a:t>
            </a:r>
            <a:r>
              <a:rPr lang="en-US" sz="3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よくない</a:t>
            </a:r>
            <a:endParaRPr sz="3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19097" y="209318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593715" y="3627246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Na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6"/>
          <p:cNvSpPr/>
          <p:nvPr/>
        </p:nvSpPr>
        <p:spPr>
          <a:xfrm>
            <a:off x="3542182" y="439263"/>
            <a:ext cx="2157402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Sushi ngon.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3542181" y="1170029"/>
            <a:ext cx="7810629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すしは　おいしいです。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3542181" y="3411995"/>
            <a:ext cx="32142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Sushi nổi tiếng.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3695139" y="4142761"/>
            <a:ext cx="4910030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すしは　有名です。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06846">
            <a:off x="397439" y="177218"/>
            <a:ext cx="2630978" cy="197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38" y="2574686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612" y="4631195"/>
            <a:ext cx="225742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6"/>
          <p:cNvSpPr/>
          <p:nvPr/>
        </p:nvSpPr>
        <p:spPr>
          <a:xfrm>
            <a:off x="5664199" y="1170029"/>
            <a:ext cx="2146300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5699583" y="4127799"/>
            <a:ext cx="1320800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3542181" y="2145751"/>
            <a:ext cx="6922619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すしは　おいしい　料理です。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5664198" y="2145751"/>
            <a:ext cx="3670301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3669738" y="5097638"/>
            <a:ext cx="6795062" cy="156238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すしは　有名な　料理です。　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6807198" y="5097638"/>
            <a:ext cx="72501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5699583" y="439263"/>
            <a:ext cx="500651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　Sushi là </a:t>
            </a:r>
            <a:r>
              <a:rPr lang="en-US" sz="2800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món ăn </a:t>
            </a: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ngon.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6029222" y="3424079"/>
            <a:ext cx="5222977" cy="76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　Sushi là </a:t>
            </a:r>
            <a:r>
              <a:rPr lang="en-US" sz="2800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món ăn </a:t>
            </a:r>
            <a:r>
              <a:rPr lang="en-US" sz="28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nổi tiếng.</a:t>
            </a:r>
            <a:endParaRPr sz="2800" i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4" name="Google Shape;564;p26"/>
          <p:cNvSpPr/>
          <p:nvPr/>
        </p:nvSpPr>
        <p:spPr>
          <a:xfrm rot="559298">
            <a:off x="1705884" y="1961326"/>
            <a:ext cx="1714500" cy="1130849"/>
          </a:xfrm>
          <a:prstGeom prst="wave">
            <a:avLst>
              <a:gd name="adj1" fmla="val 12500"/>
              <a:gd name="adj2" fmla="val 0"/>
            </a:avLst>
          </a:prstGeom>
          <a:gradFill>
            <a:gsLst>
              <a:gs pos="0">
                <a:srgbClr val="E55947"/>
              </a:gs>
              <a:gs pos="50000">
                <a:srgbClr val="E63700"/>
              </a:gs>
              <a:gs pos="100000">
                <a:srgbClr val="D42B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りょうり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699583" y="5091918"/>
            <a:ext cx="3241217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6" name="Google Shape;566;p26"/>
          <p:cNvSpPr txBox="1"/>
          <p:nvPr/>
        </p:nvSpPr>
        <p:spPr>
          <a:xfrm>
            <a:off x="8111250" y="1712712"/>
            <a:ext cx="1279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りょうり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 txBox="1"/>
          <p:nvPr/>
        </p:nvSpPr>
        <p:spPr>
          <a:xfrm>
            <a:off x="5741027" y="4026749"/>
            <a:ext cx="1279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ゆうめい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5741027" y="4986957"/>
            <a:ext cx="393947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ゆうめい　　　　りょうり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822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7"/>
          <p:cNvSpPr/>
          <p:nvPr/>
        </p:nvSpPr>
        <p:spPr>
          <a:xfrm>
            <a:off x="0" y="0"/>
            <a:ext cx="12192000" cy="3597168"/>
          </a:xfrm>
          <a:prstGeom prst="rect">
            <a:avLst/>
          </a:prstGeom>
          <a:gradFill>
            <a:gsLst>
              <a:gs pos="0">
                <a:srgbClr val="FFC047"/>
              </a:gs>
              <a:gs pos="50000">
                <a:srgbClr val="FFBE00"/>
              </a:gs>
              <a:gs pos="100000">
                <a:srgbClr val="E3AD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212157" y="647009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0" y="3597168"/>
            <a:ext cx="12192000" cy="3260832"/>
          </a:xfrm>
          <a:prstGeom prst="rect">
            <a:avLst/>
          </a:prstGeom>
          <a:gradFill>
            <a:gsLst>
              <a:gs pos="0">
                <a:srgbClr val="47C5F9"/>
              </a:gs>
              <a:gs pos="50000">
                <a:srgbClr val="00C2FE"/>
              </a:gs>
              <a:gs pos="100000">
                <a:srgbClr val="00B1E3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212157" y="4291702"/>
            <a:ext cx="4295500" cy="101268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形容動詞</a:t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1044923" y="1740219"/>
            <a:ext cx="9962454" cy="134981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［I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-adjective］+ </a:t>
            </a:r>
            <a:r>
              <a:rPr lang="en-US" sz="80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Noun</a:t>
            </a:r>
            <a:endParaRPr sz="8000" b="1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1044923" y="5423505"/>
            <a:ext cx="9962454" cy="134981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［Na</a:t>
            </a:r>
            <a:r>
              <a:rPr lang="en-US" sz="5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-adjective］</a:t>
            </a:r>
            <a:r>
              <a:rPr lang="en-US" sz="60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+ </a:t>
            </a:r>
            <a:r>
              <a:rPr lang="en-US" sz="88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Noun</a:t>
            </a:r>
            <a:endParaRPr sz="8800" b="1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79" name="Google Shape;579;p27"/>
          <p:cNvSpPr/>
          <p:nvPr/>
        </p:nvSpPr>
        <p:spPr>
          <a:xfrm rot="593823">
            <a:off x="4177751" y="806345"/>
            <a:ext cx="2811996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GHÉP VỚI DANH TỪ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0" name="Google Shape;580;p27"/>
          <p:cNvSpPr/>
          <p:nvPr/>
        </p:nvSpPr>
        <p:spPr>
          <a:xfrm rot="593823">
            <a:off x="6753740" y="698729"/>
            <a:ext cx="2811996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BỔ SUNG Ý NGHĨA CHO DANH TỪ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27"/>
          <p:cNvSpPr/>
          <p:nvPr/>
        </p:nvSpPr>
        <p:spPr>
          <a:xfrm rot="593823">
            <a:off x="4502779" y="4489632"/>
            <a:ext cx="2811996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GHÉP VỚI DANH TỪ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2" name="Google Shape;582;p27"/>
          <p:cNvSpPr/>
          <p:nvPr/>
        </p:nvSpPr>
        <p:spPr>
          <a:xfrm rot="593823">
            <a:off x="7078768" y="4382016"/>
            <a:ext cx="2811996" cy="10687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BỔ SUNG Ý NGHĨA CHO DANH TỪ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2704011" y="2001156"/>
            <a:ext cx="862149" cy="91186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2344023" y="5554023"/>
            <a:ext cx="1222138" cy="1156984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622078" y="45164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596696" y="3672952"/>
            <a:ext cx="3657600" cy="698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4B18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Na</a:t>
            </a:r>
            <a:r>
              <a:rPr lang="en-US" sz="4400">
                <a:solidFill>
                  <a:schemeClr val="l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-adjective</a:t>
            </a:r>
            <a:endParaRPr sz="4400">
              <a:solidFill>
                <a:schemeClr val="lt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"/>
          <p:cNvSpPr/>
          <p:nvPr/>
        </p:nvSpPr>
        <p:spPr>
          <a:xfrm>
            <a:off x="3357847" y="169903"/>
            <a:ext cx="632172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ベトナムは　きれいです。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6476">
            <a:off x="362766" y="280837"/>
            <a:ext cx="26098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675" y="2266184"/>
            <a:ext cx="2254092" cy="186167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8"/>
          <p:cNvSpPr/>
          <p:nvPr/>
        </p:nvSpPr>
        <p:spPr>
          <a:xfrm>
            <a:off x="3357847" y="1029575"/>
            <a:ext cx="7837021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ベトナムは　きれいな　国です。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3357849" y="2379073"/>
            <a:ext cx="632172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ホンダは　大きいです。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3357848" y="3189952"/>
            <a:ext cx="7301444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ホンダは　大きい　会社です。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675" y="4411358"/>
            <a:ext cx="239077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8"/>
          <p:cNvSpPr/>
          <p:nvPr/>
        </p:nvSpPr>
        <p:spPr>
          <a:xfrm>
            <a:off x="3357849" y="4539450"/>
            <a:ext cx="5537957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AYUMIは　有名です。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3357847" y="5350329"/>
            <a:ext cx="7837021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AYUMIは　有名な　歌手です。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6518713" y="218696"/>
            <a:ext cx="1621987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5947213" y="2403512"/>
            <a:ext cx="1621987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6126827" y="4539450"/>
            <a:ext cx="1213773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6531306" y="995502"/>
            <a:ext cx="3149971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5958106" y="3165512"/>
            <a:ext cx="3149971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6137720" y="5301450"/>
            <a:ext cx="3161483" cy="7620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709363" y="340455"/>
            <a:ext cx="3479800" cy="2454312"/>
          </a:xfrm>
          <a:prstGeom prst="cloud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どう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1617947" y="3605480"/>
            <a:ext cx="3479800" cy="2454312"/>
          </a:xfrm>
          <a:prstGeom prst="cloud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どんなＮ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28"/>
          <p:cNvCxnSpPr>
            <a:stCxn id="600" idx="1"/>
          </p:cNvCxnSpPr>
          <p:nvPr/>
        </p:nvCxnSpPr>
        <p:spPr>
          <a:xfrm flipH="1">
            <a:off x="4189213" y="599696"/>
            <a:ext cx="2329500" cy="967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9" name="Google Shape;609;p28"/>
          <p:cNvCxnSpPr>
            <a:stCxn id="601" idx="1"/>
            <a:endCxn id="606" idx="0"/>
          </p:cNvCxnSpPr>
          <p:nvPr/>
        </p:nvCxnSpPr>
        <p:spPr>
          <a:xfrm rot="10800000">
            <a:off x="4186213" y="1567712"/>
            <a:ext cx="1761000" cy="1216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0" name="Google Shape;610;p28"/>
          <p:cNvCxnSpPr/>
          <p:nvPr/>
        </p:nvCxnSpPr>
        <p:spPr>
          <a:xfrm rot="10800000">
            <a:off x="4200056" y="1587298"/>
            <a:ext cx="1926771" cy="3333152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1" name="Google Shape;611;p28"/>
          <p:cNvCxnSpPr/>
          <p:nvPr/>
        </p:nvCxnSpPr>
        <p:spPr>
          <a:xfrm flipH="1">
            <a:off x="5094847" y="1361696"/>
            <a:ext cx="1423866" cy="347094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2" name="Google Shape;612;p28"/>
          <p:cNvCxnSpPr>
            <a:stCxn id="604" idx="1"/>
            <a:endCxn id="607" idx="0"/>
          </p:cNvCxnSpPr>
          <p:nvPr/>
        </p:nvCxnSpPr>
        <p:spPr>
          <a:xfrm flipH="1">
            <a:off x="5094706" y="3546512"/>
            <a:ext cx="863400" cy="128610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3" name="Google Shape;613;p28"/>
          <p:cNvCxnSpPr>
            <a:stCxn id="605" idx="1"/>
            <a:endCxn id="607" idx="0"/>
          </p:cNvCxnSpPr>
          <p:nvPr/>
        </p:nvCxnSpPr>
        <p:spPr>
          <a:xfrm rot="10800000">
            <a:off x="5094920" y="4832550"/>
            <a:ext cx="1042800" cy="849900"/>
          </a:xfrm>
          <a:prstGeom prst="straightConnector1">
            <a:avLst/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4" name="Google Shape;614;p28"/>
          <p:cNvSpPr txBox="1"/>
          <p:nvPr/>
        </p:nvSpPr>
        <p:spPr>
          <a:xfrm>
            <a:off x="8955470" y="573022"/>
            <a:ext cx="7910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くに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8"/>
          <p:cNvSpPr txBox="1"/>
          <p:nvPr/>
        </p:nvSpPr>
        <p:spPr>
          <a:xfrm>
            <a:off x="5925575" y="2176124"/>
            <a:ext cx="7910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8"/>
          <p:cNvSpPr txBox="1"/>
          <p:nvPr/>
        </p:nvSpPr>
        <p:spPr>
          <a:xfrm>
            <a:off x="5973169" y="2814163"/>
            <a:ext cx="335656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かいしゃ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8"/>
          <p:cNvSpPr txBox="1"/>
          <p:nvPr/>
        </p:nvSpPr>
        <p:spPr>
          <a:xfrm>
            <a:off x="6152019" y="4411358"/>
            <a:ext cx="31471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ゆうめい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8"/>
          <p:cNvSpPr txBox="1"/>
          <p:nvPr/>
        </p:nvSpPr>
        <p:spPr>
          <a:xfrm>
            <a:off x="6105894" y="5232071"/>
            <a:ext cx="31471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ゆうめい　　　　かしゅ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8"/>
          <p:cNvSpPr txBox="1"/>
          <p:nvPr/>
        </p:nvSpPr>
        <p:spPr>
          <a:xfrm rot="-654919">
            <a:off x="168137" y="150793"/>
            <a:ext cx="144981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Country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8"/>
          <p:cNvSpPr txBox="1"/>
          <p:nvPr/>
        </p:nvSpPr>
        <p:spPr>
          <a:xfrm rot="-654919">
            <a:off x="64426" y="2250755"/>
            <a:ext cx="144981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8"/>
          <p:cNvSpPr txBox="1"/>
          <p:nvPr/>
        </p:nvSpPr>
        <p:spPr>
          <a:xfrm rot="-654919">
            <a:off x="123838" y="4277711"/>
            <a:ext cx="144981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04020">
            <a:off x="9472750" y="2085109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9068" y="4243292"/>
            <a:ext cx="174307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9"/>
          <p:cNvSpPr/>
          <p:nvPr/>
        </p:nvSpPr>
        <p:spPr>
          <a:xfrm>
            <a:off x="9994" y="4229206"/>
            <a:ext cx="12182005" cy="2501378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29" name="Google Shape;62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15438">
            <a:off x="228599" y="255587"/>
            <a:ext cx="3051095" cy="234791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9"/>
          <p:cNvSpPr/>
          <p:nvPr/>
        </p:nvSpPr>
        <p:spPr>
          <a:xfrm>
            <a:off x="3350222" y="667543"/>
            <a:ext cx="762257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キャノンのカメラは　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どう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ですか？。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9"/>
          <p:cNvSpPr/>
          <p:nvPr/>
        </p:nvSpPr>
        <p:spPr>
          <a:xfrm rot="-379644">
            <a:off x="596900" y="2539999"/>
            <a:ext cx="1930400" cy="73660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9"/>
          <p:cNvSpPr/>
          <p:nvPr/>
        </p:nvSpPr>
        <p:spPr>
          <a:xfrm rot="-379644">
            <a:off x="698501" y="3484860"/>
            <a:ext cx="1930400" cy="73660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たかい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9"/>
          <p:cNvSpPr/>
          <p:nvPr/>
        </p:nvSpPr>
        <p:spPr>
          <a:xfrm rot="-379644">
            <a:off x="2296068" y="2767754"/>
            <a:ext cx="1930400" cy="73660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やすい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2636346" y="4984717"/>
            <a:ext cx="762257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、たかいです。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2636346" y="5836185"/>
            <a:ext cx="762257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いいです。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そして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、やすいです。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3949212" y="1553736"/>
            <a:ext cx="288630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いいです。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4383926" y="2374054"/>
            <a:ext cx="288630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たかいです。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5103453" y="3260247"/>
            <a:ext cx="288630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やすいです。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0" y="3996478"/>
            <a:ext cx="4886793" cy="92096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0089B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Ghép / Kết hợp </a:t>
            </a:r>
            <a:b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để tạo câu có ý nghĩa liên tục</a:t>
            </a:r>
            <a:endParaRPr sz="2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4676931" y="4966758"/>
            <a:ext cx="715432" cy="81111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5276538" y="5811630"/>
            <a:ext cx="1708878" cy="81111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2" name="Google Shape;642;p29"/>
          <p:cNvSpPr/>
          <p:nvPr/>
        </p:nvSpPr>
        <p:spPr>
          <a:xfrm rot="-469149">
            <a:off x="-54038" y="4301203"/>
            <a:ext cx="3698990" cy="1349115"/>
          </a:xfrm>
          <a:prstGeom prst="wedgeEllipseCallout">
            <a:avLst>
              <a:gd name="adj1" fmla="val 71383"/>
              <a:gd name="adj2" fmla="val 34415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NHƯNG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Diễn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đạt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ý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ngược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nghĩa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" name="Google Shape;643;p29"/>
          <p:cNvSpPr/>
          <p:nvPr/>
        </p:nvSpPr>
        <p:spPr>
          <a:xfrm rot="397258">
            <a:off x="7451896" y="3932406"/>
            <a:ext cx="3698990" cy="1349115"/>
          </a:xfrm>
          <a:prstGeom prst="wedgeEllipseCallout">
            <a:avLst>
              <a:gd name="adj1" fmla="val -58025"/>
              <a:gd name="adj2" fmla="val 119224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Diễn đạt ý bổ sung, xuôi nghĩa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"/>
          <p:cNvSpPr/>
          <p:nvPr/>
        </p:nvSpPr>
        <p:spPr>
          <a:xfrm rot="261205">
            <a:off x="8204201" y="330200"/>
            <a:ext cx="3695700" cy="9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</a:t>
            </a:r>
            <a:endParaRPr sz="5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0"/>
          <p:cNvSpPr/>
          <p:nvPr/>
        </p:nvSpPr>
        <p:spPr>
          <a:xfrm rot="220741">
            <a:off x="8949128" y="2496343"/>
            <a:ext cx="2578308" cy="1319134"/>
          </a:xfrm>
          <a:prstGeom prst="horizontalScroll">
            <a:avLst>
              <a:gd name="adj" fmla="val 12500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“CÓ”</a:t>
            </a:r>
            <a:endParaRPr sz="32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SỞ HỮU</a:t>
            </a:r>
            <a:endParaRPr/>
          </a:p>
        </p:txBody>
      </p:sp>
      <p:sp>
        <p:nvSpPr>
          <p:cNvPr id="650" name="Google Shape;650;p30"/>
          <p:cNvSpPr/>
          <p:nvPr/>
        </p:nvSpPr>
        <p:spPr>
          <a:xfrm rot="-273284">
            <a:off x="205137" y="200465"/>
            <a:ext cx="2578308" cy="1319134"/>
          </a:xfrm>
          <a:prstGeom prst="horizontalScroll">
            <a:avLst>
              <a:gd name="adj" fmla="val 12500"/>
            </a:avLst>
          </a:prstGeom>
          <a:solidFill>
            <a:schemeClr val="accent5"/>
          </a:solidFill>
          <a:ln w="12700" cap="flat" cmpd="sng">
            <a:solidFill>
              <a:srgbClr val="00816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“CÓ ”</a:t>
            </a:r>
            <a:endParaRPr sz="32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TỒN TẠI</a:t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3087979" y="3815477"/>
            <a:ext cx="8394006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わたしは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パソコン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156832" y="1519977"/>
            <a:ext cx="7622578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私の町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やまが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3537679" y="4753611"/>
            <a:ext cx="8394006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先生は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車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ありません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3537679" y="5691745"/>
            <a:ext cx="8394006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リンさんは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お金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ありますか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7722717" y="3815477"/>
            <a:ext cx="97387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7685479" y="4753611"/>
            <a:ext cx="97387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7700468" y="5676755"/>
            <a:ext cx="97387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459896" y="2374794"/>
            <a:ext cx="7892401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ハノイ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やまが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4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ありません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1989039" y="1495027"/>
            <a:ext cx="97387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に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2045666" y="2349844"/>
            <a:ext cx="97387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に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71673">
            <a:off x="596892" y="3718656"/>
            <a:ext cx="1415955" cy="1415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280490">
            <a:off x="2189723" y="4293405"/>
            <a:ext cx="1621201" cy="162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61104">
            <a:off x="562434" y="5365761"/>
            <a:ext cx="1782440" cy="140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46963">
            <a:off x="4263486" y="239305"/>
            <a:ext cx="2477196" cy="148631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0"/>
          <p:cNvSpPr txBox="1"/>
          <p:nvPr/>
        </p:nvSpPr>
        <p:spPr>
          <a:xfrm>
            <a:off x="1407008" y="1359066"/>
            <a:ext cx="1279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まち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0"/>
          <p:cNvSpPr txBox="1"/>
          <p:nvPr/>
        </p:nvSpPr>
        <p:spPr>
          <a:xfrm>
            <a:off x="5173909" y="4553556"/>
            <a:ext cx="29985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せんせい　　　くるま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 txBox="1"/>
          <p:nvPr/>
        </p:nvSpPr>
        <p:spPr>
          <a:xfrm>
            <a:off x="7173546" y="5577863"/>
            <a:ext cx="10123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かね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2081385" y="1446957"/>
            <a:ext cx="873968" cy="1664887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7750421" y="3815477"/>
            <a:ext cx="873968" cy="254106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A14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0" name="Google Shape;670;p30"/>
          <p:cNvSpPr/>
          <p:nvPr/>
        </p:nvSpPr>
        <p:spPr>
          <a:xfrm rot="499135">
            <a:off x="3269046" y="368031"/>
            <a:ext cx="2709498" cy="1319135"/>
          </a:xfrm>
          <a:prstGeom prst="wedgeEllipseCallout">
            <a:avLst>
              <a:gd name="adj1" fmla="val -55278"/>
              <a:gd name="adj2" fmla="val 6404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Xác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định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vị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trí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b="1" i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tồn</a:t>
            </a:r>
            <a:r>
              <a:rPr lang="en-US" sz="2800" b="1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b="1" i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tại</a:t>
            </a:r>
            <a:r>
              <a:rPr lang="en-US" sz="2800" b="1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của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đồ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vật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1" name="Google Shape;671;p30"/>
          <p:cNvSpPr/>
          <p:nvPr/>
        </p:nvSpPr>
        <p:spPr>
          <a:xfrm rot="-220359">
            <a:off x="4913906" y="3232094"/>
            <a:ext cx="3259519" cy="762740"/>
          </a:xfrm>
          <a:prstGeom prst="wedgeEllipseCallout">
            <a:avLst>
              <a:gd name="adj1" fmla="val 36948"/>
              <a:gd name="adj2" fmla="val 79253"/>
            </a:avLst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Xác định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tân ngữ 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của động từ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/>
          <p:nvPr/>
        </p:nvSpPr>
        <p:spPr>
          <a:xfrm>
            <a:off x="3048000" y="331387"/>
            <a:ext cx="6169718" cy="115486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BCA0"/>
              </a:gs>
              <a:gs pos="50000">
                <a:srgbClr val="00BA98"/>
              </a:gs>
              <a:gs pos="100000">
                <a:srgbClr val="00AC8C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第４課</a:t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838200" y="2286000"/>
            <a:ext cx="11051482" cy="31949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季節・料理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1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パート</a:t>
            </a:r>
            <a:endParaRPr sz="3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</a:t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 rot="829033">
            <a:off x="9808437" y="1235365"/>
            <a:ext cx="838200" cy="83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３</a:t>
            </a:r>
            <a:endParaRPr sz="9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0" name="Google Shape;680;p31"/>
          <p:cNvSpPr txBox="1"/>
          <p:nvPr/>
        </p:nvSpPr>
        <p:spPr>
          <a:xfrm>
            <a:off x="3048000" y="2757324"/>
            <a:ext cx="2613269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き　　せつ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1"/>
          <p:cNvSpPr txBox="1"/>
          <p:nvPr/>
        </p:nvSpPr>
        <p:spPr>
          <a:xfrm>
            <a:off x="7030387" y="2757324"/>
            <a:ext cx="3051723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りょう　　り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65836F-D191-7840-A0FA-BA859BDAF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5ED0D5-B34C-A44D-B589-3FCE200A5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Google Shape;546;p23">
            <a:extLst>
              <a:ext uri="{FF2B5EF4-FFF2-40B4-BE49-F238E27FC236}">
                <a16:creationId xmlns:a16="http://schemas.microsoft.com/office/drawing/2014/main" id="{62D29FA3-B0F8-C049-AB85-691F7CDFCB70}"/>
              </a:ext>
            </a:extLst>
          </p:cNvPr>
          <p:cNvSpPr/>
          <p:nvPr/>
        </p:nvSpPr>
        <p:spPr>
          <a:xfrm>
            <a:off x="941696" y="436729"/>
            <a:ext cx="9894625" cy="5581934"/>
          </a:xfrm>
          <a:prstGeom prst="rect">
            <a:avLst/>
          </a:prstGeom>
          <a:solidFill>
            <a:schemeClr val="accent3"/>
          </a:solidFill>
          <a:ln w="47625" cap="flat" cmpd="dbl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Google Shape;547;p23">
            <a:extLst>
              <a:ext uri="{FF2B5EF4-FFF2-40B4-BE49-F238E27FC236}">
                <a16:creationId xmlns:a16="http://schemas.microsoft.com/office/drawing/2014/main" id="{EBDD7509-F5BA-394A-82ED-52BCB7A56EB6}"/>
              </a:ext>
            </a:extLst>
          </p:cNvPr>
          <p:cNvSpPr txBox="1"/>
          <p:nvPr/>
        </p:nvSpPr>
        <p:spPr>
          <a:xfrm>
            <a:off x="2253958" y="1134555"/>
            <a:ext cx="2548616" cy="523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 sz="2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ね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」: 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nhỉ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48;p23">
            <a:extLst>
              <a:ext uri="{FF2B5EF4-FFF2-40B4-BE49-F238E27FC236}">
                <a16:creationId xmlns:a16="http://schemas.microsoft.com/office/drawing/2014/main" id="{2148A6B7-8A30-1E48-9DF6-FCCCAC489B22}"/>
              </a:ext>
            </a:extLst>
          </p:cNvPr>
          <p:cNvSpPr txBox="1"/>
          <p:nvPr/>
        </p:nvSpPr>
        <p:spPr>
          <a:xfrm>
            <a:off x="3001215" y="2126654"/>
            <a:ext cx="6221621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(1) Kêu gọi sự đồng tình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" name="Google Shape;549;p23">
            <a:extLst>
              <a:ext uri="{FF2B5EF4-FFF2-40B4-BE49-F238E27FC236}">
                <a16:creationId xmlns:a16="http://schemas.microsoft.com/office/drawing/2014/main" id="{957AE2A6-91A2-6E45-803D-7990116401FF}"/>
              </a:ext>
            </a:extLst>
          </p:cNvPr>
          <p:cNvSpPr txBox="1"/>
          <p:nvPr/>
        </p:nvSpPr>
        <p:spPr>
          <a:xfrm>
            <a:off x="3001215" y="2634486"/>
            <a:ext cx="6221621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(2) Xác nhận thông tin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" name="Google Shape;550;p23">
            <a:extLst>
              <a:ext uri="{FF2B5EF4-FFF2-40B4-BE49-F238E27FC236}">
                <a16:creationId xmlns:a16="http://schemas.microsoft.com/office/drawing/2014/main" id="{EF396CC6-A79C-F64E-81D1-BED8DFDCEAE3}"/>
              </a:ext>
            </a:extLst>
          </p:cNvPr>
          <p:cNvSpPr txBox="1"/>
          <p:nvPr/>
        </p:nvSpPr>
        <p:spPr>
          <a:xfrm>
            <a:off x="2253958" y="3229434"/>
            <a:ext cx="2548616" cy="523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 sz="2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よ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」: 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đấy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1;p23">
            <a:extLst>
              <a:ext uri="{FF2B5EF4-FFF2-40B4-BE49-F238E27FC236}">
                <a16:creationId xmlns:a16="http://schemas.microsoft.com/office/drawing/2014/main" id="{D33B1C2B-F4E5-824B-AF4D-CB6AC28AD2AE}"/>
              </a:ext>
            </a:extLst>
          </p:cNvPr>
          <p:cNvSpPr txBox="1"/>
          <p:nvPr/>
        </p:nvSpPr>
        <p:spPr>
          <a:xfrm>
            <a:off x="3001215" y="3880980"/>
            <a:ext cx="6221621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(1) Đưa ra thông tin mới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" name="Google Shape;552;p23">
            <a:extLst>
              <a:ext uri="{FF2B5EF4-FFF2-40B4-BE49-F238E27FC236}">
                <a16:creationId xmlns:a16="http://schemas.microsoft.com/office/drawing/2014/main" id="{A30CE7EB-158E-9147-A110-7D74A2175EAA}"/>
              </a:ext>
            </a:extLst>
          </p:cNvPr>
          <p:cNvSpPr txBox="1"/>
          <p:nvPr/>
        </p:nvSpPr>
        <p:spPr>
          <a:xfrm>
            <a:off x="3001215" y="4455325"/>
            <a:ext cx="7420969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(2)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Nhấn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mạnh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ý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kiến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tình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cảm</a:t>
            </a:r>
            <a:endParaRPr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2579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565" y="16887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3245" y="19986"/>
            <a:ext cx="1838794" cy="245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5228" y="56993"/>
            <a:ext cx="2765708" cy="2071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125" y="56993"/>
            <a:ext cx="3141819" cy="209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2423" y="4527030"/>
            <a:ext cx="2993521" cy="199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8336" y="3909232"/>
            <a:ext cx="17526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42158" y="3909232"/>
            <a:ext cx="16764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1885" y="4314591"/>
            <a:ext cx="3097252" cy="181818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2"/>
          <p:cNvSpPr/>
          <p:nvPr/>
        </p:nvSpPr>
        <p:spPr>
          <a:xfrm>
            <a:off x="569069" y="2338583"/>
            <a:ext cx="326841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さむいです。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569069" y="3304720"/>
            <a:ext cx="3793069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さむいです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ね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8164482" y="2338583"/>
            <a:ext cx="3268413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あついです。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8164482" y="3304720"/>
            <a:ext cx="3793069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さむいです</a:t>
            </a:r>
            <a:r>
              <a:rPr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よ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3"/>
          <p:cNvSpPr txBox="1"/>
          <p:nvPr/>
        </p:nvSpPr>
        <p:spPr>
          <a:xfrm>
            <a:off x="4305300" y="787400"/>
            <a:ext cx="5715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東京　は　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どう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ですか。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4457700" y="602734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とうきょう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6832600" y="1467643"/>
            <a:ext cx="36195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きれいです。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6832600" y="2229643"/>
            <a:ext cx="36195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にぎやかです。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3"/>
          <p:cNvSpPr txBox="1"/>
          <p:nvPr/>
        </p:nvSpPr>
        <p:spPr>
          <a:xfrm>
            <a:off x="6832600" y="2991643"/>
            <a:ext cx="36195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おおきいです。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3"/>
          <p:cNvSpPr txBox="1"/>
          <p:nvPr/>
        </p:nvSpPr>
        <p:spPr>
          <a:xfrm>
            <a:off x="3238500" y="42926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とても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3"/>
          <p:cNvSpPr txBox="1"/>
          <p:nvPr/>
        </p:nvSpPr>
        <p:spPr>
          <a:xfrm>
            <a:off x="3238500" y="50546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たいへん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3"/>
          <p:cNvSpPr txBox="1"/>
          <p:nvPr/>
        </p:nvSpPr>
        <p:spPr>
          <a:xfrm>
            <a:off x="5524500" y="4318000"/>
            <a:ext cx="2133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Rất, lắm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3"/>
          <p:cNvSpPr txBox="1"/>
          <p:nvPr/>
        </p:nvSpPr>
        <p:spPr>
          <a:xfrm>
            <a:off x="5524500" y="5080000"/>
            <a:ext cx="37338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Cực kỳ, vô cùng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3"/>
          <p:cNvSpPr txBox="1"/>
          <p:nvPr/>
        </p:nvSpPr>
        <p:spPr>
          <a:xfrm>
            <a:off x="3238500" y="42926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とても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3"/>
          <p:cNvSpPr txBox="1"/>
          <p:nvPr/>
        </p:nvSpPr>
        <p:spPr>
          <a:xfrm>
            <a:off x="3238500" y="50546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たいへん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3"/>
          <p:cNvSpPr/>
          <p:nvPr/>
        </p:nvSpPr>
        <p:spPr>
          <a:xfrm>
            <a:off x="3162300" y="4064000"/>
            <a:ext cx="2362200" cy="1981200"/>
          </a:xfrm>
          <a:prstGeom prst="ellipse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14" name="Google Shape;71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12" y="677862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755" y="2594769"/>
            <a:ext cx="26193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755" y="4521201"/>
            <a:ext cx="26289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3"/>
          <p:cNvSpPr/>
          <p:nvPr/>
        </p:nvSpPr>
        <p:spPr>
          <a:xfrm rot="-737744">
            <a:off x="1204311" y="1262195"/>
            <a:ext cx="3485710" cy="1676400"/>
          </a:xfrm>
          <a:prstGeom prst="wedgeEllipseCallout">
            <a:avLst>
              <a:gd name="adj1" fmla="val 20104"/>
              <a:gd name="adj2" fmla="val 12624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Phó từ: bổ sung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ý nghĩa cho </a:t>
            </a:r>
            <a:b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tính từ &amp; động từ</a:t>
            </a:r>
            <a:endParaRPr sz="2000" b="1" i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4551" y="376472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4551" y="2430124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74551" y="4483776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4"/>
          <p:cNvSpPr txBox="1"/>
          <p:nvPr/>
        </p:nvSpPr>
        <p:spPr>
          <a:xfrm>
            <a:off x="1219200" y="762000"/>
            <a:ext cx="6781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なっとう　は　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どう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ですか。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4"/>
          <p:cNvSpPr txBox="1"/>
          <p:nvPr/>
        </p:nvSpPr>
        <p:spPr>
          <a:xfrm>
            <a:off x="2362200" y="1524000"/>
            <a:ext cx="5715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おいしくないです。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4"/>
          <p:cNvSpPr txBox="1"/>
          <p:nvPr/>
        </p:nvSpPr>
        <p:spPr>
          <a:xfrm>
            <a:off x="2602043" y="2271634"/>
            <a:ext cx="5715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たかくない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です。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たか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い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：đắt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たか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くない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：ko dat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4"/>
          <p:cNvSpPr txBox="1"/>
          <p:nvPr/>
        </p:nvSpPr>
        <p:spPr>
          <a:xfrm>
            <a:off x="685800" y="42672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あまり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4"/>
          <p:cNvSpPr txBox="1"/>
          <p:nvPr/>
        </p:nvSpPr>
        <p:spPr>
          <a:xfrm>
            <a:off x="685800" y="50292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ぜんぜん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4"/>
          <p:cNvSpPr txBox="1"/>
          <p:nvPr/>
        </p:nvSpPr>
        <p:spPr>
          <a:xfrm>
            <a:off x="2819400" y="4648200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＋～ない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4"/>
          <p:cNvSpPr/>
          <p:nvPr/>
        </p:nvSpPr>
        <p:spPr>
          <a:xfrm>
            <a:off x="609600" y="4038600"/>
            <a:ext cx="2362200" cy="1981200"/>
          </a:xfrm>
          <a:prstGeom prst="ellipse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2" name="Google Shape;732;p34"/>
          <p:cNvSpPr/>
          <p:nvPr/>
        </p:nvSpPr>
        <p:spPr>
          <a:xfrm rot="-471032">
            <a:off x="30686" y="1392311"/>
            <a:ext cx="2835275" cy="1788189"/>
          </a:xfrm>
          <a:prstGeom prst="wedgeEllipseCallout">
            <a:avLst>
              <a:gd name="adj1" fmla="val 11449"/>
              <a:gd name="adj2" fmla="val 101383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Những phó từ luôn đi với </a:t>
            </a:r>
            <a:b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000" b="1" i="1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thể phủ định</a:t>
            </a:r>
            <a:endParaRPr sz="2000" b="1" i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3" name="Google Shape;733;p34"/>
          <p:cNvSpPr txBox="1"/>
          <p:nvPr/>
        </p:nvSpPr>
        <p:spPr>
          <a:xfrm>
            <a:off x="5334000" y="5105400"/>
            <a:ext cx="3810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Hoàn toàn không ～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4"/>
          <p:cNvSpPr txBox="1"/>
          <p:nvPr/>
        </p:nvSpPr>
        <p:spPr>
          <a:xfrm>
            <a:off x="5334000" y="4292600"/>
            <a:ext cx="28194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Không ～ lắm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4"/>
          <p:cNvSpPr txBox="1"/>
          <p:nvPr/>
        </p:nvSpPr>
        <p:spPr>
          <a:xfrm>
            <a:off x="685800" y="4257675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あまり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4"/>
          <p:cNvSpPr txBox="1"/>
          <p:nvPr/>
        </p:nvSpPr>
        <p:spPr>
          <a:xfrm>
            <a:off x="685800" y="5019675"/>
            <a:ext cx="21336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ぜんぜん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97518">
            <a:off x="8192945" y="3641490"/>
            <a:ext cx="3703135" cy="2464268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5"/>
          <p:cNvSpPr txBox="1"/>
          <p:nvPr/>
        </p:nvSpPr>
        <p:spPr>
          <a:xfrm>
            <a:off x="685800" y="1121569"/>
            <a:ext cx="53721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A là người như thế nào?</a:t>
            </a:r>
            <a:endParaRPr/>
          </a:p>
        </p:txBody>
      </p:sp>
      <p:sp>
        <p:nvSpPr>
          <p:cNvPr id="743" name="Google Shape;743;p35"/>
          <p:cNvSpPr txBox="1"/>
          <p:nvPr/>
        </p:nvSpPr>
        <p:spPr>
          <a:xfrm>
            <a:off x="495300" y="2840833"/>
            <a:ext cx="44196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Bạn A là người tốt bụng. </a:t>
            </a:r>
            <a:endParaRPr/>
          </a:p>
        </p:txBody>
      </p:sp>
      <p:sp>
        <p:nvSpPr>
          <p:cNvPr id="744" name="Google Shape;744;p35"/>
          <p:cNvSpPr txBox="1"/>
          <p:nvPr/>
        </p:nvSpPr>
        <p:spPr>
          <a:xfrm>
            <a:off x="4381500" y="2840833"/>
            <a:ext cx="2057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Và xinh nữa. </a:t>
            </a:r>
            <a:endParaRPr/>
          </a:p>
        </p:txBody>
      </p:sp>
      <p:sp>
        <p:nvSpPr>
          <p:cNvPr id="745" name="Google Shape;745;p35"/>
          <p:cNvSpPr txBox="1"/>
          <p:nvPr/>
        </p:nvSpPr>
        <p:spPr>
          <a:xfrm>
            <a:off x="901700" y="4411663"/>
            <a:ext cx="6400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Trường đại học FPT thế nào?</a:t>
            </a:r>
            <a:endParaRPr/>
          </a:p>
        </p:txBody>
      </p:sp>
      <p:sp>
        <p:nvSpPr>
          <p:cNvPr id="746" name="Google Shape;746;p35"/>
          <p:cNvSpPr txBox="1"/>
          <p:nvPr/>
        </p:nvSpPr>
        <p:spPr>
          <a:xfrm>
            <a:off x="2705100" y="5984874"/>
            <a:ext cx="44196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Không to lắm nhưng rất mới.</a:t>
            </a:r>
            <a:endParaRPr/>
          </a:p>
        </p:txBody>
      </p:sp>
      <p:sp>
        <p:nvSpPr>
          <p:cNvPr id="747" name="Google Shape;747;p35"/>
          <p:cNvSpPr txBox="1"/>
          <p:nvPr/>
        </p:nvSpPr>
        <p:spPr>
          <a:xfrm>
            <a:off x="304800" y="516731"/>
            <a:ext cx="6400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Aさんは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どんな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sz="3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人ですか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5"/>
          <p:cNvSpPr txBox="1"/>
          <p:nvPr/>
        </p:nvSpPr>
        <p:spPr>
          <a:xfrm>
            <a:off x="685800" y="1701800"/>
            <a:ext cx="6400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Aさんは しんせつな 人です。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5"/>
          <p:cNvSpPr txBox="1"/>
          <p:nvPr/>
        </p:nvSpPr>
        <p:spPr>
          <a:xfrm>
            <a:off x="2349500" y="2286001"/>
            <a:ext cx="45720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そして、きれいです。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5"/>
          <p:cNvSpPr txBox="1"/>
          <p:nvPr/>
        </p:nvSpPr>
        <p:spPr>
          <a:xfrm>
            <a:off x="901700" y="3827463"/>
            <a:ext cx="64008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FPT大学は　どうですか。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5"/>
          <p:cNvSpPr txBox="1"/>
          <p:nvPr/>
        </p:nvSpPr>
        <p:spPr>
          <a:xfrm>
            <a:off x="990600" y="4876799"/>
            <a:ext cx="8839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あまり　おおきくないですが、</a:t>
            </a:r>
            <a:b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とても　あたらしいです。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2" name="Google Shape;75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49581">
            <a:off x="8769275" y="40349"/>
            <a:ext cx="3327860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3367</TotalTime>
  <Words>972</Words>
  <Application>Microsoft Macintosh PowerPoint</Application>
  <PresentationFormat>Widescreen</PresentationFormat>
  <Paragraphs>302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Quattrocento Sans</vt:lpstr>
      <vt:lpstr>Noto Sans Symbols</vt:lpstr>
      <vt:lpstr>Architects Daughter</vt:lpstr>
      <vt:lpstr>Twentieth Century</vt:lpstr>
      <vt:lpstr>MS Mincho</vt:lpstr>
      <vt:lpstr>Arial</vt:lpstr>
      <vt:lpstr>游ゴシック Light</vt:lpstr>
      <vt:lpstr>游ゴシック</vt:lpstr>
      <vt:lpstr>Tahoma</vt:lpstr>
      <vt:lpstr>Office テーマ</vt:lpstr>
      <vt:lpstr>PowerPoint Presentation</vt:lpstr>
      <vt:lpstr>PowerPoint Presentation</vt:lpstr>
      <vt:lpstr>PowerPoint Presentation</vt:lpstr>
      <vt:lpstr>PowerPoint Presentation</vt:lpstr>
      <vt:lpstr>Số đếm: lượng thời gian</vt:lpstr>
      <vt:lpstr>PowerPoint Presentation</vt:lpstr>
      <vt:lpstr>PowerPoint Presentation</vt:lpstr>
      <vt:lpstr>PowerPoint Presentation</vt:lpstr>
      <vt:lpstr>おんせん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Nguyen Cuong</dc:creator>
  <cp:lastModifiedBy>Microsoft Office User</cp:lastModifiedBy>
  <cp:revision>14</cp:revision>
  <dcterms:created xsi:type="dcterms:W3CDTF">2014-12-10T05:35:30Z</dcterms:created>
  <dcterms:modified xsi:type="dcterms:W3CDTF">2022-09-11T07:06:11Z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TC043863139991</vt:lpwstr>
  </property>
</Properties>
</file>