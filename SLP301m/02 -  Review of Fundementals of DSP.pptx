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9"/>
  </p:notesMasterIdLst>
  <p:handoutMasterIdLst>
    <p:handoutMasterId r:id="rId40"/>
  </p:handoutMasterIdLst>
  <p:sldIdLst>
    <p:sldId id="256" r:id="rId2"/>
    <p:sldId id="363" r:id="rId3"/>
    <p:sldId id="376" r:id="rId4"/>
    <p:sldId id="391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7" r:id="rId16"/>
    <p:sldId id="405" r:id="rId17"/>
    <p:sldId id="408" r:id="rId18"/>
    <p:sldId id="392" r:id="rId19"/>
    <p:sldId id="409" r:id="rId20"/>
    <p:sldId id="410" r:id="rId21"/>
    <p:sldId id="411" r:id="rId22"/>
    <p:sldId id="412" r:id="rId23"/>
    <p:sldId id="413" r:id="rId24"/>
    <p:sldId id="414" r:id="rId25"/>
    <p:sldId id="393" r:id="rId26"/>
    <p:sldId id="415" r:id="rId27"/>
    <p:sldId id="416" r:id="rId28"/>
    <p:sldId id="417" r:id="rId29"/>
    <p:sldId id="418" r:id="rId30"/>
    <p:sldId id="419" r:id="rId31"/>
    <p:sldId id="420" r:id="rId32"/>
    <p:sldId id="394" r:id="rId33"/>
    <p:sldId id="421" r:id="rId34"/>
    <p:sldId id="422" r:id="rId35"/>
    <p:sldId id="423" r:id="rId36"/>
    <p:sldId id="424" r:id="rId37"/>
    <p:sldId id="347" r:id="rId38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346461E-F19E-40AD-F0C9-38C43C7F77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BB922C7-1C16-B202-FA43-6B3D9DD7CE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997558B4-4CE6-FE74-2EEC-29529821D46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44872B50-8C9F-DDCD-3E28-150B831089B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168EB23B-001D-4036-AEC3-5ACF652240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057CD91-B504-0977-B34F-76F05F701D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9AF22BD-F099-B66C-6460-D5F80F8C27D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D705254-EABF-0F04-475D-F039A9A8FF8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7CF960-B50D-6EEF-E278-F975AC3617F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1DA7B1A-67FF-DAF5-F8C4-6B5032666A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DEF943E-BBAC-A8CE-26B2-123BD0E602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97774C19-90CF-4BAD-9EAF-B129C4431D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CDFAA90-5A3F-9AE3-8FD2-8397186C58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F80E985-12EB-368C-F0CC-D77B7B62B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1F7984F9-2FD9-84A1-35A0-609E9FD1E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3329A7-693E-456A-BAAC-902A4FCA73AA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BA01507C-A9C9-DEE8-65B7-DCDE3A129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FD1EB652-6D10-9B9E-9D29-4752AC5F6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67C26B55-DE9B-BB24-CBE8-F3D9C6821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EC4540-B121-4EF4-B6D1-3D1DFC605692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F83658CA-3F27-FFD5-3945-EC34B72F33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C35445C7-AD12-4698-D17E-9075A23F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63B9632C-CB3F-8355-9917-A509AB31F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8852A56-2682-4578-98D9-943BC67F72A1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69412468-5119-4E80-BA66-B4D636228B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79384118-E78C-166D-DA23-E81F95C88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391C7B3E-C28F-DFB1-73B4-1DAE520B6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957B74-3138-4A9B-9002-EA462909E4EF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038D6E1-0728-13B9-A826-AD8DEC549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4A5FBF6F-4D26-2E8D-1A59-2F6A11A6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C8E3B17-C1D5-733C-99A7-32B7977D6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F3E67E-737C-4585-A749-0B9D4F2AFB52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AA0C0290-20C8-7095-9503-330641E8AA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C408F72A-C0A0-8D33-EB5F-63FEC9163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A2D70B99-1A12-F97E-3228-0367A325E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C70F9E-513E-4A5C-8669-EB7A5FACF878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C585D540-8EE4-8C6F-A43A-F2FFD16C80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EDD17426-7DFE-6F34-7883-BD7EDD6E6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4822FE7A-C9D0-C1A0-1B31-91FE0C382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FB8DC-B4E4-4DDC-8828-1D93737A0AB2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C37EB3E2-6A83-50EA-280C-745D1448F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7A2A6775-819A-0E56-D93F-347248715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85924EF1-4CE2-E154-BF9E-8B764DEE4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F45DBB-0E19-402D-9FB7-342CC2C4C046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7E2E2B3A-B5AB-2946-FA14-BA19C4676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56549F3C-3194-653E-FCAE-673986E9F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4E6A14DA-DDA7-02F9-BE18-6100C1F59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DB6F36-D08C-485D-9AEA-F721B8DA1162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F0AFE3A3-1408-7438-6C10-17E7AF160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986797F0-1A0A-6930-1390-A0B57803B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F1436625-2C29-E1E8-24CC-1826A4621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FA3A08-AFAB-427C-A9D0-7B3160279AD4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075DF36B-DF98-C64D-8E03-F165937DD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8C0303D7-16A9-58F2-ADE0-85EB173F1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A57A7CB4-0204-5B98-4D90-CAF84F61B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67276E-38AD-4B50-B793-3E05274E87F2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4572B7B9-54D6-5EB2-7B24-72ADB7DD4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8439DA72-DA1D-9049-FED6-CC320996C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4788B57B-D107-DC43-4A5B-BFEE2942B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E5D2BC-9E90-4D4E-B8E9-D7867FDB062A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EE5CD490-0A56-CF84-00C1-1F12937527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BE7BE6DD-ADDE-DF6E-1CBF-A02E616B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45B6D4F5-4ED8-8163-DCE2-2BCC6FDA4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29EBF18-4E87-4710-874F-BA70223D2D98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43C00EE4-3CC4-D5D1-D6C3-E0F8053CFE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119B4688-9B8A-7D92-0D66-585666B25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F8256C8B-73B5-6717-3C0C-A50FC4E04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03678F1-BBFF-4D12-966C-35134546BC02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E6DC55DA-D5C3-6B6D-B433-5D5F20E076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8E739380-1DA7-75DE-F727-2BDB1A298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DE190572-CB9A-8E76-04A4-A72157EEB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55BA083-6898-43E3-8E50-08B4B306CE68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0B7F80FB-2F97-03E1-8D63-6181B0263A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CE5FB303-B6BB-41DD-5CEA-C06C4E30B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062123B8-9B0B-4D39-C8A5-8ED53AC43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E9B01A-9B38-4542-ADDB-7254F5175383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17E3CCD8-FAC6-9F0D-F199-E4CA4D393F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ACD508A5-6803-1DA3-8959-2763C3600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FBFAE68C-1DAF-6122-6196-9A90E9399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6E69C5-EF0A-46A0-8EEC-873EA1B78BE3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CBAB9092-E97F-8D43-F52C-5C96059695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54DEA5AE-6AFF-82A4-F156-04E437B1D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10122D07-171D-AF15-3E08-4E63D3A84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243683-E68D-4DA6-A9D6-D0164C428803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D5786F85-2314-80DA-E643-6D02143F3A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E9E63D00-42B3-8C3C-458B-FAB60B642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C60FB6B-3805-53EB-D8F9-B35F5FB6A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DF965F-B9A1-4357-80D3-28865DE1B909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FC80536-BEEF-C9D9-5BA0-D5965F3BF7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FB2CA882-F5AB-770C-1728-603EA4757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D95308CC-5230-6A5A-4EAD-86D5F743F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146D856-9343-47DD-A7B4-AD6616CBBA7D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5071E624-4259-EA99-E128-8C2145F2A7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B5D8ACA0-65BB-F6AC-C705-EF5D94742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D932E278-B825-FA1D-CC91-E5AF6F5F6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DC0F3BD-B302-46C8-8484-6F631C56BA3E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4029BB36-541E-84A1-54F6-58F308F3A4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572C5C57-F623-63DA-21DB-1C6E6BBBD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857C722D-585F-CB01-DEC4-ABEFF3B4A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2C578-AE0A-4862-B4C1-79470B72ED8F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52CF0E59-2F6C-6F2B-AEED-724A80DC4E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DA86589E-4F4E-6637-C1BF-2F613E24B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9099A6DE-D283-8772-E50F-62D0267F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CB3951-283E-44AC-9581-A0BF1AFDFCAB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F1AFBF56-0465-EBDC-1440-A072907C1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7FAF94EF-CE9F-6A34-84E6-B97CD3970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3567DC86-E35E-9399-ABC2-65E452EFD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52C8BC-1553-4DFC-9C54-EF0E2F3C268D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31A824D0-5E62-8D3B-0502-A1AE0882A9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ECF8BF64-B9C7-A74A-9752-EFF0FFBAB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AFB011F5-194B-B07F-5F94-B08C1B4E8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5E0372-FD62-4439-8CFA-98C6029CCF67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8B63A596-9FEE-09F9-E8C1-C1FC5193DB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E7D8F7F9-5414-DFC3-573A-A993D9539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ED7CDB35-9E4B-14B7-8763-01D21D627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102356-F7A5-44C1-A685-212996EED68B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E1C2B852-29C3-C7D0-361A-E7CB1CAE1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1DBCD9D4-1863-8964-F8C0-D85F29E7A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C39918D1-B13E-6ADB-E289-E4C6CCEC1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323CB2C-6FD7-456F-B47F-ADA82766499A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14478F64-344A-BD21-0CCE-1883AE6F37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81D9542D-131E-15FA-FCD4-965319455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8E2B5E67-8CD9-9F07-0A3F-7DA18B2B9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8464DA-6486-4D1E-9773-A6DFD000DB88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BBA107A2-83E7-5A8D-D226-DF6CB7BE9C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3E4FE116-B54A-69F7-0E1B-C69125930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0DC2AF92-DD1E-071B-D0D5-25EC8EE34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54A38E0-E0FC-4587-A4CA-1A8D2CB2C9CF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D9D81867-C9DF-E355-5D61-7D8FAF4D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295AA0DD-5D47-AFEC-BB35-C0CF79127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5125756A-03E1-1D45-D2AB-BFC681058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402551-E2EC-41A9-939B-E0167925BFE8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31AB01FF-B750-16E2-EFC2-27DFA34CD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A8D9E583-B965-B804-F7D9-A95E1A7BC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59987D04-9D22-44C7-F4AD-FE1023FA2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2338D0-DC5E-46F9-B755-A27DD61413DA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02B697FD-4C94-E728-98D8-E929BEC331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39E36821-FC49-2A7E-734B-697E9564A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87B380EF-DAD2-8553-AACA-AF6A89685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EA62AC-7484-438D-942A-3AA78A60C4E2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52646145-142E-BA05-6E41-17CC49427E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8C3D344E-311A-E4CF-737C-9396A379F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A8D9A9F6-F06B-F536-33F6-265DACC26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50051CA-9C76-4171-A4B1-5BE9F0C1A5FA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AC4547EA-D80F-7C30-6A0F-2D909F190B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968470F2-FBED-9445-280A-DB9E2E72F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F306B372-B401-8074-F763-E59CBE1AA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FC0D04-8AE0-439F-8919-E0BD99E9803F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11AFDD-CE9A-8813-4D8D-32EE749601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F0115397-7783-503C-2F14-98472B2BB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8B5869F2-4407-7F5B-71D7-9E85BBCCCBDA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C10383D2-BBAC-3839-FEA2-F7FBBC6FB2F2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9569E785-F7AD-D8F6-1F27-BE2C12449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979831B3-DE4A-0533-68D3-90D5B5D699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A43535EB-C865-1B85-F1D9-74B239267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5C98D191-0A17-6661-21A4-831666CD29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D03D5FE9-FA34-6BBB-F5D0-A36DCF9546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917C3670-9ADB-0E0B-0750-D5624DE01A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1910F25B-4F52-8987-6ADB-CCA528B93A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98668500-9F7D-5250-D07B-BB222AD6C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F01FE04F-BF7D-D17B-BA30-C961775A3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871B1BE0-0636-403E-B243-513AFBBD49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1695A35E-C65A-AF4D-CE8E-63439A9F2C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F165EFFE-C257-92F4-64DF-7896C1EFF5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206D02E3-6291-3316-8755-0B7AAA313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BE62EEDE-1CC5-33D9-CA51-F936F827EF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972150DE-268F-3766-6C72-7AB44F664B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A8E0D642-A33A-17DF-3550-329DAB4F85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059268E6-5FB1-4DBA-0E7F-FF7F0E8529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8F1230EC-EA18-8CB4-BA87-1157181CDC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865444E9-052A-3BCE-C94A-6930CB7EE6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34BB2CAC-31E7-CA3A-5E8D-9844730F43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54B3B8CC-B9DA-5039-75BD-2970DA194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42FF897E-5DF0-C049-A518-9A7ACC15A4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3E493A34-C0FC-86F4-40F8-D30F815582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C6190F6D-8740-6716-4320-4092838302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2500FD0D-E3CA-F233-5F0E-DBE2027A8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E8ED4B2C-0AA3-0B82-C8AD-37ABB35D59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A2655453-5C95-588F-04CC-8618D7D430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5E225C28-76B8-AA7B-1D53-1AFCE08CC2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595DC56D-0F69-7C5D-F300-9BE1023F27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BFE42582-90CF-FC50-CDA9-7A5AACD511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24BF7D21-1F88-5001-B9C1-F2BDD2C2EA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9E1EEE83-9E08-2171-3CB7-D85D8C7C64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AA04402E-2E9A-E9B5-5B98-E8F1C2830F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3BC8A736-1D18-3E23-82B3-4B3DC51E3E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B28763DC-E9A5-4EF8-7358-3D5A85E449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3131B1C5-9084-A0A0-6589-407AB5F097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DB7520CC-BF33-4C77-8B03-5C9B90BCDE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61B5534F-0719-3825-CA9C-CD2603BF2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65698F71-935A-503A-9627-A334EC9E14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86C00875-6757-100F-C305-6752CC3C9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9E0ED31-B57F-EE58-A84F-7BD193A77D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77FB9089-7779-2913-E721-52FF732CB6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20F01A26-877C-D562-B678-4F95DD4228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174AAB5E-AEAA-5AAE-D3F8-CFE39D8C47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857BF587-FF96-6B7F-403A-90FBD4BA87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2376192F-AE1A-C6B9-0A1B-94D21F6031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89CFB7ED-976B-CCD2-4EA4-0F44094C77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8655881D-3726-16CA-B6C2-0E58375DC2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9F78FA78-D60A-67A3-CD95-18DCEA2019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6941B950-2812-FDC4-0EE1-CEF0BFA9A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92419668-70FF-BF7A-0A6A-FED3560629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C44C4C3A-FCB0-0C07-39E8-23D451F9D52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97B8F296-9855-D2C5-007F-172E0BF7F4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5DF6AF15-7C4D-835C-D913-2ED49252835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79B0792B-7FDC-ED8A-D5C5-7D5DB7D67DD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F145BC26-87AE-8766-9161-3016BB1E4EF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9A370EDA-BB17-C9F4-A6E8-F853FB978C3A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45CC1440-DA42-F27F-1D92-EAB762CC076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BB7F48FF-572B-CD9A-0752-06F1BF1E798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85D904DC-C58D-0E18-FE46-7618AF353E0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2205D14C-F342-9636-5114-EAEF0E0DE2D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4014DAEC-18BD-D27C-8F73-A2D16069A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34B73-D739-44CF-AB76-F6A8D86BD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2937A02E-BFAC-24E3-BE71-324682B84F0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89E5DC30-E5E7-5EE4-4C22-3084685D7DB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7168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26FB01FF-278E-EEE3-54C6-3BD55A92B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73F90519-3AEB-DE79-79A3-E21D776597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3A048728-22A2-77D4-909F-ED8FDFC7F0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777F5-5EB5-44CE-B514-FF9FE61AF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067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B7E104D5-F165-61BE-BA2A-1601FCA250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806AF659-7B09-A878-B698-163E7044A1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FF3F995-DA8E-9909-4FA3-E212091D9C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1845A-D0FA-4F8A-9100-E2DE6A76CB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083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1F463512-3D37-3CD3-2854-E8FE8A3475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77661EA9-49D7-4BD2-C09C-2E7701E80A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2BA08658-EB13-D1D4-05FF-4A1B1FFF49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25A618-36FF-4597-945D-304A5F639D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39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F507C1C-1913-0645-869B-A151A2A68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E0D7E91-8BA4-C791-33D8-25ADB11971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2D72F941-B073-B1CE-C548-9184C035AD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85814-2B0B-40AD-AB47-7E9C085663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79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FB9E93AD-5F6A-AE77-92D0-A431DF0F6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FAA45E99-7116-E71C-ABE4-7A776F9F60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05235015-391C-4CF4-F288-9ECC581BED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A4774-3D5B-4162-A18E-48CBDC18E4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314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E51897E-1C18-27BB-F8DE-D2C91A5E278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87665813-6353-C87A-2584-DDC3319439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6E1B3925-53DF-EFCD-8B6C-993BEA2E03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1AFB1712-A5B4-8662-F866-06C0A9DC1D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6054D42D-01E0-1671-2D99-5EA315CD3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E3E598C5-322D-96A1-B20A-5D8844C82D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647B1A93-82A8-2080-A4AA-E1B6FE779C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A48BABFF-39C3-6EDC-97FC-8090C7AB4A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FC78F7B9-865D-A354-5F68-2DD60CBC1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EB72E420-CB50-D9A3-5687-731CA8767E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E2D66AB4-6066-2B8E-FAAD-2A0702CA49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2A60F198-DB95-E41D-DC44-945A679E46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8D11792F-BC0C-0EA1-8140-EE6E4784D6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05014464-1CC3-9E9A-B5E9-6EBD47A64B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DB26382F-34AB-76BC-9110-7F60CFAD74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C2CDDF81-732C-D90B-0694-A5DA9B5F0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A62FA98E-D0DA-A31A-02C9-574A08BA3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D5CAE598-BCF5-E1AA-DD22-5B852D411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6586BBC2-322C-4D3B-3485-43E240F809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19400D58-8101-DD29-4D7C-476D9C4A0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17DCBE78-CB76-DA4B-4A4B-0AC1C47F3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76020439-FF45-F322-77A6-0C9EBEBBA0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0D73B7E0-01E2-A40D-036D-5500F4742A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898D0E77-AB97-6A39-E813-1D1822A16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2B44816E-C8D0-3555-A9DB-FE5EC8CD15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B3FAA27B-047C-2DCC-57FE-CD32735234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9A8740F9-1768-6B78-76DF-78E8BBF641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AFFBFFBA-7AEC-0746-6D68-C0ED15AAFE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7F7225C7-D455-F5AD-3308-20BE9D4981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90CD64C-8E44-C763-D8B2-7F058E0212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8E88C256-5FF8-9F74-EBE3-377EF8D6D6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D45CB923-A5BD-4D8A-6505-E938D82F6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AE21AD39-DF53-4D41-D01E-0071ED8600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D0C83A87-7EB3-F9A7-5F1C-14B6DAB53B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D5208833-1650-57E9-D4AA-571A1DDBC9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1C979D56-2D6E-EF17-F02C-16332FE489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8DC3F658-5B0B-DA19-035B-A45124765E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68822B26-3E90-F89F-AB11-DF840B871C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07FBEC9A-E7F2-5E43-B75D-A981E2B9A9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6A7D3763-ADA0-DBB7-B242-AD340FB082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FC56E8D8-747A-7744-EAEF-31027404FB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2D34D48D-49F6-811E-7E7C-C07C763FE4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519011D8-56AF-B0B4-73AA-A554CED92B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653ECD2-E73C-10BA-7B7C-B8DB769091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A8583F23-6AC9-A60D-9C54-4728AD269F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4183CEB8-466A-DF08-F9C3-24869F529A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F231CD0B-83DB-FFFF-797D-7C6B0BBA15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B61C11C9-8444-DD62-DC49-D08F865AB8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053DDE45-E3FB-C942-644E-AADD47F838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84E74FB2-1D0D-C62E-F3AE-4448B99B4E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11160168-74A8-B5B9-E23F-BA77E2A6AE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61E61E81-6CC9-777D-E705-6C0852E8F5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42358CC0-95D3-22E7-580B-0DA22466C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8FB02FB3-7CF9-327F-38ED-ABC10C911F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81F59B20-FED6-B874-1D93-319A9E135F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EEFAF839-7F9B-8110-F951-105279B4D87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14CCE250-5E67-EF46-3C2F-5BEFF9B70A44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425A7F1F-7FA0-B140-E70C-D049C0DBC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64DEE7CC-BDDA-80F7-9695-DEEC8394144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0F3B01C6-B001-2EBD-D77B-7E703FC5F02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5129329B-B423-4C70-5D4A-D9478C110AC1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2DC957F6-1C91-B7F5-0356-70CDC5CDA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19ECEAB-F204-E50F-7403-DBCC580EE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C6204A53-CC32-9884-5BB8-A447E0C5DF6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21F63FAF-157C-7C50-2536-18A9D38976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1934863F-F30C-321A-3FA2-106418EA52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2EDF469-581C-431A-887C-B8A6CC4B1F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2" r:id="rId2"/>
    <p:sldLayoutId id="2147483873" r:id="rId3"/>
    <p:sldLayoutId id="2147483874" r:id="rId4"/>
    <p:sldLayoutId id="2147483875" r:id="rId5"/>
    <p:sldLayoutId id="2147483876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59FBDFE-007D-6170-2975-70014CE336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Review of Fundamentals of DSP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DC84A6B-B590-973F-225F-BC4F233A7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291E03E-CE44-A604-BC5A-05F76893D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A3ED4C9-B7F9-2039-6104-74DB1FEC6D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Discrete-Time Signals and Systems</a:t>
            </a:r>
          </a:p>
          <a:p>
            <a:r>
              <a:rPr lang="en-US" altLang="en-US" sz="2000"/>
              <a:t>Transform Representation of Signals and Systems</a:t>
            </a:r>
          </a:p>
          <a:p>
            <a:r>
              <a:rPr lang="en-US" altLang="en-US" sz="2000"/>
              <a:t>Fundamentals of Digital Filters</a:t>
            </a:r>
          </a:p>
          <a:p>
            <a:r>
              <a:rPr lang="en-US" altLang="en-US" sz="2000"/>
              <a:t>Sampling and Summary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C7F846C0-2A11-2EC6-BCE7-19F30B2D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A17767-2C51-4CA2-A9FE-11D63FC1001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F371765E-461C-1AC4-CE7F-78D32105E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67A8453-273D-93D4-64BA-C9CBA7352C2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Discrete-Time Signals and Systems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92C3F2EE-A500-A3F6-DC88-51A7ECC6F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650AF2C2-04A0-FDF9-3048-35FDFC693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873093CD-C9DD-FD59-B339-C90E5EBD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C06F44-9884-4CB6-8DD4-14F46DCBC86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38A3351-90EB-809B-6032-25957471FE4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to Discrete-Time Signals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A7A44AA0-44E1-42BF-4097-A9348AFEC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975FC407-32D6-800A-B29B-AD8554202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209800"/>
            <a:ext cx="7720012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Signals: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Explanation of discrete-time signals in digital signal processing.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Discrete-Time Signals: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Unit impulse, unit step, exponential, sinusoidal, and random signals.</a:t>
            </a:r>
            <a:endParaRPr lang="en-US" altLang="en-US" sz="100"/>
          </a:p>
        </p:txBody>
      </p:sp>
      <p:pic>
        <p:nvPicPr>
          <p:cNvPr id="10247" name="Picture 2">
            <a:extLst>
              <a:ext uri="{FF2B5EF4-FFF2-40B4-BE49-F238E27FC236}">
                <a16:creationId xmlns:a16="http://schemas.microsoft.com/office/drawing/2014/main" id="{19140E7F-C76E-1131-FE7A-620D18681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3886200"/>
            <a:ext cx="54483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EA92E13-EFE0-B9B9-FF4C-B39642B1A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F2175A2E-6176-3B8B-3205-2A068742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EA3800-8A08-4A05-8CB8-1DA6D144F3A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5542E44-A19E-0C1B-4A16-BB3FBC55E50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Signal Sequences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CCBE724E-DB38-1935-9336-C20B97D44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3E78EDE9-7A6F-D084-6279-6D6C5B96F23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14388" y="2209800"/>
            <a:ext cx="7567612" cy="2585323"/>
          </a:xfrm>
          <a:prstGeom prst="rect">
            <a:avLst/>
          </a:prstGeom>
          <a:blipFill>
            <a:blip r:embed="rId4"/>
            <a:stretch>
              <a:fillRect l="-725" t="-1415" r="-1370" b="-259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2295" name="Picture 3">
            <a:extLst>
              <a:ext uri="{FF2B5EF4-FFF2-40B4-BE49-F238E27FC236}">
                <a16:creationId xmlns:a16="http://schemas.microsoft.com/office/drawing/2014/main" id="{5193FB7E-82D8-0923-249A-6C0271639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513" y="4953000"/>
            <a:ext cx="4473575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BD5AF54-5FFE-CCE3-FD5B-EEF3212C5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96F84B21-177E-F2A5-D953-F8E986C0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0AA8DA-D52F-495A-BFC0-E2071E02A36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90383DD-AC8F-1524-4A46-28C842FA79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Classification of Systems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36B014D0-4A30-2044-72F5-40AB573E8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2">
            <a:extLst>
              <a:ext uri="{FF2B5EF4-FFF2-40B4-BE49-F238E27FC236}">
                <a16:creationId xmlns:a16="http://schemas.microsoft.com/office/drawing/2014/main" id="{AF51BD46-240A-1E33-2994-CFFBCFA5C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Classification Based on Properties: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Linearity, time-invariance, causality, and stability.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Systems: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Difference equations, convolutional systems, and finite impulse response (FIR)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A7A5BF79-0F15-6B41-5FB4-3E42DED62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AD8EF032-B4F5-4DBC-FF61-19F60633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8B8F83-77BD-40A3-A54E-370F240BF48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79C53EB-6FAA-B56D-DC81-04981F9EF2F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Impulse Response and Convolution</a:t>
            </a:r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706A80B1-D998-2190-192E-170A81E15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E86FAE02-E1FF-8BB7-0441-51CFF40670A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567612" cy="2031325"/>
          </a:xfrm>
          <a:prstGeom prst="rect">
            <a:avLst/>
          </a:prstGeom>
          <a:blipFill>
            <a:blip r:embed="rId4"/>
            <a:stretch>
              <a:fillRect l="-725" t="-1802" b="-360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6391" name="Picture 2">
            <a:extLst>
              <a:ext uri="{FF2B5EF4-FFF2-40B4-BE49-F238E27FC236}">
                <a16:creationId xmlns:a16="http://schemas.microsoft.com/office/drawing/2014/main" id="{4451128A-3C51-D7DA-3AC7-949DADE52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572000"/>
            <a:ext cx="4957763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29A43C1-ABB7-015C-972B-442D1E380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B42ED6E3-C0D5-7884-3D79-E15AE0D7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6EF9F8-D4CC-4AD9-9B3D-4EB226BFFB2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8D664C4-606A-C7F0-362C-054A842E21D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System Properties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6BFA238F-FD4E-DE3F-003A-18C4636AB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E6799659-090D-93DF-F191-AE627D71D37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5105400" cy="3385542"/>
          </a:xfrm>
          <a:prstGeom prst="rect">
            <a:avLst/>
          </a:prstGeom>
          <a:blipFill>
            <a:blip r:embed="rId4"/>
            <a:stretch>
              <a:fillRect l="-1075" t="-1081" b="-90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8439" name="Picture 3">
            <a:extLst>
              <a:ext uri="{FF2B5EF4-FFF2-40B4-BE49-F238E27FC236}">
                <a16:creationId xmlns:a16="http://schemas.microsoft.com/office/drawing/2014/main" id="{ECB5EFD0-E682-E290-A61F-6541376CC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48000"/>
            <a:ext cx="27432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971C5B1-09EE-A757-BFBD-82B3DDCA1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E16716DC-1F3E-2466-7311-DEF4086C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08D9A4-EC1A-46C1-BAB6-72D30980D6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D843850-26FD-C376-DB24-1F8950C2FE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Discrete-Time Fourier Transform (DTFT)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9E63094A-B165-CD09-2AAC-DD67E89BB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0419B6ED-0DBC-53B5-57B6-5CD66EEF1F8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567612" cy="1466620"/>
          </a:xfrm>
          <a:prstGeom prst="rect">
            <a:avLst/>
          </a:prstGeom>
          <a:blipFill>
            <a:blip r:embed="rId4"/>
            <a:stretch>
              <a:fillRect l="-725" t="-2500" b="-5833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0487" name="Picture 3" descr="A group of graphs and diagrams&#10;&#10;Description automatically generated">
            <a:extLst>
              <a:ext uri="{FF2B5EF4-FFF2-40B4-BE49-F238E27FC236}">
                <a16:creationId xmlns:a16="http://schemas.microsoft.com/office/drawing/2014/main" id="{149C2C8C-DED7-B478-31E3-286509543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3832225"/>
            <a:ext cx="4000500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44F1ECBD-8F62-4832-A8F2-AD3A7D568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3F748687-CF53-9CCB-450F-C57055B6E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08986D-E37F-4D1D-91BB-A542A22B01B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4F7FECE-EACA-1212-5C81-16D0F1024EF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Z-Transform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0CA9CE04-0896-7797-D5DA-0A16D4E10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261B76A5-DAD7-DE89-12C0-414B2780508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567612" cy="2862322"/>
          </a:xfrm>
          <a:prstGeom prst="rect">
            <a:avLst/>
          </a:prstGeom>
          <a:blipFill>
            <a:blip r:embed="rId4"/>
            <a:stretch>
              <a:fillRect l="-725" t="-5544" b="-2345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2535" name="Picture 2">
            <a:extLst>
              <a:ext uri="{FF2B5EF4-FFF2-40B4-BE49-F238E27FC236}">
                <a16:creationId xmlns:a16="http://schemas.microsoft.com/office/drawing/2014/main" id="{4A5C620D-4328-BBA5-4746-17F0DFCC2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2992438"/>
            <a:ext cx="3814763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784F98C4-C540-1869-71DC-08757020B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F3E87C9F-5ECA-7FA8-7D95-AF8D0CA2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86B9DA-1902-4766-B68F-912504A7395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F9C226A-9941-5960-02B0-F3B1800B30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Analysis of Stability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B08B98AC-7997-04A9-B1BD-D7B642552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5AC1A2B8-CDA6-215B-1562-CEF39AD4D02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2585323"/>
          </a:xfrm>
          <a:prstGeom prst="rect">
            <a:avLst/>
          </a:prstGeom>
          <a:blipFill>
            <a:blip r:embed="rId4"/>
            <a:stretch>
              <a:fillRect l="-713" b="-259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C301815D-00FC-AB62-C103-540A4226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CC3E44C1-6F73-8BB1-B398-E138FF69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716818-E988-4F89-848C-CE7D1A85362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B460797-FCEF-F45A-1A5C-2A9CBDF840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Frequency Response Analysis</a:t>
            </a:r>
            <a:endParaRPr lang="vi-VN" altLang="en-US" sz="2000" b="1"/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397B47C2-3B44-7714-8A46-C2CB349DA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5EA66A19-863D-9532-DEEA-E11BC94F62F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2367251"/>
          </a:xfrm>
          <a:prstGeom prst="rect">
            <a:avLst/>
          </a:prstGeom>
          <a:blipFill>
            <a:blip r:embed="rId4"/>
            <a:stretch>
              <a:fillRect l="-713" b="-3093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5A30A320-7E79-7890-80F0-43D18BDC2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00841B02-B219-073B-C9C2-FB73FFFF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92D148-7DD1-49EB-85AC-F6D33817AF6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D4C2AD4-151F-137A-E854-B35D20073B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Sampling and Reconstruction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7A0A7D66-8386-514F-B89C-E81CDC67C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EAC28008-2B3F-56B7-8F8C-E2759FF199B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2074158"/>
          </a:xfrm>
          <a:prstGeom prst="rect">
            <a:avLst/>
          </a:prstGeom>
          <a:blipFill>
            <a:blip r:embed="rId4"/>
            <a:stretch>
              <a:fillRect l="-713" b="-147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B6B1C353-7695-CAF5-BB5F-453EAC264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B9F8E5CB-217A-4DF6-FD99-DA974A1F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2D2DA3-DF6E-433F-9BEF-DE3CE5A2C0A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9704763-2DBE-0A9C-C54C-17D0BE1524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6425B6DA-543B-ED83-FFA8-D6FB5F7D1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8C40BFE6-8143-34FA-CA23-746D1DBB0D5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4524315"/>
          </a:xfrm>
          <a:prstGeom prst="rect">
            <a:avLst/>
          </a:prstGeom>
          <a:blipFill>
            <a:blip r:embed="rId4"/>
            <a:stretch>
              <a:fillRect l="-713" t="-809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6D44C1A2-9992-765F-9520-5E89CC3A0E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67E7A34F-E3EC-6122-52BA-1CB573F1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9D7032-8EC8-4E93-93E0-8506F6F1E81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CFD79F4-7AD4-1CB6-6EB4-86B664719F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BD357C2C-6259-01AC-9B67-467254054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TextBox 2">
            <a:extLst>
              <a:ext uri="{FF2B5EF4-FFF2-40B4-BE49-F238E27FC236}">
                <a16:creationId xmlns:a16="http://schemas.microsoft.com/office/drawing/2014/main" id="{7B358610-2AE7-B981-F18A-182071308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69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Task 1: Signal Generation and Plotting - Solution</a:t>
            </a:r>
            <a:endParaRPr lang="en-US" altLang="en-US" sz="1800"/>
          </a:p>
        </p:txBody>
      </p:sp>
      <p:pic>
        <p:nvPicPr>
          <p:cNvPr id="32775" name="Picture 2">
            <a:extLst>
              <a:ext uri="{FF2B5EF4-FFF2-40B4-BE49-F238E27FC236}">
                <a16:creationId xmlns:a16="http://schemas.microsoft.com/office/drawing/2014/main" id="{75764E65-91D7-B94F-57BD-CF7C12E32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55888"/>
            <a:ext cx="4062413" cy="39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C209B383-9577-2F06-A6A2-097C97BC8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FD253406-43ED-C00A-620C-17C149E8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17049D-7BEC-4713-9E7B-953BF09033B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A8C25DC-628E-6C00-63A3-CB8E4514EE0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0777F167-2F14-DDC9-9882-B82E64FE8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96335A74-30AB-1FEB-3728-1AB2439D742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209800"/>
            <a:ext cx="7696200" cy="3693319"/>
          </a:xfrm>
          <a:prstGeom prst="rect">
            <a:avLst/>
          </a:prstGeom>
          <a:blipFill>
            <a:blip r:embed="rId4"/>
            <a:stretch>
              <a:fillRect l="-713" t="-992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CAC5FDA3-68FF-A74A-AB5C-95433C4AFC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Discrete-Time Signals and Systems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32AA2652-F6C4-5796-7D9C-D84BE4BF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161063-126B-4E6B-9690-9816A5C999C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686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2B24FE0-304D-D6A7-5778-85E0FDA7D5A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Implementation Assignment</a:t>
            </a:r>
            <a:endParaRPr lang="vi-VN" altLang="en-US" sz="2000" b="1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52CF2AC1-060C-2B91-DE26-7CBEE514D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2">
            <a:extLst>
              <a:ext uri="{FF2B5EF4-FFF2-40B4-BE49-F238E27FC236}">
                <a16:creationId xmlns:a16="http://schemas.microsoft.com/office/drawing/2014/main" id="{3C6436F7-6A9A-632A-4682-361DBD78D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769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Task 2: Signal Processing Operations - Solution</a:t>
            </a:r>
          </a:p>
        </p:txBody>
      </p:sp>
      <p:pic>
        <p:nvPicPr>
          <p:cNvPr id="36871" name="Picture 2">
            <a:extLst>
              <a:ext uri="{FF2B5EF4-FFF2-40B4-BE49-F238E27FC236}">
                <a16:creationId xmlns:a16="http://schemas.microsoft.com/office/drawing/2014/main" id="{AAD10BE6-CB44-23EB-75C1-9E7EE6E38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43200"/>
            <a:ext cx="4529138" cy="294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9D3343C-9795-AA82-D10C-5C83AE226B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934200" cy="1143000"/>
          </a:xfrm>
        </p:spPr>
        <p:txBody>
          <a:bodyPr/>
          <a:lstStyle/>
          <a:p>
            <a:pPr eaLnBrk="1" hangingPunct="1"/>
            <a:r>
              <a:rPr lang="en-US" altLang="en-US"/>
              <a:t>Transform Representation of Signals and Systems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4E01AFC6-D876-C08E-9B4E-80C78CE6B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6A6ACA70-AD05-6FD9-C4CE-EC8D53A71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1E330C7E-9CC2-DB06-7776-E7BA6C5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B7D977-333A-42F6-B3F2-19E91D42AD1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096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C0D688-566A-2ABD-EFC0-AE7FE20E15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Fourier Series (Continuous-Time)</a:t>
            </a:r>
            <a:endParaRPr lang="vi-VN" altLang="en-US" sz="2000" b="1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507D4FD1-F794-D1B9-EDAB-00B042353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A77AEBEB-CF09-BF44-184C-3C0EB055DFD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43682" y="2551837"/>
            <a:ext cx="7696200" cy="2713820"/>
          </a:xfrm>
          <a:prstGeom prst="rect">
            <a:avLst/>
          </a:prstGeom>
          <a:blipFill>
            <a:blip r:embed="rId4"/>
            <a:stretch>
              <a:fillRect l="-633" t="-1348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AEA6D1AE-5A96-6B38-4B14-C08A772F1D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ED242D49-81C0-87B1-753B-31E36711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144E5A-5A6C-4BB2-A09C-96E3B94486F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AA32130-55F7-733D-C53B-040D90BD66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Fourier Transform (Continuous-Time)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38D8F6FF-30C2-CA27-EB80-2F1922EE3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F0CCE2C6-A44D-3885-0609-09196F4ECD7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43682" y="2551837"/>
            <a:ext cx="7696200" cy="2074927"/>
          </a:xfrm>
          <a:prstGeom prst="rect">
            <a:avLst/>
          </a:prstGeom>
          <a:blipFill>
            <a:blip r:embed="rId4"/>
            <a:stretch>
              <a:fillRect l="-633" t="-1765" b="-3824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BA6078B0-9D69-61C3-0953-7CE65D666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A84DBA59-08F1-EEC7-98C0-969DE9A9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6838A4-99BD-497A-A5A0-A8F7929F5FE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7043253-263C-7311-2D18-FA69038E0D5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Properties of Fourier Transform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DD60848B-D812-0CFE-E780-5D3C65BA0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2">
            <a:extLst>
              <a:ext uri="{FF2B5EF4-FFF2-40B4-BE49-F238E27FC236}">
                <a16:creationId xmlns:a16="http://schemas.microsoft.com/office/drawing/2014/main" id="{1DF79946-24B3-78CD-E7D0-73664EE1B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Properties: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Linearity, Time Shifting, Time Scaling, Convolution Theorem.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Illustrative Examples: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Demonstrations using mathematical expressions and graphical representations of transformed signals.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D059A1C-9247-271C-8F30-8E9B27A4B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EC9045CE-3B44-C81D-79FE-63A5AEA5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4AF80F-6630-454D-BBE5-15E66B05574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41A4D56-1E11-286A-BEB9-ABF58C5451B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Laplace Transform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DEF0F792-A6F7-9451-086A-946EC55B3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F15F67A8-D1BB-C8B9-B3BA-FD7E4F7521B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6613" y="2633663"/>
            <a:ext cx="7567612" cy="2353658"/>
          </a:xfrm>
          <a:prstGeom prst="rect">
            <a:avLst/>
          </a:prstGeom>
          <a:blipFill>
            <a:blip r:embed="rId4"/>
            <a:stretch>
              <a:fillRect l="-644" t="-1295" b="-3109"/>
            </a:stretch>
          </a:blipFill>
          <a:ln>
            <a:noFill/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9EDE24F0-D568-AB63-C6D7-6DE36ACB7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BD2FD0B2-B248-3159-61E7-0783EECB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6D153E-971A-4AEA-AF39-1F2FB8E8B73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915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F3A0E93-742C-86F7-A1F9-397E5BA0B65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Laplace Transform Properties</a:t>
            </a:r>
            <a:endParaRPr lang="vi-VN" altLang="en-US" sz="2000" b="1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74EB42F3-A059-B71B-28DD-EF9D54630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2">
            <a:extLst>
              <a:ext uri="{FF2B5EF4-FFF2-40B4-BE49-F238E27FC236}">
                <a16:creationId xmlns:a16="http://schemas.microsoft.com/office/drawing/2014/main" id="{CB01DF8A-1451-340D-5994-9ACCE4FCF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Properties and Concepts: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Region of Convergence (ROC), Linearity, Time Shifting, Time Scaling.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in System Analysis: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Transfer functions, system stability, response analysis.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92167212-A722-8175-73F5-BACA42839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Transform Representation of Signals and Systems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E4AA6E5C-0355-0852-6CBA-EBE164C3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F473D9-CC6A-4E21-96D5-20100C0D511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5B81F1F-4421-0A28-4005-7AB1559CED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Relationship between Transforms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CBAC76E9-456B-01A9-A8C7-067160D3F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2">
            <a:extLst>
              <a:ext uri="{FF2B5EF4-FFF2-40B4-BE49-F238E27FC236}">
                <a16:creationId xmlns:a16="http://schemas.microsoft.com/office/drawing/2014/main" id="{D101B2D3-A098-0868-9F16-188AE3D8C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2633663"/>
            <a:ext cx="75676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Connections and Relationships: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Linking Fourier Transform, Laplace Transform, and Z-Transform.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Unified Perspective: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How transforms provide a unified signal and system analysis framework across continuous-time and discrete-time domains.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D0C3F7C-2352-396D-6D8A-D93051E55A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Fundamentals of Digital Filters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03A8BA21-E2EC-1C6C-766D-B67E5A1CB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74722FD9-56B5-021A-A22C-34611E940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764DBBE6-08AD-731F-6A9A-1DC82585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0B0E62-69D3-48B9-847C-F2599331E4A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530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92DC2CF-6A0F-10E6-2C29-584C01D48E0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55301" name="Picture 5">
            <a:extLst>
              <a:ext uri="{FF2B5EF4-FFF2-40B4-BE49-F238E27FC236}">
                <a16:creationId xmlns:a16="http://schemas.microsoft.com/office/drawing/2014/main" id="{F818BC7C-B269-94F5-0F93-76ABA6EFB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8DF6E1C2-5ACD-8CA3-50CF-845689950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7567613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Digital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Filters that operate on digital signals to modify or enhance specific frequency components.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Digital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Signal conditioning, noise reduction, and signal enhancement in various applications.</a:t>
            </a:r>
          </a:p>
        </p:txBody>
      </p:sp>
      <p:pic>
        <p:nvPicPr>
          <p:cNvPr id="55303" name="Picture 3">
            <a:extLst>
              <a:ext uri="{FF2B5EF4-FFF2-40B4-BE49-F238E27FC236}">
                <a16:creationId xmlns:a16="http://schemas.microsoft.com/office/drawing/2014/main" id="{0A0B16FB-B201-DCA6-7913-2F317D9E2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18000"/>
            <a:ext cx="59769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122CE28C-4B00-31A1-3331-3072EE589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57347" name="Slide Number Placeholder 5">
            <a:extLst>
              <a:ext uri="{FF2B5EF4-FFF2-40B4-BE49-F238E27FC236}">
                <a16:creationId xmlns:a16="http://schemas.microsoft.com/office/drawing/2014/main" id="{4C15A98F-3979-FB23-E535-5C15B20A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13EA64-B7D3-434D-BD7B-F20420AFE95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5734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F7A860B-AB74-8174-597C-B872BA1FA7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Classification  </a:t>
            </a:r>
            <a:endParaRPr lang="vi-VN" altLang="en-US" sz="2000" b="1"/>
          </a:p>
        </p:txBody>
      </p:sp>
      <p:pic>
        <p:nvPicPr>
          <p:cNvPr id="57349" name="Picture 5">
            <a:extLst>
              <a:ext uri="{FF2B5EF4-FFF2-40B4-BE49-F238E27FC236}">
                <a16:creationId xmlns:a16="http://schemas.microsoft.com/office/drawing/2014/main" id="{F247A5DB-749C-1614-E958-CFCFF4454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TextBox 2">
            <a:extLst>
              <a:ext uri="{FF2B5EF4-FFF2-40B4-BE49-F238E27FC236}">
                <a16:creationId xmlns:a16="http://schemas.microsoft.com/office/drawing/2014/main" id="{3D96F0CF-7445-2D06-574C-BFA2069BA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7567613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FIR (Finite Impulse Response) Filters: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Characteristics</a:t>
            </a:r>
            <a:r>
              <a:rPr lang="en-US" altLang="en-US" sz="1600"/>
              <a:t>: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Have a finite duration impulse response.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Provide linear phase response, making them suitable for applications requiring phase linearity.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Applications in Speech Processing</a:t>
            </a:r>
            <a:r>
              <a:rPr lang="en-US" altLang="en-US" sz="1600"/>
              <a:t>: Ideal for implementing linear-phase filters for applications like signal equalization and echo cancellation.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IIR (Infinite Impulse Response) Filters: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Characteristics</a:t>
            </a:r>
            <a:r>
              <a:rPr lang="en-US" altLang="en-US" sz="1600"/>
              <a:t>: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Include feedback in their structure, resulting in potentially infinite-duration impulse response.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600"/>
              <a:t>Generally more computationally efficient compared to FIR filters.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Applications in Speech Processing</a:t>
            </a:r>
            <a:r>
              <a:rPr lang="en-US" altLang="en-US" sz="1600"/>
              <a:t>: Used for applications requiring efficient real-time processing, such as voice communication systems.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5F67CD2-00FE-D0C7-F36F-A5C5A9C6B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59395" name="Slide Number Placeholder 5">
            <a:extLst>
              <a:ext uri="{FF2B5EF4-FFF2-40B4-BE49-F238E27FC236}">
                <a16:creationId xmlns:a16="http://schemas.microsoft.com/office/drawing/2014/main" id="{8B57AE5C-CEA7-C0E1-F432-581ABB2B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80BADD-BFAB-4ED6-A53B-765EDA86450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5939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C70B204-7E33-389A-E4A7-B09CA9FC3F0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FIR Filters  </a:t>
            </a:r>
            <a:endParaRPr lang="vi-VN" altLang="en-US" sz="2000" b="1"/>
          </a:p>
        </p:txBody>
      </p:sp>
      <p:pic>
        <p:nvPicPr>
          <p:cNvPr id="59397" name="Picture 5">
            <a:extLst>
              <a:ext uri="{FF2B5EF4-FFF2-40B4-BE49-F238E27FC236}">
                <a16:creationId xmlns:a16="http://schemas.microsoft.com/office/drawing/2014/main" id="{C9547F3C-5C1C-DBE8-82D8-E789FF0E6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TextBox 2">
            <a:extLst>
              <a:ext uri="{FF2B5EF4-FFF2-40B4-BE49-F238E27FC236}">
                <a16:creationId xmlns:a16="http://schemas.microsoft.com/office/drawing/2014/main" id="{F1441137-4CE0-FBE9-CDD9-8A95CF630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136775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Structure of FIR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Represented by a feedforward structure without feedback loops.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Each output sample is computed as a weighted sum of input samples.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Advantages in Speech Processing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Linear phase response preserves the phase information of speech signals, which is crucial for maintaining signal integrity in filtering applications.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84F2E8B3-0880-84C1-AAF0-0548ED2EA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3A0A749E-3E46-5136-74BA-06FEE41E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CAD47E-CE0E-486E-8D3A-E682EB5B2F0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614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222DF24-A396-6FFC-9E8B-0D7E324C47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Design Methods for FIR Filters</a:t>
            </a:r>
            <a:endParaRPr lang="vi-VN" altLang="en-US" sz="2000" b="1"/>
          </a:p>
        </p:txBody>
      </p:sp>
      <p:pic>
        <p:nvPicPr>
          <p:cNvPr id="61445" name="Picture 5">
            <a:extLst>
              <a:ext uri="{FF2B5EF4-FFF2-40B4-BE49-F238E27FC236}">
                <a16:creationId xmlns:a16="http://schemas.microsoft.com/office/drawing/2014/main" id="{2411FE57-F024-CDB3-2125-869B0A8D3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TextBox 2">
            <a:extLst>
              <a:ext uri="{FF2B5EF4-FFF2-40B4-BE49-F238E27FC236}">
                <a16:creationId xmlns:a16="http://schemas.microsoft.com/office/drawing/2014/main" id="{1D529CCD-2106-D014-26EE-237B6B039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136775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Windowing Techniques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Hamming, Blackman, and Kaiser windows are used to design low-pass, high-pass, or band-pass FIR filters.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Frequency Sampling Method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Directly specify the desired frequency response at specific points and interpolate between them to obtain filter coefficients.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Parks-McClellan Algorithm (Remez Exchange Algorithm)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Optimal design method for FIR filters that minimizes the maximum error between the desired and actual frequency responses.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E87E3A32-FABB-D18D-CF30-4FE1B22FC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63491" name="Slide Number Placeholder 5">
            <a:extLst>
              <a:ext uri="{FF2B5EF4-FFF2-40B4-BE49-F238E27FC236}">
                <a16:creationId xmlns:a16="http://schemas.microsoft.com/office/drawing/2014/main" id="{BF8BE3BA-39A7-3B86-526A-5243AC60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241AF7-B7DA-4FFA-B3D4-0C28D6F5DBF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634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6166E04-9FBD-57F6-6617-24250C9A6D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IIR Filters  </a:t>
            </a:r>
            <a:endParaRPr lang="vi-VN" altLang="en-US" sz="2000" b="1"/>
          </a:p>
        </p:txBody>
      </p:sp>
      <p:pic>
        <p:nvPicPr>
          <p:cNvPr id="63493" name="Picture 5">
            <a:extLst>
              <a:ext uri="{FF2B5EF4-FFF2-40B4-BE49-F238E27FC236}">
                <a16:creationId xmlns:a16="http://schemas.microsoft.com/office/drawing/2014/main" id="{53262664-1F20-7916-07CD-44EFE4595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TextBox 2">
            <a:extLst>
              <a:ext uri="{FF2B5EF4-FFF2-40B4-BE49-F238E27FC236}">
                <a16:creationId xmlns:a16="http://schemas.microsoft.com/office/drawing/2014/main" id="{85A2C353-B635-7457-8AD9-48F8F8172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136775"/>
            <a:ext cx="75660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Structure of IIR Filters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Incorporate feedback loops in addition to feedforward components.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recursive nature allows for more compact filter designs.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Advantages in Speech Processing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More computationally efficient compared to FIR filters for achieving similar frequency responses..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CB8272F0-88B4-BB74-CA76-DF5EC2CF6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Fundamentals of Digital Filters</a:t>
            </a:r>
          </a:p>
        </p:txBody>
      </p:sp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79620373-D735-7B28-1231-B43B7C00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9DC664-4241-4BF2-8AC4-FEAC47D700C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655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7A277DF-4B42-8D21-C6D8-265C5DDDEC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Design Methods for IIR Filters</a:t>
            </a:r>
            <a:endParaRPr lang="vi-VN" altLang="en-US" sz="2000" b="1"/>
          </a:p>
        </p:txBody>
      </p:sp>
      <p:pic>
        <p:nvPicPr>
          <p:cNvPr id="65541" name="Picture 5">
            <a:extLst>
              <a:ext uri="{FF2B5EF4-FFF2-40B4-BE49-F238E27FC236}">
                <a16:creationId xmlns:a16="http://schemas.microsoft.com/office/drawing/2014/main" id="{ABB26BEE-3B3A-B316-160A-66DCD3FD1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2" name="TextBox 2">
            <a:extLst>
              <a:ext uri="{FF2B5EF4-FFF2-40B4-BE49-F238E27FC236}">
                <a16:creationId xmlns:a16="http://schemas.microsoft.com/office/drawing/2014/main" id="{8BF47D72-6E82-37F6-3C98-383CCC1D3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Butterworth, Chebyshev, and Elliptic (Cauer) Filter Designs: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Specify filter characteristics such as passband ripple, stopband attenuation, and transition width to design IIR filters with specific performance requirements.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Impulse Invariant Method and Bilinear Transformation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Techniques for transforming analog filter designs into digital IIR filters while preserving critical characteristics like stability and frequency response.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074C80A-C7D7-697F-808E-49C4BBECA3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Sampling and Summary</a:t>
            </a:r>
          </a:p>
        </p:txBody>
      </p:sp>
      <p:pic>
        <p:nvPicPr>
          <p:cNvPr id="67587" name="Picture 3">
            <a:extLst>
              <a:ext uri="{FF2B5EF4-FFF2-40B4-BE49-F238E27FC236}">
                <a16:creationId xmlns:a16="http://schemas.microsoft.com/office/drawing/2014/main" id="{A0C844AE-29F7-D875-161F-C23668C99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DAE6B9C7-8ED1-1E4E-33E5-92F36E9FF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Sampling and Summary</a:t>
            </a:r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44C2801C-2C42-DCF2-7525-745030E3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5027AC-AD48-41ED-AFCB-6D3382E56C3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696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14E0291-9462-B6A1-4D6D-309BD7B5BD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69637" name="Picture 5">
            <a:extLst>
              <a:ext uri="{FF2B5EF4-FFF2-40B4-BE49-F238E27FC236}">
                <a16:creationId xmlns:a16="http://schemas.microsoft.com/office/drawing/2014/main" id="{17D47886-DE66-440F-E401-FEC93297B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TextBox 2">
            <a:extLst>
              <a:ext uri="{FF2B5EF4-FFF2-40B4-BE49-F238E27FC236}">
                <a16:creationId xmlns:a16="http://schemas.microsoft.com/office/drawing/2014/main" id="{96C118A6-F8F1-FCF9-FB6D-73578E160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Sampling is the process of converting a continuous-time speech signal into a discrete-time signal by extracting samples at regular intervals..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Sampling Theorem (Nyquist-Shannon Theorem)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States that to accurately reconstruct a continuous signal from its samples, the sampling rate must be at least twice the highest frequency component in the signal (Nyquist rate).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E09390EA-9ACF-E814-0881-98531E019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Sampling and Summary</a:t>
            </a:r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F195BAF5-DD97-D638-CE78-8F6A33F3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A0C032-56E5-4DAC-96BA-B7BC8EAA6CC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16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DE0AF8F-90BC-B593-4C29-7D64E3BDD5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Sampling Rate and Nyquist Frequency </a:t>
            </a:r>
            <a:endParaRPr lang="vi-VN" altLang="en-US" sz="2000" b="1"/>
          </a:p>
        </p:txBody>
      </p:sp>
      <p:pic>
        <p:nvPicPr>
          <p:cNvPr id="71685" name="Picture 5">
            <a:extLst>
              <a:ext uri="{FF2B5EF4-FFF2-40B4-BE49-F238E27FC236}">
                <a16:creationId xmlns:a16="http://schemas.microsoft.com/office/drawing/2014/main" id="{12200D2A-BCC6-AE5F-E445-D5BB31016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Box 2">
            <a:extLst>
              <a:ext uri="{FF2B5EF4-FFF2-40B4-BE49-F238E27FC236}">
                <a16:creationId xmlns:a16="http://schemas.microsoft.com/office/drawing/2014/main" id="{174BFB75-112E-9A8F-EFA8-6B7F2AA65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Determined by the number of samples taken per second (measured in Hz or samples per second, sps).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Common sampling rates for speech processing: 8 kHz (telephony), 16 kHz (voice communication), 44.1 kHz (CD audio quality).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Sampling Theorem (Nyquist-Shannon Theorem)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Half of the sampling rate (Fs/2), which defines the maximum frequency that can be accurately represented without aliasing.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364E7C2C-07BA-D1B6-2147-FC827969A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Sampling and Summary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D168DADC-7C25-A330-52CF-3188178B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70CD6B-B82C-4244-B8C0-A37E2EA234C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09CB4FF-1706-3473-B34F-B749D12B15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Aliasing and Anti-Aliasing Filters 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73CEBE84-2575-E993-63C3-AECFF6078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2">
            <a:extLst>
              <a:ext uri="{FF2B5EF4-FFF2-40B4-BE49-F238E27FC236}">
                <a16:creationId xmlns:a16="http://schemas.microsoft.com/office/drawing/2014/main" id="{C3A47919-7919-9895-E3D3-05DD76758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Aliasing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Occurs when high-frequency components in the speech signal fold back into lower frequencies due to insufficient sampling rate.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Anti-Aliasing Filters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Used to remove high-frequency components (above the Nyquist frequency) prior to sampling to prevent aliasing.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Commonly implemented as low-pass filters.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AAE9DBCE-EED3-0C99-4055-1E7E52CA2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6705600" cy="609600"/>
          </a:xfrm>
        </p:spPr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57347" name="Slide Number Placeholder 6">
            <a:extLst>
              <a:ext uri="{FF2B5EF4-FFF2-40B4-BE49-F238E27FC236}">
                <a16:creationId xmlns:a16="http://schemas.microsoft.com/office/drawing/2014/main" id="{00460A22-6B3B-D507-684B-95B470C1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4E6C76-E3DD-4F99-8C23-EFCB86D52F9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pic>
        <p:nvPicPr>
          <p:cNvPr id="57348" name="Picture 3">
            <a:extLst>
              <a:ext uri="{FF2B5EF4-FFF2-40B4-BE49-F238E27FC236}">
                <a16:creationId xmlns:a16="http://schemas.microsoft.com/office/drawing/2014/main" id="{3C0860DB-5AB9-176E-69AB-463CFF8F8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10D276F7-D219-F8E5-9AAE-6EED9747C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1660297"/>
            <a:ext cx="7720012" cy="370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Discrete-Time Signals and Systems: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Basics of discrete-time signals and systems.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Analysis of system behavior through input-output relationships.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Transform Representation of Signals and Systems: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Use transforms (e.g., Fourier, Z-transform) to represent signals and systems.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Importance of frequency domain analysis for understanding signal properties.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Fundamentals of Digital Filters: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Introduction to digital filters, including FIR and IIR types.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Design and implementation principles for filtering digital signals.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00"/>
          </a:p>
        </p:txBody>
      </p:sp>
    </p:spTree>
    <p:extLst>
      <p:ext uri="{BB962C8B-B14F-4D97-AF65-F5344CB8AC3E}">
        <p14:creationId xmlns:p14="http://schemas.microsoft.com/office/powerpoint/2010/main" val="2063547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ED956AEF-8E39-0A8D-CC05-4B3D9F24C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5779" name="Slide Number Placeholder 6">
            <a:extLst>
              <a:ext uri="{FF2B5EF4-FFF2-40B4-BE49-F238E27FC236}">
                <a16:creationId xmlns:a16="http://schemas.microsoft.com/office/drawing/2014/main" id="{2D8F23B5-2AE2-626C-DED4-4DE49508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869F26-2AC3-4027-AAEE-48CB4A96DCB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pic>
        <p:nvPicPr>
          <p:cNvPr id="75780" name="Picture 3">
            <a:extLst>
              <a:ext uri="{FF2B5EF4-FFF2-40B4-BE49-F238E27FC236}">
                <a16:creationId xmlns:a16="http://schemas.microsoft.com/office/drawing/2014/main" id="{1F41073D-534F-1276-E1DE-F08638D98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2696</TotalTime>
  <Words>1131</Words>
  <Application>Microsoft Office PowerPoint</Application>
  <PresentationFormat>On-screen Show (4:3)</PresentationFormat>
  <Paragraphs>245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Tahoma</vt:lpstr>
      <vt:lpstr>Times New Roman</vt:lpstr>
      <vt:lpstr>Wingdings</vt:lpstr>
      <vt:lpstr>Blueprint</vt:lpstr>
      <vt:lpstr>Review of Fundamentals of DSP</vt:lpstr>
      <vt:lpstr>Contents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Discrete-Time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Transform Representation of Signals and Systems</vt:lpstr>
      <vt:lpstr>Fundamentals of Digital Filters</vt:lpstr>
      <vt:lpstr>Fundamentals of Digital Filters</vt:lpstr>
      <vt:lpstr>Fundamentals of Digital Filters</vt:lpstr>
      <vt:lpstr>Fundamentals of Digital Filters</vt:lpstr>
      <vt:lpstr>Fundamentals of Digital Filters</vt:lpstr>
      <vt:lpstr>Fundamentals of Digital Filters</vt:lpstr>
      <vt:lpstr>Fundamentals of Digital Filters</vt:lpstr>
      <vt:lpstr>Sampling and Summary</vt:lpstr>
      <vt:lpstr>Sampling and Summary</vt:lpstr>
      <vt:lpstr>Sampling and Summary</vt:lpstr>
      <vt:lpstr>Sampling and Summary</vt:lpstr>
      <vt:lpstr>Summary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150</cp:revision>
  <dcterms:created xsi:type="dcterms:W3CDTF">2022-10-28T07:26:15Z</dcterms:created>
  <dcterms:modified xsi:type="dcterms:W3CDTF">2024-08-29T09:04:25Z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