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6" r:id="rId2"/>
    <p:sldId id="363" r:id="rId3"/>
    <p:sldId id="446" r:id="rId4"/>
    <p:sldId id="447" r:id="rId5"/>
    <p:sldId id="456" r:id="rId6"/>
    <p:sldId id="457" r:id="rId7"/>
    <p:sldId id="458" r:id="rId8"/>
    <p:sldId id="459" r:id="rId9"/>
    <p:sldId id="460" r:id="rId10"/>
    <p:sldId id="461" r:id="rId11"/>
    <p:sldId id="448" r:id="rId12"/>
    <p:sldId id="452" r:id="rId13"/>
    <p:sldId id="462" r:id="rId14"/>
    <p:sldId id="463" r:id="rId15"/>
    <p:sldId id="464" r:id="rId16"/>
    <p:sldId id="465" r:id="rId17"/>
    <p:sldId id="449" r:id="rId18"/>
    <p:sldId id="453" r:id="rId19"/>
    <p:sldId id="466" r:id="rId20"/>
    <p:sldId id="467" r:id="rId21"/>
    <p:sldId id="468" r:id="rId22"/>
    <p:sldId id="469" r:id="rId23"/>
    <p:sldId id="450" r:id="rId24"/>
    <p:sldId id="454" r:id="rId25"/>
    <p:sldId id="470" r:id="rId26"/>
    <p:sldId id="471" r:id="rId27"/>
    <p:sldId id="472" r:id="rId28"/>
    <p:sldId id="473" r:id="rId29"/>
    <p:sldId id="451" r:id="rId30"/>
    <p:sldId id="455" r:id="rId31"/>
    <p:sldId id="474" r:id="rId32"/>
    <p:sldId id="475" r:id="rId33"/>
    <p:sldId id="476" r:id="rId34"/>
    <p:sldId id="477" r:id="rId35"/>
    <p:sldId id="478" r:id="rId36"/>
    <p:sldId id="347" r:id="rId37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9"/>
    <p:restoredTop sz="94751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338809-D953-94D1-9754-11D8F8D1C3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60D7658-0531-EA58-117C-2F8ED94E38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1D5360A-863D-5697-4AA7-A59810F38E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E3809DC-76A2-C1B7-EE0D-0EB62B04AD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D81A1F29-67CC-443F-8363-D88C901589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CE4AF9-3319-8C3E-4843-6ACC331514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813330-DC16-EC4B-3DFA-D311F7666C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E33F0FA-D85F-3D30-DEA4-6BAE68E22F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1AF8B5-D074-95AB-A91A-7927878F88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A46D5D-DCE0-FE1A-13AF-03D03E30CD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C38221B-9593-FFDE-FE9A-2F9DAF173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C6BAAAC6-C646-422F-865A-3CB97DC27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05BD963B-31A8-E2CB-8F81-0EEBC8A3D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07E3EE4A-1F56-C3DC-AFFA-1882F884A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6A803A6-DEA9-BEC5-9126-4ABFD559D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884AD6-AD12-4D1A-ADF9-0742BB71028B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898934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18618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766148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395907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7067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559220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94303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055007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6576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381567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98505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474843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31611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10407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4912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683883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924727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688548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22731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7312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7762638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8274691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6895366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2087128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449457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739901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217036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6120682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179883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6026278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3928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05BF9D-1CAD-9CDB-C0CF-13BCE1C17ED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78A5B79-600D-770B-CAB6-12A5D199F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09E70B30-CA00-6BA8-083C-A00541DB0270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88DCCA53-F812-0B67-E237-BF2E126B1A24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BB9907D4-8B67-ABB2-6A25-82B218372D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374977C9-7A2B-8F94-DE66-5A322CCC50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420CBAD2-8D75-2592-8F51-F96327ED10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A0A86779-9127-21EB-52A0-B5818A424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6EC6A224-8B2B-38E7-3CDC-3245A0D211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162B50A8-F175-F0D1-63B6-C076387DF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3BF02FD9-926D-6A18-37E3-3AFA0F4B1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B80AE387-4B4D-2C74-D102-6287DA7EC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6B36E532-5614-B444-C0C7-49411DD25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031C863B-16E2-411E-8BBF-DC31B1634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19773588-FFC9-CAAB-5738-0723DCA89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73A52314-2D74-9198-A6D6-8047C1F0C1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DBD03CAF-0BCF-B83E-1C7F-EC2D6816E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BB888EEA-9C41-6670-F661-E0DF5609B4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F68756E8-3BBF-AB45-21D8-1FD837B6DC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FE8BE401-B82F-6266-F755-88126CAE8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E717D8F4-17A3-C507-FA3D-2AB421C58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2FCBCE48-0F8B-A384-6B4B-5A62E42D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51088338-752C-8D9B-1C77-C02639203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FE635CE8-F02A-97C3-234A-7704BC0B98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03338E54-4ACC-BB57-FB46-F7A181DAF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A8C8DBA3-A962-2AD7-D640-9A2F6D446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F9DAB08E-C07C-F3D7-7D69-E976649833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0DBF8CD-A19B-7273-71D7-E1FE7AC22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EB75966A-F0F6-23E9-C08E-F85E09257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2B5C2A31-4650-5576-3164-694B6E2B50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26896B17-2548-D3BC-E2CB-C55B2D5521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4BB5DD60-1568-20B9-522C-2652C0756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F950ED97-1420-A567-1B20-508C64FB2C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E575431C-4EBD-7619-E30A-7E4A1D9D9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3B6D6372-285F-E867-1207-37144DC301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CD673BBA-3EC0-AEA5-0BC3-61D4DF56F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0A3F5B1C-FC65-AC9F-7FD0-04334DF491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C992FDDD-B9FA-E9A4-1919-97492D1CB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AB234D90-28D3-2ECD-8543-821C599B4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17EDCD38-160E-7762-3B79-0B27C6BF0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E68FB73D-F6F9-8DC1-4704-BBF1FED98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EFFEB4AC-6F38-B201-C2D3-8E5406CED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1CE656A7-7BD6-0C05-8D2F-0053E6C6D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EECBC487-0532-545D-37C2-84DBB3F97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9225A15E-0F6F-FA48-F427-8F3531E5D4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A5B2B30A-9AD7-D605-8B09-DCFE87195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555DD737-E11D-4C51-70EE-27AC7C37FB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EAED3068-F655-ED98-ADF0-6FE7BEBB5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03666052-4ADF-8765-DFB0-D3CEA9FE4B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4520ED50-F65B-D7A4-0845-C503AEE39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1DCC8380-F0D2-0A68-F3D4-915801119C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89ABAD5D-5F50-843E-83EF-12F5A8DE96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8F852292-6C3C-0B75-C148-7C9241446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E1EED364-8DA9-7C7A-0300-DF7EADB35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0AEAABE9-E1A2-18C4-2D04-A556C5B81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884BBF0F-60F1-2551-129A-A30CFFA5903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92E4AAC7-5788-A205-88CF-4F2B8FD47B0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0F3B3BD4-0003-4BDA-0BE9-1336D177282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1372FDB0-78C5-491E-2F45-C33B8EA5966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DA024641-F8D9-165D-3888-033E1285172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E40F633D-C1A9-550B-4733-EB99257DA20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9066DAE1-55E7-BD92-6366-7FA050A7F01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63934C55-9380-D92A-741F-B8D9D0DB3EC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D1CD5841-9E9C-C21E-74C5-E044FBE9474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0961B3C1-09A1-F1F1-6D55-B2576A3E59BD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FFCCE934-96A2-F9D0-2F63-CBF36CF58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01EE-FDD7-4DD0-8CE8-EA13B02ED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78A7AA9B-471E-4EE1-8B3E-C81DFA2BD57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222FBD0F-9B1D-F073-5357-468E537DC7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394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EC72FA63-EEE1-107E-8244-96085DB159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49F9C0F-418B-A591-E7CB-D10DB09231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F9EC19F-6F67-0EE0-C410-B690C9D392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22AC6-743D-4A62-8DD6-E89D666BC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08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A4F51AC9-32F0-51C8-819C-D7D1351D72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DB377C3-671C-DF66-D3F6-D28CF2E73F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73BD7AB-93CA-56CA-5347-0978FA326C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9798A-CA2C-4B61-A073-6FA905A894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15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9D968E50-2B68-8C1C-325F-EB8E91084E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55669D85-C340-04E5-EF17-B78BCF9721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73C79451-4E88-9E97-A6C9-FD8811E30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45755-27E2-46D9-A862-C82E6B591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69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3303B33D-ED38-F85D-103C-39A369831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5A238568-30E9-98EA-C841-C2038245A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C0FF610D-4B49-E672-ECF3-CE73DAEE1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78848-B890-4020-AEA5-CD1823E3C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89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488EA1A5-F554-A684-87F8-B42F68A1F3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6B86998-D216-E9CB-37BF-DCF43B475B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F637E61-01C7-05A6-2447-B345DC4DDB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551FA-E5D8-469C-A723-91FE985B2C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14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01ACF22-A11D-25EE-DB34-3E66E61DDD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A491BC4B-A628-FF35-9CB2-902E26C55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A190FA09-657B-D3A8-5CA9-461A043B35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A745D7D6-EB99-4318-ADBE-C94CCD71F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7427DA50-FD75-FE4B-E538-50B2B3AC5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DC954FB5-56D5-9104-B9CE-EACC8F35AF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835E22B7-E77A-ABA0-D492-1E1D9A07C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19C76AF6-EB22-12B9-68E2-67C4F1697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E20EDDF3-CEB1-57B2-3803-986BDFD41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1817BAF3-F193-E300-DD0A-EE0A7CC689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FBB200E5-57B1-449D-E1E5-B782EF4E4C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722232C1-D722-EB8E-D850-F8703C6FB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917A9AFB-C3AF-BCE9-3E8A-EE45578AF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FCD37EE5-14DF-4C9C-0E92-7744CBAF5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185EB9C9-B0EC-6D8F-504D-14E1BC59DD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20BA0776-71FA-8F75-114F-60892C5573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E7EC8B2F-1E55-A5E5-A8BE-D1916AB16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8B45F6C2-9B44-8EC1-076D-C5078E7E2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015A45AB-F4A6-3077-6311-6F3EC5EA7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0E976C64-2463-1A00-874F-FF9B129B31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02380B28-DAB3-C87C-26B3-7E74A3AF2C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024D99AC-6056-074B-2459-D869B55B5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23C02827-8F9F-8B82-3B1A-EC3EFA7D7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071BE3BE-9B15-A252-A022-4F731630F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1ADEB2AD-C646-4FBB-D3E4-8644CD320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0C304B4E-0ECF-71C9-FBD4-248728FF11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224E6F50-A584-99A9-7575-8996F8396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3B021655-965F-7834-946F-BF17305D7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A75137A7-EFBC-E262-262D-ECDD4BA7B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CC5FBEAE-E916-F01C-661C-A3920ADC9F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3A09F0E7-2B38-3FC9-0838-A0D66FD9D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5828D131-DF33-918E-7687-0D3821606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934EA5A6-2659-98A4-66A7-67298FF6EC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08A6CFCF-A471-C32E-ECE7-4F60A565A1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89E24D60-5C00-D4DF-7B0C-1907A9B75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950520D2-8632-0F9F-1560-A6200FEC3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356C7CEA-551B-BE8B-D315-938F1F251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400654BE-B422-5C07-8F58-67D804C3AF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BD478EEE-71C1-6275-0DE5-686061C9D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FF5C9E54-C240-053F-C73E-4C8A3A3F85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1C445ADE-C6B5-BA54-ADF1-B4BE07E47B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4472DAE4-E86F-EEE7-9672-F351FA637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299A8844-B72C-C5C2-1D9C-222C7C9A2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790DD25B-9028-7A5B-BF98-31377A8ED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8DD985B4-1F40-BD7E-63FF-B438CF579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DD248198-6F0F-AE02-457D-B9A39698B6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D511DF9E-21FE-1C12-5822-026AA587E2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72BB8A8F-55F0-2A90-0258-0CF528604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86023951-E5EF-25A3-4DDA-F5C058124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9D45C009-9CCF-BABE-EE52-B6D1079124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AB79D75B-DC5C-9FB5-B149-9F0E80F63C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5F6B997A-049A-8071-DAC3-B1DD6AA56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7535E12D-4881-CBA8-7AAE-B881C586E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4622E829-896E-1F43-9A7D-AF6D78220C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B7B41A9D-6D63-CC55-3757-EC9795D09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A8D41896-970D-3ADC-BDDC-6C22FBB2C0D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6FB4A5C8-543B-2E53-0E0F-683990AC04C5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0AE3F6A8-99F3-7648-6A1E-9ECC99843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C9635BCA-58DD-79E3-A148-433301A05B7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8878C500-21D7-9847-DD3A-AE315E5FE3E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239D3C34-430A-FF55-4521-257D4C89AC2A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48B033D0-6B95-C156-10E4-B7E3D8EE8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FBA7DF-E70B-620A-7A70-E94B82B6C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F58F68BE-E7F2-5101-B957-4AE2560600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04A2A8A7-AC18-9148-04AD-6FE3C24CFF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0441F0AD-35C2-478C-2552-2160848995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B4EDF35-4156-4157-8F78-173A9E0C32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1" r:id="rId2"/>
    <p:sldLayoutId id="2147483922" r:id="rId3"/>
    <p:sldLayoutId id="2147483923" r:id="rId4"/>
    <p:sldLayoutId id="2147483924" r:id="rId5"/>
    <p:sldLayoutId id="2147483925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198E221-F1E6-A956-CA06-74077F6C681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Linear Predictive Analysis of Speech Signals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B18B84D7-9F93-BAAC-0C55-21D8D9A7D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1AA2BCF-2B9E-5BFB-EA48-573837CF9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5030FB-F616-6617-DF9A-CFAF33681C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Basic Principles of Linear Predictive Analysis</a:t>
            </a:r>
          </a:p>
          <a:p>
            <a:r>
              <a:rPr lang="en-US" altLang="en-US" sz="2000"/>
              <a:t>Computation of the Gain of the Model</a:t>
            </a:r>
          </a:p>
          <a:p>
            <a:r>
              <a:rPr lang="en-US" altLang="en-US" sz="2000"/>
              <a:t>Frequency Domain Interpretations</a:t>
            </a:r>
          </a:p>
          <a:p>
            <a:r>
              <a:rPr lang="en-US" altLang="en-US" sz="2000"/>
              <a:t>The Prediction Error Signal</a:t>
            </a:r>
          </a:p>
          <a:p>
            <a:r>
              <a:rPr lang="en-US" altLang="en-US" sz="2000"/>
              <a:t>Relation of LPA to Lossless Tube Models</a:t>
            </a:r>
          </a:p>
          <a:p>
            <a:endParaRPr lang="en-US" altLang="en-US" sz="2000"/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F295A456-3B49-F086-5085-0BDBE5EC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CDAE40-05BD-4BA0-B8F7-A5411AD3F41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63BB578E-D9D5-64B8-929E-B805FCF5C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Basic Principles of Linear Predictive Analysis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Why Linear Predictive Analysis?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51837"/>
            <a:ext cx="7848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Speech Signal Analysis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Used extensively in speech processing for applications like speech synthesis and coding.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Compact Representation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LPA provides a compact model of vocal tract characteristics.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Linear Prediction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551837"/>
                <a:ext cx="7848600" cy="3406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Assumption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Speech can be modeled as a linear combination of its past samples.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Equation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where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is the speech signal at time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1800"/>
                  <a:t>,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are the prediction coefficients (to be determined),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 is the prediction order (number of coefficients),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en-US" sz="1800"/>
                  <a:t> is the prediction residual (error term).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51837"/>
                <a:ext cx="7848600" cy="3406574"/>
              </a:xfrm>
              <a:prstGeom prst="rect">
                <a:avLst/>
              </a:prstGeom>
              <a:blipFill>
                <a:blip r:embed="rId4"/>
                <a:stretch>
                  <a:fillRect l="-699" t="-1075" b="-19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014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Key Steps in LPA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551837"/>
                <a:ext cx="7848600" cy="3693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Steps Involved in Linear Predictive Analysis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Frame Segmentation: Divide the continuous speech signal into short frames (typically 20-30 ms).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Windowing: Apply window functions (e.g., Hamming) to reduce spectral leakage and emphasize the center of each frame.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Autocorrelation Calculation: Compute the autocorrelation function of the windowed frames.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Levinson-Durbin Algorithm: Use the autocorrelation matrix to solve for the 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using the Levinson-Durbin recursion.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51837"/>
                <a:ext cx="7848600" cy="3693319"/>
              </a:xfrm>
              <a:prstGeom prst="rect">
                <a:avLst/>
              </a:prstGeom>
              <a:blipFill>
                <a:blip r:embed="rId4"/>
                <a:stretch>
                  <a:fillRect l="-699" t="-992" r="-1243" b="-18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09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Autocorrelation and Levinson-Durbin Algorithm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551837"/>
                <a:ext cx="7848600" cy="1213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Autocorrelation Matrix</a:t>
                </a:r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]∙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/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en-US" sz="1800"/>
                  <a:t>Where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sz="1800"/>
                  <a:t> is the frame length and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1800"/>
                  <a:t> is the lag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51837"/>
                <a:ext cx="7848600" cy="1213474"/>
              </a:xfrm>
              <a:prstGeom prst="rect">
                <a:avLst/>
              </a:prstGeom>
              <a:blipFill>
                <a:blip r:embed="rId4"/>
                <a:stretch>
                  <a:fillRect l="-699" t="-3015" b="-70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8A382D-175B-2933-90BE-0F81294435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2586" y="4262611"/>
                <a:ext cx="7848600" cy="15807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Levinson-Durbin Recursion</a:t>
                </a:r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]∙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/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/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en-US" sz="180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]∙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altLang="en-US" sz="18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8A382D-175B-2933-90BE-0F8129443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2586" y="4262611"/>
                <a:ext cx="7848600" cy="1580754"/>
              </a:xfrm>
              <a:prstGeom prst="rect">
                <a:avLst/>
              </a:prstGeom>
              <a:blipFill>
                <a:blip r:embed="rId5"/>
                <a:stretch>
                  <a:fillRect l="-621" t="-1923" b="-403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14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551837"/>
                <a:ext cx="7848600" cy="1754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Task: </a:t>
                </a:r>
                <a:r>
                  <a:rPr lang="en-US" altLang="en-US" sz="1800"/>
                  <a:t>Implement a function to compute linear prediction coefficients for a given speech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Input: </a:t>
                </a:r>
                <a:r>
                  <a:rPr lang="en-US" altLang="en-US" sz="1800"/>
                  <a:t>Speech signal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and prediction order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Output: </a:t>
                </a:r>
                <a:r>
                  <a:rPr lang="en-US" altLang="en-US" sz="1800"/>
                  <a:t>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sz="1800"/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51837"/>
                <a:ext cx="7848600" cy="1754326"/>
              </a:xfrm>
              <a:prstGeom prst="rect">
                <a:avLst/>
              </a:prstGeom>
              <a:blipFill>
                <a:blip r:embed="rId4"/>
                <a:stretch>
                  <a:fillRect l="-699" t="-2091" b="-4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41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024AA6-CAF2-18B7-27E5-73516C738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33600"/>
            <a:ext cx="406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3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A72F74-6AC9-FD9A-D726-05D93E339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51837"/>
            <a:ext cx="7848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Linear Predictive Analysis is essential for modeling speech signals by predicting future samples based on past information.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The Levinson-Durbin recursion efficiently computes the prediction coefficients using the autocorrelation function.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Python provides useful tools (e.g., NumPy) for implementing and experimenting with LPA techniques.</a:t>
            </a:r>
          </a:p>
        </p:txBody>
      </p:sp>
    </p:spTree>
    <p:extLst>
      <p:ext uri="{BB962C8B-B14F-4D97-AF65-F5344CB8AC3E}">
        <p14:creationId xmlns:p14="http://schemas.microsoft.com/office/powerpoint/2010/main" val="187407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Computation of the Gain of the Model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0602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Calculation of Model Gain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297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Equation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 b="1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i="1">
                  <a:latin typeface="Cambria Math" panose="02040503050406030204" pitchFamily="18" charset="0"/>
                </a:endParaRP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is the speech signal,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are the prediction coefficients,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 is the prediction order,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is the prediction residual.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297232"/>
              </a:xfrm>
              <a:prstGeom prst="rect">
                <a:avLst/>
              </a:prstGeom>
              <a:blipFill>
                <a:blip r:embed="rId4"/>
                <a:stretch>
                  <a:fillRect l="-699" t="-1592" b="-31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641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Calculation of Model Gain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6568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Gain </a:t>
                </a:r>
                <a14:m>
                  <m:oMath xmlns:m="http://schemas.openxmlformats.org/officeDocument/2006/math"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rad>
                    </m:oMath>
                  </m:oMathPara>
                </a14:m>
                <a:endParaRPr lang="en-US" altLang="en-US" sz="1800" b="1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i="1">
                  <a:latin typeface="Cambria Math" panose="02040503050406030204" pitchFamily="18" charset="0"/>
                </a:endParaRP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altLang="en-US" sz="1800"/>
                  <a:t> is the zero-lag autocorrelation of the speech signal, and computed as</a:t>
                </a: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sz="180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i="1">
                  <a:latin typeface="Cambria Math" panose="02040503050406030204" pitchFamily="18" charset="0"/>
                </a:endParaRP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en-US" sz="180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sz="1800">
                    <a:latin typeface="+mj-lt"/>
                  </a:rPr>
                  <a:t> is the length of the speech signal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656881"/>
              </a:xfrm>
              <a:prstGeom prst="rect">
                <a:avLst/>
              </a:prstGeom>
              <a:blipFill>
                <a:blip r:embed="rId4"/>
                <a:stretch>
                  <a:fillRect l="-699" t="-1376" r="-1321" b="-25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927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Steps to Compute Model Gain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366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Autocorrelation Calculation</a:t>
                </a:r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Compute the zero-lag autocorrelation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altLang="en-US" sz="1800"/>
                  <a:t> by summing the squares of all samples in the speech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Compute Gain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model gain GG is obtained by taking the square root of the zero-lag autocorrelation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altLang="en-US" sz="1800"/>
                  <a:t>: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rad>
                    </m:oMath>
                  </m:oMathPara>
                </a14:m>
                <a:endParaRPr lang="en-US" altLang="en-US" sz="1800" b="1"/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366738"/>
              </a:xfrm>
              <a:prstGeom prst="rect">
                <a:avLst/>
              </a:prstGeom>
              <a:blipFill>
                <a:blip r:embed="rId4"/>
                <a:stretch>
                  <a:fillRect l="-699" t="-1546" b="-12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592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Task</a:t>
                </a:r>
                <a:r>
                  <a:rPr lang="en-US" altLang="en-US" sz="1800"/>
                  <a:t>: Implement a function to calculate the model gain of an LPA based on the zero-lag autocorrelation.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Input</a:t>
                </a:r>
                <a:r>
                  <a:rPr lang="en-US" altLang="en-US" sz="1800"/>
                  <a:t>: Speech signal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Output</a:t>
                </a:r>
                <a:r>
                  <a:rPr lang="en-US" altLang="en-US" sz="1800"/>
                  <a:t>: Model gain G.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1200329"/>
              </a:xfrm>
              <a:prstGeom prst="rect">
                <a:avLst/>
              </a:prstGeom>
              <a:blipFill>
                <a:blip r:embed="rId4"/>
                <a:stretch>
                  <a:fillRect l="-699" t="-3046" b="-71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1A7AF9E-720B-F180-EE75-C3589DE21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660578"/>
            <a:ext cx="5015314" cy="303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307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The model gain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sz="1800"/>
                  <a:t> in LPA measures the overall energy or magnitude of the speech signal explained by the linear predictive model.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It is computed based on the speech signal's zero-lag autocorrelation, reflecting its total power.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Computing the model gain is essential for various applications in speech processing, including signal analysis, synthesis, and coding.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308324"/>
              </a:xfrm>
              <a:prstGeom prst="rect">
                <a:avLst/>
              </a:prstGeom>
              <a:blipFill>
                <a:blip r:embed="rId4"/>
                <a:stretch>
                  <a:fillRect l="-544" t="-1587" r="-78" b="-34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23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Frequency Domain Interpretations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0306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Frequency Domain Formulation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3139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Equation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80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i="1">
                  <a:latin typeface="Cambria Math" panose="02040503050406030204" pitchFamily="18" charset="0"/>
                </a:endParaRP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is the speech spectrum (in the z-domain),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is the prediction filter (all-pole model representing the vocal tract),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is the prediction error filter (residual or noise component).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313967"/>
              </a:xfrm>
              <a:prstGeom prst="rect">
                <a:avLst/>
              </a:prstGeom>
              <a:blipFill>
                <a:blip r:embed="rId4"/>
                <a:stretch>
                  <a:fillRect l="-699" t="-1583" b="-34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C60C6D-2F25-DCC5-CCFF-5E6EFA6703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4864003"/>
                <a:ext cx="7848600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Frequency Interpretation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sz="1800"/>
                  <a:t>The roots (poles) and zeros of</a:t>
                </a:r>
                <a14:m>
                  <m:oMath xmlns:m="http://schemas.openxmlformats.org/officeDocument/2006/math">
                    <m:r>
                      <a:rPr lang="en-US" alt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</a:t>
                </a:r>
                <a:r>
                  <a:rPr lang="en-US" sz="1800"/>
                  <a:t>in the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/>
                  <a:t>-plane correspond to the resonances (formants) and anti-resonances of the speech spectrum, respectively.</a:t>
                </a:r>
                <a:endParaRPr lang="en-US" altLang="en-US" sz="18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C60C6D-2F25-DCC5-CCFF-5E6EFA670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864003"/>
                <a:ext cx="7848600" cy="1200329"/>
              </a:xfrm>
              <a:prstGeom prst="rect">
                <a:avLst/>
              </a:prstGeom>
              <a:blipFill>
                <a:blip r:embed="rId5"/>
                <a:stretch>
                  <a:fillRect l="-699" t="-3046" r="-1088" b="-71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952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Components of Frequency Domain Analysis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970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Pole-Zero Analysis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LPA models the speech spectrum using poles (resonances) and zeros (anti-resonances) in the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en-US" sz="1800"/>
                  <a:t>-domain. Poles represent formants, and zeros indicate anti-formants.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Formant Estimation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locations and frequencies of poles in the z-plane provide direct information about formant frequencies, which are critical for speech analysis and synthesis.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Spectral Envelope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magnitude response of the prediction filter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reflects the speech signal’s spectral envelope, highlighting its frequency components and intensity.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970318"/>
              </a:xfrm>
              <a:prstGeom prst="rect">
                <a:avLst/>
              </a:prstGeom>
              <a:blipFill>
                <a:blip r:embed="rId4"/>
                <a:stretch>
                  <a:fillRect l="-699" t="-922" b="-15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079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016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Objective</a:t>
                </a:r>
                <a:r>
                  <a:rPr lang="en-US" altLang="en-US" sz="1800"/>
                  <a:t>: Implement a function to perform frequency domain analysis using Linear Predictive Analysis (LPA) on a given speech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Assignment</a:t>
                </a:r>
                <a:r>
                  <a:rPr lang="en-US" altLang="en-US" sz="1800"/>
                  <a:t>: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Task: Implement a function to estimate formant frequencies from a speech signal using LPA.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Steps:</a:t>
                </a:r>
              </a:p>
              <a:p>
                <a:pPr marL="1485900" lvl="2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200"/>
                  <a:t>Compute the linear prediction coefficients using scipy.signal.lpc().</a:t>
                </a:r>
              </a:p>
              <a:p>
                <a:pPr marL="1485900" lvl="2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200"/>
                  <a:t>Identify the roots (poles) of the prediction filter.</a:t>
                </a:r>
              </a:p>
              <a:p>
                <a:pPr marL="1485900" lvl="2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200"/>
                  <a:t>Extract formant frequencies from the pole locations in the z-plane.</a:t>
                </a:r>
                <a:endParaRPr lang="en-US" altLang="en-US" sz="16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Input: Speech signal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600"/>
                  <a:t> and prediction order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en-US" sz="16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Output: </a:t>
                </a:r>
                <a:r>
                  <a:rPr lang="en-US" altLang="en-US" sz="1800"/>
                  <a:t>Estimated formant frequencies from the speech signal.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016210"/>
              </a:xfrm>
              <a:prstGeom prst="rect">
                <a:avLst/>
              </a:prstGeom>
              <a:blipFill>
                <a:blip r:embed="rId4"/>
                <a:stretch>
                  <a:fillRect l="-699" t="-1212" b="-22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552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CCAF6F-FAC7-A220-94AA-098580B9D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96" y="2286000"/>
            <a:ext cx="5691674" cy="352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82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64ACD0-627C-8F86-CACF-428EA24052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862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Frequency domain interpretations in LPA offer valuable insights into the spectral characteristics of speech signals, including formant frequencies and spectral envelopes.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LPA facilitates the analysis and synthesis of speech by modeling the vocal tract as a filter in the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en-US" sz="1800"/>
                  <a:t>-domain, revealing important frequency components.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Python libraries such as </a:t>
                </a:r>
                <a:r>
                  <a:rPr lang="en-US" altLang="en-US" sz="1800">
                    <a:highlight>
                      <a:srgbClr val="FFFF00"/>
                    </a:highlight>
                  </a:rPr>
                  <a:t>scipy.signal</a:t>
                </a:r>
                <a:r>
                  <a:rPr lang="en-US" altLang="en-US" sz="1800"/>
                  <a:t> provides efficient tools for implementing frequency domain analysis using LPA techniques.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64ACD0-627C-8F86-CACF-428EA2405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862322"/>
              </a:xfrm>
              <a:prstGeom prst="rect">
                <a:avLst/>
              </a:prstGeom>
              <a:blipFill>
                <a:blip r:embed="rId4"/>
                <a:stretch>
                  <a:fillRect l="-544" t="-1279" b="-25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8308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The Prediction Error Signal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117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862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Residual Analysis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prediction error signal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represents the residual or unexplained part of the speech signal after modeling with LPA. It provides insights into the signal components that the model fails to predict accurately.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Quality Assessment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Analysis of prediction error helps in assessing the quality and accuracy of the linear predictive model. Lower prediction error indicates a better model fit to the speech signal.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862322"/>
              </a:xfrm>
              <a:prstGeom prst="rect">
                <a:avLst/>
              </a:prstGeom>
              <a:blipFill>
                <a:blip r:embed="rId4"/>
                <a:stretch>
                  <a:fillRect l="-699" t="-1279" r="-389" b="-25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351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128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Prediction Error Signal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]∙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prediction error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at time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1800"/>
                  <a:t> is calculated by subtracting the predicted value (based on past samples and prediction coefficients) from the actual signal value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is the speech signal,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are the prediction coefficients,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 is the prediction order,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128229"/>
              </a:xfrm>
              <a:prstGeom prst="rect">
                <a:avLst/>
              </a:prstGeom>
              <a:blipFill>
                <a:blip r:embed="rId4"/>
                <a:stretch>
                  <a:fillRect l="-699" t="-1170" b="-21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493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Key Concepts of Prediction Error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693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Complementary Component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prediction error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captures the difference between the actual speech signal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and its predicted value using the LPA model. It represents the residual information that the model could not explain.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Objective of LPA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LPA aims to minimize the prediction error by determining optimal 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that best approximate the speech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Evaluation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Analysis of the prediction error helps evaluate the LPA model’s performance. Lower prediction error indicates better model fit and higher accuracy.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693319"/>
              </a:xfrm>
              <a:prstGeom prst="rect">
                <a:avLst/>
              </a:prstGeom>
              <a:blipFill>
                <a:blip r:embed="rId4"/>
                <a:stretch>
                  <a:fillRect l="-699" t="-990" r="-1399" b="-16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292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145460"/>
                <a:ext cx="7848600" cy="4031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Task: Implement a function to calculate the prediction error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for a speech signal based on given 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and prediction order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Steps: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Initialize the prediction error signal as an array of zeros with the same length as the input speech signal.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For each sample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1400"/>
                  <a:t> from pp to the end of the signal: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Calculate the predicted value using the past pp samples and the prediction coefficients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400"/>
                  <a:t>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Compute the prediction error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400"/>
                  <a:t> by subtracting the predicted value from the actual signal value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400"/>
                  <a:t>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Return the computed prediction error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Input: Speech signal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, 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, and prediction order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Output: Prediction error signal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145460"/>
                <a:ext cx="7848600" cy="4031873"/>
              </a:xfrm>
              <a:prstGeom prst="rect">
                <a:avLst/>
              </a:prstGeom>
              <a:blipFill>
                <a:blip r:embed="rId4"/>
                <a:stretch>
                  <a:fillRect l="-699" t="-908" b="-15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792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428056-95E2-EE8F-E56E-2E66AA684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21024"/>
            <a:ext cx="6082243" cy="285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14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Relation of LPA to Lossless Tube Models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003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Overview of Lossless Tube Models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Model Description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Acoustic tube models represent the vocal tract as a series of cylindrical tubes with specific length, diameter, and boundary conditions.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These models assume no energy loss within the tubes (lossless) and describe wave propagation and reflections along the vocal tract.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Key Elements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Length and Diameter: Parameters of the tubes that affect resonance frequencies.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Boundary Conditions: Influence the behavior of waves within the tube (open or closed ends), affecting resonant frequencies.</a:t>
            </a:r>
          </a:p>
        </p:txBody>
      </p:sp>
    </p:spTree>
    <p:extLst>
      <p:ext uri="{BB962C8B-B14F-4D97-AF65-F5344CB8AC3E}">
        <p14:creationId xmlns:p14="http://schemas.microsoft.com/office/powerpoint/2010/main" val="526921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LPA and Acoustic Tube Models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Connection between LPA and Tube Models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Linear Predictive Analysis (LPA)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LPA models the vocal tract using a linear filter (all-pole model) to predict speech signals based on past samples.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The prediction coefficients in LPA correspond to resonances (formants) in speech</a:t>
            </a:r>
            <a:r>
              <a:rPr lang="en-US" altLang="en-US" sz="1400"/>
              <a:t>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Relation to Tube Models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The prediction coefficients in LPA can be related to the acoustic properties (resonances) of an equivalent lossless tube model.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Both LPA and tube models aim to characterize the spectral properties of speech signals by identifying resonant frequencies.</a:t>
            </a:r>
          </a:p>
        </p:txBody>
      </p:sp>
    </p:spTree>
    <p:extLst>
      <p:ext uri="{BB962C8B-B14F-4D97-AF65-F5344CB8AC3E}">
        <p14:creationId xmlns:p14="http://schemas.microsoft.com/office/powerpoint/2010/main" val="1813484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Mapping LPA to Tube Model Parameters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939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Prediction Coefficients </a:t>
                </a:r>
                <a14:m>
                  <m:oMath xmlns:m="http://schemas.openxmlformats.org/officeDocument/2006/math"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sz="1800" b="1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In LPA, a[i]a[i] coefficients represent the filter parameters that determine how past samples contribute to predicting the current sample.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Tube Model Resonances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resonances (formants) in an acoustic tube model correspond to the poles of the LPA filter represented by the prediction coefficients.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relationship between LPA coefficients and tube model resonances involves understanding how filter characteristics (poles) relate to acoustic resonances.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Mathematical Mapping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mapping involves interpreting the locations and magnitudes of poles (from LPA) as resonant frequencies and bandwidths in the context of acoustic tube models.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939540"/>
              </a:xfrm>
              <a:prstGeom prst="rect">
                <a:avLst/>
              </a:prstGeom>
              <a:blipFill>
                <a:blip r:embed="rId4"/>
                <a:stretch>
                  <a:fillRect l="-544" t="-929" r="-544" b="-10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84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40934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Task: Develop a Python function to visualize and compare the resonances (formants) derived from LPA coefficients with theoretical resonances of an acoustic tube model.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Steps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Compute prediction coefficients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400"/>
                  <a:t> using LPA on a given speech signal.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Map the LPA coefficients to resonant frequencies (formants).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Simulate an acoustic tube model with specified length, diameter, and boundary conditions.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Calculate theoretical resonant frequencies based on the tube model parameters.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Visualize and compare the predicted formants from LPA with the theoretical resonances of the tube model.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Input: Speech signal, LPA prediction order, and acoustic tube model parameters (length, diameter).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Output: Comparison plot of LPA-derived formants and theoretical tube model resonances.</a:t>
                </a:r>
                <a:endParaRPr lang="en-US" altLang="en-US" sz="1600"/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4093428"/>
              </a:xfrm>
              <a:prstGeom prst="rect">
                <a:avLst/>
              </a:prstGeom>
              <a:blipFill>
                <a:blip r:embed="rId4"/>
                <a:stretch>
                  <a:fillRect l="-544" t="-894" b="-14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5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23F252-9A4C-1BD8-71BE-E117F4755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225486"/>
            <a:ext cx="4880473" cy="390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006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</a:p>
          <a:p>
            <a:pPr marL="0" indent="0">
              <a:buNone/>
            </a:pP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C39606-91FC-B7B3-E2E4-1778F8CCB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Linear Predictive Analysis (LPA) and acoustic tube models aim to characterize speech signals' spectral properties by identifying resonant frequencies.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The prediction coefficients (poles) derived from LPA can be interpreted as formants in an equivalent acoustic tube model, providing a physical interpretation of speech production.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Understanding the relationship between LPA and tube models offers insights into the acoustic properties of the vocal tract and aids in speech analysis and synthesis tasks.</a:t>
            </a:r>
            <a:endParaRPr lang="en-US" altLang="en-US" sz="1600"/>
          </a:p>
        </p:txBody>
      </p:sp>
    </p:spTree>
    <p:extLst>
      <p:ext uri="{BB962C8B-B14F-4D97-AF65-F5344CB8AC3E}">
        <p14:creationId xmlns:p14="http://schemas.microsoft.com/office/powerpoint/2010/main" val="3357989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EC62E08C-C8B1-4633-D085-1F570E4C6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79875" name="Slide Number Placeholder 6">
            <a:extLst>
              <a:ext uri="{FF2B5EF4-FFF2-40B4-BE49-F238E27FC236}">
                <a16:creationId xmlns:a16="http://schemas.microsoft.com/office/drawing/2014/main" id="{89337DEC-FDB4-3202-1B3A-95A1E642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1EC34-4426-4967-85B1-0430E653E9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pic>
        <p:nvPicPr>
          <p:cNvPr id="79876" name="Picture 3">
            <a:extLst>
              <a:ext uri="{FF2B5EF4-FFF2-40B4-BE49-F238E27FC236}">
                <a16:creationId xmlns:a16="http://schemas.microsoft.com/office/drawing/2014/main" id="{F769647B-93E8-A6AE-7F94-FA05521B7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5390</TotalTime>
  <Words>2088</Words>
  <Application>Microsoft Office PowerPoint</Application>
  <PresentationFormat>On-screen Show (4:3)</PresentationFormat>
  <Paragraphs>306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Cambria Math</vt:lpstr>
      <vt:lpstr>Tahoma</vt:lpstr>
      <vt:lpstr>Times New Roman</vt:lpstr>
      <vt:lpstr>Wingdings</vt:lpstr>
      <vt:lpstr>Blueprint</vt:lpstr>
      <vt:lpstr>Linear Predictive Analysis of Speech Signals</vt:lpstr>
      <vt:lpstr>Contents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Computation of the Gain of the Model</vt:lpstr>
      <vt:lpstr>Computation of the Gain of the Model</vt:lpstr>
      <vt:lpstr>Computation of the Gain of the Model</vt:lpstr>
      <vt:lpstr>Computation of the Gain of the Model</vt:lpstr>
      <vt:lpstr>Computation of the Gain of the Model</vt:lpstr>
      <vt:lpstr>Computation of the Gain of the Model</vt:lpstr>
      <vt:lpstr>Frequency Domain Interpretations</vt:lpstr>
      <vt:lpstr>Frequency Domain Interpretations</vt:lpstr>
      <vt:lpstr>Frequency Domain Interpretations</vt:lpstr>
      <vt:lpstr>Frequency Domain Interpretations</vt:lpstr>
      <vt:lpstr>Frequency Domain Interpretations</vt:lpstr>
      <vt:lpstr>Frequency Domain Interpretations</vt:lpstr>
      <vt:lpstr>The Prediction Error Signal</vt:lpstr>
      <vt:lpstr>The Prediction Error Signal</vt:lpstr>
      <vt:lpstr>The Prediction Error Signal</vt:lpstr>
      <vt:lpstr>The Prediction Error Signal</vt:lpstr>
      <vt:lpstr>The Prediction Error Signal</vt:lpstr>
      <vt:lpstr>The Prediction Error Signal</vt:lpstr>
      <vt:lpstr>Relation of LPA to Lossless Tube Models</vt:lpstr>
      <vt:lpstr>Relation of LPA to Lossless Tube Models</vt:lpstr>
      <vt:lpstr>Relation of LPA to Lossless Tube Models</vt:lpstr>
      <vt:lpstr>Relation of LPA to Lossless Tube Models</vt:lpstr>
      <vt:lpstr>Relation of LPA to Lossless Tube Models</vt:lpstr>
      <vt:lpstr>Relation of LPA to Lossless Tube Models</vt:lpstr>
      <vt:lpstr>Relation of LPA to Lossless Tube Models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Vuong Nguyen Luong</cp:lastModifiedBy>
  <cp:revision>274</cp:revision>
  <dcterms:created xsi:type="dcterms:W3CDTF">2022-10-28T07:26:15Z</dcterms:created>
  <dcterms:modified xsi:type="dcterms:W3CDTF">2024-08-29T10:06:41Z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