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256" r:id="rId2"/>
    <p:sldId id="363" r:id="rId3"/>
    <p:sldId id="376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7" r:id="rId13"/>
    <p:sldId id="378" r:id="rId14"/>
    <p:sldId id="380" r:id="rId15"/>
    <p:sldId id="381" r:id="rId16"/>
    <p:sldId id="382" r:id="rId17"/>
    <p:sldId id="383" r:id="rId18"/>
    <p:sldId id="384" r:id="rId19"/>
    <p:sldId id="379" r:id="rId20"/>
    <p:sldId id="385" r:id="rId21"/>
    <p:sldId id="387" r:id="rId22"/>
    <p:sldId id="386" r:id="rId23"/>
    <p:sldId id="388" r:id="rId24"/>
    <p:sldId id="389" r:id="rId25"/>
    <p:sldId id="390" r:id="rId26"/>
    <p:sldId id="391" r:id="rId27"/>
    <p:sldId id="392" r:id="rId28"/>
    <p:sldId id="347" r:id="rId29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F6F9ED2-BC1B-7C74-6EA3-ECFD1D4117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866BBA3-A0F4-6102-B56A-1A1AF533B9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F39170F4-C9B4-2BE0-E63B-C8434C8DDAD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CB025DC-D2AC-DB0F-0833-56A1B9749F8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7436195D-7BE6-4710-A5EC-F6679AA6DB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99F977-A9B3-2C02-0563-84012683E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02CF20-AA5F-6C7C-7629-11349FF037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6837588-652F-FC7D-9977-604910C0AA5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F711EF5-CB5C-F3CD-2055-233FCDCA121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81EF171-2F86-A0C1-B170-6B5C6B5058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4F740C0-D00E-0075-64D3-3FEFB0708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98BDA6CD-08FB-4F55-B279-35ED3DD95F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29A1E102-7EFD-2F41-7C71-F4A969250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B2CF4351-BF5D-DC27-F0C3-CE3E75A1D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8CE3DAB-B540-332E-5A72-323AB9307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BDA14B7-8BA2-47B4-AAD2-C618C4528912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3A1EEE93-40DB-CA7B-B76C-E104CD60F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B07EFEA7-21EA-A632-733A-BA958CAAE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0A39107E-57DA-F280-D959-76549961B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193CA2-7DB0-41BC-9BC4-BFEAD769AF40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E186A977-4DAC-EE81-647D-F43AA4777E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7328E475-7DB9-B071-D456-C43643702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8F51AE8C-D8A6-99DB-B029-AC79EF441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DD5F1C-55C1-42DC-A128-2CB5F260A8CD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59D56D9D-F375-61FF-A553-B5835C7055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9C949A70-057A-F304-B973-168749E42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E718CE58-AB73-BDA6-8518-F1D322C3E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1B16BE-69F2-4B1E-8D89-8EDB06D64597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B26898E9-BEFB-19DE-1E3D-45ABBC9BCB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0841C00-1F58-1DBE-D1E6-8CC17C4DA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351ED4B-0CCF-D313-3441-D449474BA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6FB6636-E04C-48BE-A022-C741403EE7D7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39EEE75A-71E4-03EF-43B1-BA5DA9B2F8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EE491988-4A15-EE6F-3B87-6BFAF6AE2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0B836B44-5CBC-5739-03C9-8B61426B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E8E52C6-7A42-4CED-9702-3A3416C0FACF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5D2F39F3-039B-AAF0-CB6F-6822786C9B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2DB689A4-25CD-D159-0FEB-67D4F36A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DF912072-131A-8160-34B7-2FE8557EF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3A41E26-E60D-4EAE-A436-C5FEA9D4FCC9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76611E41-6ECF-5262-5AE2-0C2092A075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054120FA-C1E1-048C-D1E8-11A97A4D7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0CC90D10-3A53-2EAE-797E-0D10FA2A9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B51D12-BDFE-48BC-9EF0-8D690B1D8BA2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CCF196FA-8C4B-9909-72A4-AF8E8E4CC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F2CB0E69-E1EA-BED4-1E5E-6FA8B166A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069D9946-87A4-10E3-94A0-B3AC4D0F1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1C7799-F834-4EC3-A967-90063E32C6AE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69CD750F-30BD-53F7-FE70-800F37F55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9636D100-B263-0469-4FC5-D4B75042D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6F8802E6-3912-0438-FBB9-1339E2B57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06B22F-F546-45BA-A82B-BD987FA422C0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1981B958-EEF4-9C7E-3FEB-9DFE2F224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AE339D97-83DC-8B43-C845-EF6CC37E0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EF6BDB06-6EC0-8C3D-E9E0-1CC79F739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AE34B70-828A-4546-9745-4A96FB2C0D98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EDEF014-C606-7FFA-AF9E-79FE8DB1B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A290550E-B9A3-DB87-6BC5-44C72033B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8A69521F-213C-0C16-BF39-3F1010002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98CB5B-2A48-46AE-94C8-AC60C94FCDCA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D8870050-5C3E-D8C9-EB76-1DF095C16A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20F82CAF-0F11-0741-9717-682F4953B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1DD8E1E1-C4E7-20C6-840E-229C1A1A1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C3843CB-2841-453B-9B95-E81FEB9B5017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2D1E89EE-C2C9-8E37-363E-A8FF9AC45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AC097255-F470-CF11-459D-BA92622FB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91B9384D-7B6E-DC39-8DF8-4C092E752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2C66AA-FDE2-45CC-B539-4DF5F544C009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CB0EE7D9-C933-093E-5045-B0A1B8AB7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F1F3FB7F-0090-6766-7065-C1A7B1001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380FD4BB-B4A9-DD11-9AC1-1E4B8124C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C559AB5-1118-4767-9A8E-027310AE2CDC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D22B64B5-DA00-06C7-7EB3-96EADC9CDF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C1162B99-7110-D33C-D323-4DD097143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A141194D-5CD9-9EA7-5FAC-D56DAD78C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55F5FE8-012A-4F43-ADC1-89A9BBE557FB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7DA3D576-B202-AF5E-1CCF-A9B34FF4E8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5A6185FB-93CB-91E5-00E0-70342099B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0892C815-EA01-6C89-018F-A1EC70697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7EFE86-5574-4F62-8702-F980EE319AA2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87895117-71A3-C018-65F1-A40AC8E9B4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93F34597-1124-901D-DCD2-57914D319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C768DD69-77B7-E47C-4838-F5B04F20C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1A0C5C-781E-42BB-9121-46D8E0B099A3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2209DFD6-BED9-7098-D8FE-E240ED75C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B265E127-1CA0-4ADB-986A-F636F9924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5D5C9832-A742-FEC2-E6FB-695E803F3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E3A45AF-B353-46E8-8225-7058C3A13ECF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1C90D679-DE35-1403-7E3A-25FE851745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AAB70E83-92F0-39A9-7EBD-86A6A360C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B99A9C4C-5860-753E-69F4-A881DAEC0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A4493E-5CD5-445C-90A1-201F03B51B49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8293C1E9-7F5F-9683-F24F-FEBBD9871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10CB12F2-4785-A3FE-A423-5E09B3871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D74CD73A-218C-3D1A-2056-0CA82FDA5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B29EC2-C553-40AB-A248-3D861E374AC7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D1921A4A-D47F-8AA4-0809-059DEE3706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D4FE024D-3109-A13F-9F3B-AD1A08B8F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2A93CA93-F3E9-FC8B-35DD-2D96ED574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3E30A-DC1C-42BE-AAD4-5510DC217E70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08782EAC-A58F-1445-5C1E-1451581610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EC7765FA-92DA-86C6-9115-5656CC108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E4EED80B-F09D-8651-250D-F4A8CCFB5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B4F299-CB23-4410-AF68-743972CA89B4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B720E94E-B6EC-B216-ACBF-4235BDD468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0149F560-BF92-FCBB-50EC-A136EF91D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B365E292-98BA-A68F-E5D2-326F1B341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E04AA6E-0096-4783-9583-1100BF96B272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69ED6951-0AE7-92EB-02C4-42C197BEF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5C037796-1BB5-7797-067D-D4673212E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9DB72C79-8AEC-E0BC-6EA1-57DF36CB4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8AD4BA-7C9A-4D62-9106-D91E83235485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CD72E1C-B841-AE0A-5317-CDC482746C8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E9F02FD3-02E6-EA7C-2570-835F73EEB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BE8EA6D2-975C-1D64-87C3-CC0C9F542098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4603775F-75BA-9B54-5518-8B79DBFD6A3A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32F3EEFD-0685-5431-EA9B-16F6B385A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EAB0571A-7D74-16CC-1D8B-A4EFED5C68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D17E3836-DA26-F99F-15AA-B5B99189F3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D6FF40F0-BDCF-59EF-A8B7-A5CD86D233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16F628AA-6439-273A-0134-89E27CD9D5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A9975C81-CCCE-5545-A7C4-6D77F0F09E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77B590A1-EC25-2026-2BD1-1DA6E1AD57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451E032A-38DA-DFDD-6D8C-9989D558CF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FF95594C-2C96-56F2-15D1-468605457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2B0EDF0D-EB9F-C319-8A65-3F98710EDD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DEC6F454-3CF4-4A67-345C-575DE25549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66521B75-4F9E-2BE8-A669-362EE8CF16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5807C11C-17E2-5BF3-AA62-241424918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7FB1E5A2-6322-8DB4-86B1-EE48811F4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D0725F29-501C-870A-EF0E-13994C34EC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11B58E32-3331-8C8D-122C-15D91F9CE4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402A0E2F-97DA-9C46-E840-D09D4935F0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0924ADE7-C95C-8BAF-2D48-FF43EADF06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6ABF35D8-9C51-5C1D-DB4C-E51889A421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083A7651-65E0-A24F-1D05-C9A6627B0D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746B9E12-0C62-207B-6920-6AD8D995F8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44842EB1-65B3-CC0C-8089-050CBB617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00726DC5-54E9-CA97-BAA8-EF40709FE8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EA135FC1-8BCC-F82E-4DD1-769D91CAC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76088B56-36CB-11F7-9A3A-A7C23FFBA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9401B3CB-9232-A3EB-9A56-FE67EFDAC0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D9526F4C-BA2E-DFB1-484C-2FEECFFC0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7AF545B3-9813-890A-5827-63B30AB8DD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B9FC11A7-6526-6345-6B21-1159E6574E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093027AD-E4B1-36D0-8EF4-68A5126F0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73ACFF40-7E50-3383-BAD6-1759645EEF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6DCD123D-3B7C-8B6E-207E-C85E47D15A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887A56F0-7970-3395-B7BB-FFABA5826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863442E6-D79A-620B-54ED-BC2C49DAEF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D28894E3-9F3E-47B3-C1B6-67AFF2A714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88A87A3E-5A89-40EA-1E0B-9173041D34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7C2F1248-1A67-1244-D2FA-012F678C4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F67487A5-1230-E41C-A47E-356F05142F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F290F0D6-BE83-FDB6-C3AA-45781028D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07962DA-645D-29E4-2241-57984D6336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C8677A45-94ED-9237-8867-DD50DA1124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6ADE214D-BD38-2409-CA08-8BA98C7AD2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EB019884-FCA3-F1F1-016B-B3492B235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AFBC5529-E3E5-B202-0267-EBF56AD1B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BFDAA671-C9DC-9E1A-0E4A-E47F583A9B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B38356F6-503F-A01D-A83E-EE99411925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8CCA3949-5AD9-7377-4A20-586036E062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DE126A7F-045A-1446-D444-A7C479B4BB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32A1D210-ACC1-D158-8B3E-A90E3F916D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A474A3E5-4FF9-2E88-5857-2374F377A5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D11BBFCE-8A94-AF86-9035-FC8B5E9B34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7D50704-E424-B09E-0D00-694DAE6ED1F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3836869F-BA98-D584-0DF2-75D88188CDA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D35FD391-DBFA-C9A1-C4B2-F926EA762672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9FBAA3E7-1409-0AD5-DA7D-75AA8B6A099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5BD85708-49C6-66F2-8567-63E48355316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0A3F202B-A592-5A94-9F65-B6E8D3C05012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8B60710B-A652-7F47-70BD-B2F9CDBA669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3B098BE6-7AA1-069F-171F-576180D0EC13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7903F0B2-E9D7-38BF-992F-E5742DB643D4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6A90D476-9AC4-672A-A42A-F14CEED90D3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2BEF455E-47B2-0578-BC49-C6D4D50AC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22A55-849D-443E-85A2-BADEAE042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DD2D0DAE-89D9-F334-EFD3-A761ABB38F94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D4D3B7E8-8D41-C3AD-BB7F-2EE93B0585C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9177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7EF2004D-7282-310A-9A60-988DFDE53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A0CC493-3E8D-C747-3EC4-C8C5CCA6B9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0E0968D7-B70E-289A-C556-7C509A7D9C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627CA-E803-4844-919A-FFE57EBDF5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678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651FECD5-0E2C-5EB3-ED2A-CD8CF9391A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01D5D74C-D0ED-F2C6-1634-7EC4C5AC2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12047A28-7481-9FF8-B4B9-3D5B9DED87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66364-9684-42E3-ADAB-AD5E8CC2CB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20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42C3C7CC-27A5-02AF-252B-3B8E97C175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099A98B8-7527-55F6-DB14-67BF6913B9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68508FF2-C28A-138B-DAD3-4BF1680B28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5E345-45A6-4441-8C08-2841F1E780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2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520D18F-200A-179D-E56B-9346EF247E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05EB6B76-3533-6C23-7FF8-B3E5A5CF82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A719669-C12B-03B0-DFCD-3A2B78F70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90F2B-10E1-4FB6-80F9-A1120F1DEB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724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6C1B6E9-BC4B-D893-02E7-2D62B16044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6CF17944-D16E-DB37-00CC-951478C385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94F6C181-7A6F-84D3-660C-8382D8506C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89A4C-F753-4B1B-9F6F-A476E595A3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52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1699BF15-90E3-F586-CD20-D4A47AD55DF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9A08B3C4-E7CD-6939-B2F9-3532A993E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934A71AA-99CC-B7E1-9932-64B062FADF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4943121D-0A95-FEE3-75C0-D12E71374F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36C4B1FB-0650-7770-757E-D22EC11BB8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157BC13F-D0BF-2F44-2A55-E27409F33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6F18416C-A3F4-4B5A-83EB-CD52BC0C1E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9AC75B4F-5D79-C934-5BA6-04E749C11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D1172005-F487-7DEF-3ED0-96448D5B64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7C1FDEEB-096F-C179-F3F5-FDE2501465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743A7EE-7C26-CD6D-08E4-77B1430B9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4C477E62-FB33-8860-F2EF-F59B3DB2D7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37F95ED4-656D-5823-4007-CC04C5042A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35666432-8786-9399-1DC9-EBA0E006CF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3A68485-C069-CFB9-1EAC-FFE0352F76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B1B67E54-B8F0-9081-398F-8F3640355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3B81615D-F5AE-6B90-932B-96B37E98B0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9DAD4525-06EE-A303-B106-808B9258ED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3B31872E-0E3B-6881-388D-5984AC6380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E95E94B9-A34A-A38C-37E7-D31BE3F01D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32BE2553-CA90-1848-9A90-CB7F76A9DE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3FFE1C75-E2DC-D367-B511-CCD50368E6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0DE2DB1C-BF9F-4BD3-A092-E22D7474EE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8D314711-9770-C358-D755-14AE039334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9DE063B6-A83C-CCDF-3F0E-2E8AAF4278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65CE8BF7-FFBA-0985-6877-5ED7014D73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8A546B8-F700-8DB5-2DE0-CD790D9552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A2C86005-F71A-FE4B-1505-7BCDECFF88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458E071B-6EFB-0B92-7AAB-C34A4547D8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8C230FFE-ADB9-843B-C4F7-884F8294D3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FFC1D109-D310-47EF-12B5-D39C5C6F19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66FCD238-656B-AF17-415E-8256C2E2F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EE367666-2C3E-256E-30E5-E582641E18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3D617CB3-CA29-71F0-BD3D-19E16364DD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78D63690-4771-D0AA-BC1D-983156E30B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C146E74B-9554-809C-B85F-6D86E547D6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7C688E3B-AC4D-B9F0-DF28-D03C0918D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D1264C5E-337B-7709-369B-E15D3FD16D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1B08384C-22BA-944B-011F-BB84A0792E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58743A00-F283-8927-1B0F-0F4A53DC4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D1D766E4-E1A3-9B37-02BA-32E9BBBE5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E58C05CC-7CB9-4592-1F59-A4E9BCBEF1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34DBACE-D3DA-2C6E-354E-A9B6CB73A3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AE5E2A23-A88A-6ACD-3EC8-AEF893E864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7CC41F8C-FB40-77DB-C4B0-ACB847E27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FD17AD0F-462C-F5AF-E2C3-CA49738B67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777C7638-EB06-41B0-0EF5-1AE52D0386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2C791563-D680-D576-E6F8-85B7A6ED68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ABBF17CF-B034-043B-4A61-AEE7417114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18F244A2-496D-4FC0-A627-BE86AF0C35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801FD785-91A0-1A46-69BC-AB283F2409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0C9D5A2E-AC35-F58A-50BC-5677BAE25D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8FE7B1AA-8386-34E6-AAEE-7004DD24A9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5CFBEEF1-9DAE-DBB3-E32A-460C7D08E3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DE2EC2EF-FDEC-B027-8F31-6FC91D6739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5F827D35-F9D7-472B-416B-B8B271AF118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925821F-1421-3F67-7CE6-577D483B8E88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FBF3739F-8BC4-1264-4D5A-0F74A1B593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15F7B2D-0807-C994-1F5B-4C7EDC455E6F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6AB1EE3D-7E86-C787-EAB0-5BBC0EDA898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978B3D67-320E-DD99-D3C3-B58819A8D4CC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007CA358-FA7F-2331-57E6-3ECD0DF180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0280208-D3FD-F5D1-EB78-F80D9853E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B529B095-08FE-D5ED-CF97-215A22534E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77CDBE18-A5C4-3432-01D4-DD12A687AD0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1492B987-70D1-8C3C-D3BA-04F1FC92F4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569F726-C101-4E15-AE74-6A9A45F53C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58" r:id="rId2"/>
    <p:sldLayoutId id="2147483859" r:id="rId3"/>
    <p:sldLayoutId id="2147483860" r:id="rId4"/>
    <p:sldLayoutId id="2147483861" r:id="rId5"/>
    <p:sldLayoutId id="214748386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39AB244-2AC8-6239-9E16-1A9762953B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Introduction to Digital Speech Processing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4A1BB54F-9D35-DA9C-C1BA-7BAB64D66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9A53A12-1B27-826E-BB40-F8999C027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3C19FEF-5BE1-A64D-8C99-0F82F00DB0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The Speech Signal</a:t>
            </a:r>
          </a:p>
          <a:p>
            <a:r>
              <a:rPr lang="en-US" altLang="en-US" sz="2000"/>
              <a:t>The Speech Stack</a:t>
            </a:r>
          </a:p>
          <a:p>
            <a:r>
              <a:rPr lang="en-US" altLang="en-US" sz="2000"/>
              <a:t>Applications of Digital Speech Processing (DSP)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89FC53BE-0596-0F74-24C1-AF1D8FDC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CA136A-74B7-4E84-AE55-BF5438CD0DE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C9A66E0D-A0C6-3923-1EE5-3F5136733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3C6D4E9-9EAE-A322-C819-ECB8BC3C0A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Speech Signal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C741E086-A66A-0833-6578-0AA388766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91B0E7B2-AC63-3AFF-AB31-4283E8623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DC713DE2-B54C-954C-EFEE-61A4FCA9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5C3D77-ECBD-4246-9079-BCE52D030C2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10AE0B0-5C27-7520-CB86-E4A8788087A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What is Speech Signal?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070B455A-DFCD-ADAB-A2A2-061784C2E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D76F05A6-BEC3-9EB6-E451-0B4A3B224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317750"/>
            <a:ext cx="3821113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 speech signal is a time-varying waveform produced by human vocal organs during speech production.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signals exhibit complex frequency, intensity, and duration patterns, conveying linguistic information.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Phonemes, syllables, and prosodic features comprise speech signals' basic components.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0247" name="Picture 2">
            <a:extLst>
              <a:ext uri="{FF2B5EF4-FFF2-40B4-BE49-F238E27FC236}">
                <a16:creationId xmlns:a16="http://schemas.microsoft.com/office/drawing/2014/main" id="{87CA05A1-76DF-DE3D-4C70-2FC6FD979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2633663"/>
            <a:ext cx="4035425" cy="155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B1CBDC2B-6D3D-C4C7-61E3-9B32F2DC2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674B4141-FD9B-FDC1-F2D6-C5709B00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CED6A3-8C76-4519-8BB1-36A00F03A22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DEFD18A-2023-F4EF-DD40-AE79DFC612D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Production of Speech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0538061C-4B7E-A0E0-AE54-4069A0C42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Box 2">
            <a:extLst>
              <a:ext uri="{FF2B5EF4-FFF2-40B4-BE49-F238E27FC236}">
                <a16:creationId xmlns:a16="http://schemas.microsoft.com/office/drawing/2014/main" id="{C872A286-C522-9842-D8D5-BBC9ACEDC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3925888"/>
            <a:ext cx="76676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is produced by the movement of articulators (tongue, lips, vocal cords) in coordination with airflow from the lungs.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Articulators: Discuss the role of the tongue, palate, teeth, and lips in shaping speech sounds.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Explain how different speech sounds (consonants, vowels) are formed based on articulatory positions.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12295" name="Picture 3">
            <a:extLst>
              <a:ext uri="{FF2B5EF4-FFF2-40B4-BE49-F238E27FC236}">
                <a16:creationId xmlns:a16="http://schemas.microsoft.com/office/drawing/2014/main" id="{21444F54-3EDC-F49B-006D-7241B7864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308225"/>
            <a:ext cx="3081338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C39F954-0F6B-3553-AEC5-B9661C154E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744C882F-DB24-A73B-FA70-9284F2A97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F01961-43FB-4D7A-9221-814E75B229E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701BC29-C033-13F0-ED14-138D30C2B7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Acoustic Properties of Speech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E03C51D4-921F-F7D3-6B38-5C4B461F1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2">
            <a:extLst>
              <a:ext uri="{FF2B5EF4-FFF2-40B4-BE49-F238E27FC236}">
                <a16:creationId xmlns:a16="http://schemas.microsoft.com/office/drawing/2014/main" id="{86F3D612-C2E4-8D44-E335-6EBB94F4A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317750"/>
            <a:ext cx="73628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How is Speech Transmitted Acoustically?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is transmitted as pressure waves in the air, carrying information about sound frequency and amplitude.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Spectral Characteristics of Speech Sounds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Frequency spectrum analysis reveals distinct patterns for different speech sounds (formants and harmonics).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0086277-4965-48D2-73E0-3153CFB37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26FB61C9-A6D3-427D-B207-BBBCE0F53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4C5783-4420-4CD5-A8F0-7D1A74B65C0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638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D21A35C-A4EC-5760-4023-D9379F5AF66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Analog vs. Digital Speech</a:t>
            </a:r>
            <a:endParaRPr lang="vi-VN" altLang="en-US" sz="2000" b="1"/>
          </a:p>
        </p:txBody>
      </p:sp>
      <p:pic>
        <p:nvPicPr>
          <p:cNvPr id="16389" name="Picture 5">
            <a:extLst>
              <a:ext uri="{FF2B5EF4-FFF2-40B4-BE49-F238E27FC236}">
                <a16:creationId xmlns:a16="http://schemas.microsoft.com/office/drawing/2014/main" id="{200D0D96-9514-FA8E-B767-9594B3257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2">
            <a:extLst>
              <a:ext uri="{FF2B5EF4-FFF2-40B4-BE49-F238E27FC236}">
                <a16:creationId xmlns:a16="http://schemas.microsoft.com/office/drawing/2014/main" id="{892812EA-3A0A-E1D3-FD34-8451F20DE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2743200"/>
            <a:ext cx="2133600" cy="1676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Continuous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waveform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representing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natural speech</a:t>
            </a:r>
          </a:p>
        </p:txBody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16679661-615A-4C71-F7DD-8A4F08B55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2743200"/>
            <a:ext cx="3352800" cy="1676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Discrete-time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representation obtained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through sampling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and quantization</a:t>
            </a:r>
          </a:p>
        </p:txBody>
      </p:sp>
      <p:sp>
        <p:nvSpPr>
          <p:cNvPr id="16392" name="TextBox 2">
            <a:extLst>
              <a:ext uri="{FF2B5EF4-FFF2-40B4-BE49-F238E27FC236}">
                <a16:creationId xmlns:a16="http://schemas.microsoft.com/office/drawing/2014/main" id="{4B896B3F-9C68-C4CD-11CB-FD662328D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800600"/>
            <a:ext cx="7362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Advantages of Digital Speech Processing: </a:t>
            </a:r>
            <a:r>
              <a:rPr lang="en-US" altLang="en-US" sz="1800"/>
              <a:t>Robustness, ease of storage, and manipulation compared to analog signals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C97AA66-AF9E-8477-2196-5E9A279AF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31E4F59A-EA3D-C570-D190-5193874B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7EC203-1809-4AB5-8B2E-7F1A0FBAB6F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3D79AAF-7774-6444-8BCB-74CAC50AEB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Sampling and Quantization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1D6FAE58-F171-0BBB-1F7D-DB23D2F06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2">
            <a:extLst>
              <a:ext uri="{FF2B5EF4-FFF2-40B4-BE49-F238E27FC236}">
                <a16:creationId xmlns:a16="http://schemas.microsoft.com/office/drawing/2014/main" id="{E9E7CB22-077B-9198-71F0-D806E5B1A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3628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Sampling Process in Speech Processing: </a:t>
            </a:r>
            <a:r>
              <a:rPr lang="en-US" altLang="en-US" sz="1800"/>
              <a:t>Explain the Nyquist theorem and sampling rate selection for speech signals.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i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Quantization of Speech Signals: </a:t>
            </a:r>
            <a:r>
              <a:rPr lang="en-US" altLang="en-US" sz="1800"/>
              <a:t>Discuss A/D conversion and bit depth for digitizing speech signals.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Digital Representation of Speech: </a:t>
            </a:r>
            <a:r>
              <a:rPr lang="en-US" altLang="en-US" sz="1800"/>
              <a:t>Illustrate the concept of digital waveform using sampled speech examples.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B7FD16B-A5A0-EB8F-FFA1-796651685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42A444B5-202F-FC46-6384-7F3C59C5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8BA42A-D827-47AC-B07E-D7984346F6E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B7C4164-82B7-6851-381A-87DAD331A67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Feature Extraction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8FE69C09-6AAB-0D94-C41E-68FAE3693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2">
            <a:extLst>
              <a:ext uri="{FF2B5EF4-FFF2-40B4-BE49-F238E27FC236}">
                <a16:creationId xmlns:a16="http://schemas.microsoft.com/office/drawing/2014/main" id="{9FBB1568-CD08-D3CE-1606-D333C909F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36282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Importance of Feature Extraction in Speech Processing: Extract meaningful speech recognition and analysis features.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Common Features:</a:t>
            </a:r>
          </a:p>
          <a:p>
            <a:pPr lvl="1" algn="just">
              <a:spcBef>
                <a:spcPct val="0"/>
              </a:spcBef>
              <a:buClrTx/>
              <a:buSzTx/>
            </a:pPr>
            <a:r>
              <a:rPr lang="en-US" altLang="en-US" sz="1400"/>
              <a:t>Short-Time Energy: Measure signal energy in short-time frames.</a:t>
            </a:r>
          </a:p>
          <a:p>
            <a:pPr lvl="1" algn="just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 algn="just">
              <a:spcBef>
                <a:spcPct val="0"/>
              </a:spcBef>
              <a:buClrTx/>
              <a:buSzTx/>
            </a:pPr>
            <a:r>
              <a:rPr lang="en-US" altLang="en-US" sz="1400"/>
              <a:t>Zero Crossing Rate: Estimate pitch and voicing characteristics.</a:t>
            </a:r>
          </a:p>
          <a:p>
            <a:pPr lvl="1" algn="just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 algn="just">
              <a:spcBef>
                <a:spcPct val="0"/>
              </a:spcBef>
              <a:buClrTx/>
              <a:buSzTx/>
            </a:pPr>
            <a:r>
              <a:rPr lang="en-US" altLang="en-US" sz="1400"/>
              <a:t>Mel Frequency Cepstral Coefficients (MFCCs): Capture spectral characteristics for pattern recognition.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4759B61F-5B31-FF25-2541-322620865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CC58A0E0-31D1-DB5A-7515-62C8FB5A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677164-2C5A-4EC1-B32A-380FB1CD4C6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A23B444-E3D1-90E9-D97A-EE6272B354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Time-Frequency Analysis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ECB09222-18E0-4000-4C1C-E719ACA86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Box 2">
            <a:extLst>
              <a:ext uri="{FF2B5EF4-FFF2-40B4-BE49-F238E27FC236}">
                <a16:creationId xmlns:a16="http://schemas.microsoft.com/office/drawing/2014/main" id="{4FC7957B-6A9D-BAF0-EA69-010372A2C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3986212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Fourier Transform and its Role: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Explain how the Fourier Transform decomposes speech signals into frequency components.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Short-Time Fourier Transform (STFT):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Analyze speech signals in short-time segments to capture time-varying frequency information.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Spectrogram Representation of Speech: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Illustrate spectrogram as a 2D visualization of the time-frequency content of speech signals.</a:t>
            </a:r>
          </a:p>
        </p:txBody>
      </p:sp>
      <p:pic>
        <p:nvPicPr>
          <p:cNvPr id="22535" name="Picture 2">
            <a:extLst>
              <a:ext uri="{FF2B5EF4-FFF2-40B4-BE49-F238E27FC236}">
                <a16:creationId xmlns:a16="http://schemas.microsoft.com/office/drawing/2014/main" id="{872B2177-E54A-4631-69DF-9937C54D1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700" y="2362200"/>
            <a:ext cx="32258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02493F3-90F4-2480-DAE8-2463AC2A9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Signal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1EB518D4-AB22-1F58-B547-121A7D88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4D0D6F-2D68-4629-A4AA-6F1DC2EF42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F2B1E22-BA74-CD2D-E8FA-1E772F1866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Challenges in Digital Speech Processing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848019BA-3E1C-9C7D-3DB2-D7DEEB924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2">
            <a:extLst>
              <a:ext uri="{FF2B5EF4-FFF2-40B4-BE49-F238E27FC236}">
                <a16:creationId xmlns:a16="http://schemas.microsoft.com/office/drawing/2014/main" id="{3CEA8FA3-FA4D-A89E-2426-827B9D5B7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213" y="2479675"/>
            <a:ext cx="4214812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Noise and Distortion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Impacts speech quality and intelligibility.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Variability in Speech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Differences in accents, speaking rate, and style.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1"/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Speaker and Language Variations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Adaptation to different speakers and languages.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155229-B25D-7A4E-E9CC-7FBC6963EA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Speech Stack</a:t>
            </a:r>
          </a:p>
        </p:txBody>
      </p:sp>
      <p:pic>
        <p:nvPicPr>
          <p:cNvPr id="26627" name="Picture 3">
            <a:extLst>
              <a:ext uri="{FF2B5EF4-FFF2-40B4-BE49-F238E27FC236}">
                <a16:creationId xmlns:a16="http://schemas.microsoft.com/office/drawing/2014/main" id="{D9D6833C-1B96-A155-CDA5-E6985CE82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7A474054-00E8-F694-2C0A-1FA37CA58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71FEA9BF-BEC6-9D69-0A79-30CA3B96F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19D92B-020D-4E21-A197-8B2ACF4F62C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AB52189-B31F-22CF-E852-2158F217F4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Components of the Speech Stack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EB66B790-39D6-92C5-03E0-1761996D4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Box 2">
            <a:extLst>
              <a:ext uri="{FF2B5EF4-FFF2-40B4-BE49-F238E27FC236}">
                <a16:creationId xmlns:a16="http://schemas.microsoft.com/office/drawing/2014/main" id="{2F60E5F9-8C00-02B0-49DE-0FCD6D507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speech stack represents the layers of processing involved in handling speech signals from acquisition to interpretation.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signal acquisition, preprocessing, feature extraction, speech recognition, language understanding, speech synthesis, and post-processing.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98D57D9-8F64-35B0-C9EB-A5902F36E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E8B97EE4-DACE-E041-CAE4-8D3D77201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12898D-8A94-477E-8967-9F7AFE14778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EA64B1D-C351-6EFA-E4AC-560B744144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Speech Signal Acquisition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3CAAF858-7C14-52D8-E24E-3A5DEAC2F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Box 2">
            <a:extLst>
              <a:ext uri="{FF2B5EF4-FFF2-40B4-BE49-F238E27FC236}">
                <a16:creationId xmlns:a16="http://schemas.microsoft.com/office/drawing/2014/main" id="{44F338F9-5922-0B71-004A-035CD0A3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Role of Speech Signal Acquisition in the Speech Stack:</a:t>
            </a:r>
            <a:r>
              <a:rPr lang="en-US" altLang="en-US" sz="1800"/>
              <a:t> The first step involves capturing speech signals using microphones or sensors.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Microphones and Sensor Technologies:</a:t>
            </a:r>
            <a:r>
              <a:rPr lang="en-US" altLang="en-US" sz="1800"/>
              <a:t> Types of microphones (e.g., condenser, dynamic) and their suitability for different applications.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Preprocessing Steps:</a:t>
            </a:r>
            <a:r>
              <a:rPr lang="en-US" altLang="en-US" sz="1800"/>
              <a:t> Noise reduction techniques, signal amplification, and filtering to enhance signal quality.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5083D8D-7871-AD9C-1FA4-E7B05434F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617FA02A-6956-80D2-08D7-75838B77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B2DDCD-75D5-4EAD-8FC0-D04C831C0DB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6165631-D718-6F97-953D-8CE72F9A50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Language Understanding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9611ED5A-AB1D-1DF6-DEE4-508F57211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5A414B0-50FB-632C-1B91-AEDAD3BA7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0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/>
              <a:t>Natural Language Processing (NLP) in the Speech Stack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 b="1"/>
              <a:t>Syntax and Semantics Processing:</a:t>
            </a:r>
            <a:r>
              <a:rPr lang="en-US" altLang="en-US" sz="1800"/>
              <a:t> Parsing speech into meaningful language constructs.</a:t>
            </a:r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 b="1"/>
              <a:t>Contextual Understanding and Dialog Management:</a:t>
            </a:r>
            <a:r>
              <a:rPr lang="en-US" altLang="en-US" sz="1800"/>
              <a:t> Interpreting user intents and maintaining conversation context.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030C5EA-CDFD-E45B-060C-82E8F4EA9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934D8282-41D9-FFD0-0E01-E5D3BF27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5E683C-D2AA-4AAB-8CF8-556462EA4F2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564AC0-1D49-9830-AF02-D71E188DF2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Speech Signal Acquisition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B76F54A0-BE9A-64BD-371F-F80AF9C72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TextBox 2">
            <a:extLst>
              <a:ext uri="{FF2B5EF4-FFF2-40B4-BE49-F238E27FC236}">
                <a16:creationId xmlns:a16="http://schemas.microsoft.com/office/drawing/2014/main" id="{D0BC8B43-1BA1-75CF-80F4-A8A3B7580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Role of Speech Signal Acquisition in the Speech Stack:</a:t>
            </a:r>
            <a:r>
              <a:rPr lang="en-US" altLang="en-US" sz="1800"/>
              <a:t> The first step involves capturing speech signals using microphones or sensors.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Microphones and Sensor Technologies:</a:t>
            </a:r>
            <a:r>
              <a:rPr lang="en-US" altLang="en-US" sz="1800"/>
              <a:t> Types of microphones (e.g., condenser, dynamic) and their suitability for different applications.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Preprocessing Steps:</a:t>
            </a:r>
            <a:r>
              <a:rPr lang="en-US" altLang="en-US" sz="1800"/>
              <a:t> Noise reduction techniques, signal amplification, and filtering to enhance signal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337D9E16-1BF9-8681-27CF-83051118F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06F18FBB-8D9D-C615-4286-2962F7D5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76CECC-F6E3-4206-B958-68B8BC55700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686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09288DF-4A8B-52D6-B92B-A0EEDC5A858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 Speech Synthesis</a:t>
            </a:r>
            <a:endParaRPr lang="vi-VN" altLang="en-US" sz="2000" b="1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EEBB508E-ABE1-5559-5966-BBED71A64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TextBox 2">
            <a:extLst>
              <a:ext uri="{FF2B5EF4-FFF2-40B4-BE49-F238E27FC236}">
                <a16:creationId xmlns:a16="http://schemas.microsoft.com/office/drawing/2014/main" id="{115B6CA9-2C13-61AD-8AB4-FEAF28368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Basics of Speech Synthesis: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        </a:t>
            </a:r>
            <a:r>
              <a:rPr lang="en-US" altLang="en-US" sz="1800"/>
              <a:t>Techniques for generating speech from text or phonetic input.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Text-to-Speech (TTS) Techniques: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Concatenative Synthesis: Joining pre-recorded speech segments.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Parametric Synthesis (e.g., formant-based): Generating speech from vocal tract modeling.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75284DAC-8BEA-2464-C4B3-2C61ACD50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Speech Stack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2CB35603-5DB3-7D81-387E-936AA00D1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5D95F3-88E6-4550-9B01-21EF6C699FC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B1B36A0-8122-082C-949E-BD7DD5F06B7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Enhancement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B33F53D8-79CB-1D18-7917-63CCB7A51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TextBox 2">
            <a:extLst>
              <a:ext uri="{FF2B5EF4-FFF2-40B4-BE49-F238E27FC236}">
                <a16:creationId xmlns:a16="http://schemas.microsoft.com/office/drawing/2014/main" id="{DEE881ED-D016-C21B-2EC4-9CA0E4427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696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Beamforming: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Focusing on the desired speech signal while suppressing noise.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Echo Cancellation: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Removing echo artifacts in speech signals.</a:t>
            </a:r>
          </a:p>
        </p:txBody>
      </p:sp>
      <p:pic>
        <p:nvPicPr>
          <p:cNvPr id="38919" name="Picture 2">
            <a:extLst>
              <a:ext uri="{FF2B5EF4-FFF2-40B4-BE49-F238E27FC236}">
                <a16:creationId xmlns:a16="http://schemas.microsoft.com/office/drawing/2014/main" id="{799ADC5B-544F-E82D-E5E3-07C9C4BF0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3962400"/>
            <a:ext cx="4854575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9503B64-AAB2-50DD-1D80-C19E34E03B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Applications of DSP</a:t>
            </a:r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id="{A06AD290-5DDB-84EC-F452-64ACCA4D8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09F081D7-DE91-2EE6-71E4-F47EACF511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84C63474-E30B-5D8E-9681-20B38267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6C39F3-F8F5-4878-B388-9E48A3E45B4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F0DAE90-3039-9365-D56D-894C5BCB709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Voice Biometrics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70B4F6BE-A837-E74A-7A8C-07FAC823B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AF2CF4FF-5823-444A-9CAC-919655BEA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4214812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Definition and Role of Voice Biometrics: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Voice biometrics uses unique vocal characteristics for identity verification and authentication.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Speaker Identification and Verification: Verifying an individual's identity based on voice patterns.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Secure Access Control (Voice-based Authentication): Enhancing security by using voiceprints for user authentication.</a:t>
            </a:r>
          </a:p>
        </p:txBody>
      </p:sp>
      <p:grpSp>
        <p:nvGrpSpPr>
          <p:cNvPr id="43015" name="Group 6">
            <a:extLst>
              <a:ext uri="{FF2B5EF4-FFF2-40B4-BE49-F238E27FC236}">
                <a16:creationId xmlns:a16="http://schemas.microsoft.com/office/drawing/2014/main" id="{A1849059-CAB5-9837-9D6C-4F286D808141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2514600"/>
            <a:ext cx="3386137" cy="2349500"/>
            <a:chOff x="5147822" y="2514600"/>
            <a:chExt cx="3386578" cy="2349662"/>
          </a:xfrm>
        </p:grpSpPr>
        <p:pic>
          <p:nvPicPr>
            <p:cNvPr id="43016" name="Picture 3">
              <a:extLst>
                <a:ext uri="{FF2B5EF4-FFF2-40B4-BE49-F238E27FC236}">
                  <a16:creationId xmlns:a16="http://schemas.microsoft.com/office/drawing/2014/main" id="{9E9D781E-202C-38DE-7AA3-6FB0493DF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7822" y="2514600"/>
              <a:ext cx="3386578" cy="2349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7" name="Rectangle 5">
              <a:extLst>
                <a:ext uri="{FF2B5EF4-FFF2-40B4-BE49-F238E27FC236}">
                  <a16:creationId xmlns:a16="http://schemas.microsoft.com/office/drawing/2014/main" id="{FADDD636-C261-4814-0A5D-720972303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822" y="4495800"/>
              <a:ext cx="795778" cy="304800"/>
            </a:xfrm>
            <a:prstGeom prst="rect">
              <a:avLst/>
            </a:prstGeom>
            <a:solidFill>
              <a:srgbClr val="0C1B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q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A0F3B19D-0848-7691-2CD8-F4DB3982B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A3633E6D-8F96-9A8D-0715-566ED1E9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75B4F8-0C02-43C6-B308-EBBC8252E02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A19B70-9C5B-C2B3-71AF-E1F51B60AF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Automatic Subtitling and Captioning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BA63327F-D165-E675-4E1D-432905DA6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2">
            <a:extLst>
              <a:ext uri="{FF2B5EF4-FFF2-40B4-BE49-F238E27FC236}">
                <a16:creationId xmlns:a16="http://schemas.microsoft.com/office/drawing/2014/main" id="{013F9CD1-DA01-441C-B414-FFC8CF37E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186612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Importance of Automatic Subtitling: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Providing textual representation of spoken content for accessibility and comprehension.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Broadcasting (TV, Films): Adding subtitles for viewers with hearing impairments or language barriers.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Online Video Content (YouTube, Streaming Platforms): Enhancing the accessibility of online videos with automated captions.</a:t>
            </a:r>
            <a:endParaRPr lang="en-US" altLang="en-US" sz="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A07E0E3E-BCB9-426D-58F2-1C8FE5204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9782739A-D361-B480-B0D4-A751FA69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554278-15B9-41A3-9016-C4810C0DB26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3464AA9-7752-3350-64A6-B4A5C64A84E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Language Translation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AF39C2C6-9C21-74BD-A073-DD9CB91F7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Box 2">
            <a:extLst>
              <a:ext uri="{FF2B5EF4-FFF2-40B4-BE49-F238E27FC236}">
                <a16:creationId xmlns:a16="http://schemas.microsoft.com/office/drawing/2014/main" id="{D92143E5-D542-BC40-B849-DC60EDD4A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4672012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Speech-to-Speech Translation Technologies: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Advanced systems that translate spoken language from one language to another in real time.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Multilingual Communication: Facilitating cross-language communication without human interpreters.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Real-Time Translation Services: Enabling travelers, business professionals, and international users to communicate effectively.</a:t>
            </a:r>
            <a:endParaRPr lang="en-US" altLang="en-US" sz="1000"/>
          </a:p>
        </p:txBody>
      </p:sp>
      <p:pic>
        <p:nvPicPr>
          <p:cNvPr id="47111" name="Picture 2">
            <a:extLst>
              <a:ext uri="{FF2B5EF4-FFF2-40B4-BE49-F238E27FC236}">
                <a16:creationId xmlns:a16="http://schemas.microsoft.com/office/drawing/2014/main" id="{4590C4A6-E435-92D9-F84B-19B3ABF7A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3505200"/>
            <a:ext cx="2990850" cy="194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37065855-1843-C8E5-295C-798DCEAD67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532027A3-BA73-7175-AD26-1287959C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4B1FC2-2A70-4B48-8EB8-78D1D342D1D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CE1D65D-DDCF-BCD5-90D9-A67009ED6D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Analytics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592DAC45-AECD-AFC2-B2D2-9D8B65268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2">
            <a:extLst>
              <a:ext uri="{FF2B5EF4-FFF2-40B4-BE49-F238E27FC236}">
                <a16:creationId xmlns:a16="http://schemas.microsoft.com/office/drawing/2014/main" id="{CA7B678C-846F-1896-41C6-3772F677A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362200"/>
            <a:ext cx="7186612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Speech Analytics: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Using speech processing techniques to analyze and derive insights from spoken data.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Customer Call Center Analysis: Monitoring customer-agent interactions for quality assurance and customer experience improvement.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Market Research and Sentiment Analysis: Analyzing customer feedback and sentiment expressed in spoken language.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Quality Assurance and Compliance Monitoring: Ensuring adherence to regulations and standards in communications.</a:t>
            </a:r>
            <a:endParaRPr lang="en-US" altLang="en-US" sz="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8E182E95-0B29-1044-6341-E27AAE5D65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5695E557-3011-4FC4-D1E9-592B9065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76E1FD-8843-4ECB-90B4-BA06557D758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37CEEDC-B4AE-D414-B19B-45A2AE5ECF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Healthcare Applications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92E5A755-EC9E-0271-BA8E-A6CB35EDD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2">
            <a:extLst>
              <a:ext uri="{FF2B5EF4-FFF2-40B4-BE49-F238E27FC236}">
                <a16:creationId xmlns:a16="http://schemas.microsoft.com/office/drawing/2014/main" id="{991F7B07-FA7C-5F8B-10BF-8364A2953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171700"/>
            <a:ext cx="718661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Use of Digital Speech Processing in Healthcare: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Enabling innovative solutions for patient care and diagnostics.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Telemedicine and Remote Patient Monitoring: Facilitating remote consultations and health monitoring using speech technology.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Speech Therapy and Rehabilitation: Supporting speech and language rehabilitation through interactive tools and feedback systems.</a:t>
            </a:r>
            <a:endParaRPr lang="en-US" altLang="en-US" sz="100"/>
          </a:p>
        </p:txBody>
      </p:sp>
      <p:pic>
        <p:nvPicPr>
          <p:cNvPr id="51207" name="Picture 2">
            <a:extLst>
              <a:ext uri="{FF2B5EF4-FFF2-40B4-BE49-F238E27FC236}">
                <a16:creationId xmlns:a16="http://schemas.microsoft.com/office/drawing/2014/main" id="{0BF2F1A3-E019-5583-00CC-9F7888498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25925"/>
            <a:ext cx="5524500" cy="224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59C3DA4A-1DEA-5868-4E72-C520ECC99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CE52D10C-F880-4923-3E02-04817F3E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451FD4-1DED-421D-8F8B-6101F39E9F6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3BAE05-2F56-F0C8-AF9D-4594B39908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Educational Tools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804C1DF4-E724-353C-9BAB-8A7A9E29D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Box 2">
            <a:extLst>
              <a:ext uri="{FF2B5EF4-FFF2-40B4-BE49-F238E27FC236}">
                <a16:creationId xmlns:a16="http://schemas.microsoft.com/office/drawing/2014/main" id="{8A5D3409-FABB-9CC6-DDD9-638B263C1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590800"/>
            <a:ext cx="7720012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Role of Speech Technology in Education: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Enhancing learning experiences and accessibility.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Language Learning and Pronunciation Practice: Providing feedback on pronunciation and language skills.</a:t>
            </a:r>
          </a:p>
          <a:p>
            <a:pPr lvl="1">
              <a:spcBef>
                <a:spcPct val="0"/>
              </a:spcBef>
              <a:buClrTx/>
              <a:buSzTx/>
            </a:pPr>
            <a:endParaRPr lang="en-US" altLang="en-US" sz="1400"/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Interactive Learning Platforms: Engaging students with voice-enabled interactive exercises and assessments.</a:t>
            </a:r>
            <a:endParaRPr lang="en-US" altLang="en-US" sz="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F0077AB-D34B-B6CA-8351-5E4BAF936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Applications of DSP</a:t>
            </a:r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BD6E8D30-E72B-A6D8-9ACF-80F727DC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CAD41-5035-4659-87A6-B32B9BAEAE2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5530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82B22E1-F357-F10A-FF62-8332BF7058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Automotive Speech Interfaces</a:t>
            </a:r>
            <a:endParaRPr lang="vi-VN" altLang="en-US" sz="2000" b="1"/>
          </a:p>
        </p:txBody>
      </p:sp>
      <p:pic>
        <p:nvPicPr>
          <p:cNvPr id="55301" name="Picture 5">
            <a:extLst>
              <a:ext uri="{FF2B5EF4-FFF2-40B4-BE49-F238E27FC236}">
                <a16:creationId xmlns:a16="http://schemas.microsoft.com/office/drawing/2014/main" id="{988627FE-C65C-BDA9-58E6-943891C6D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Box 2">
            <a:extLst>
              <a:ext uri="{FF2B5EF4-FFF2-40B4-BE49-F238E27FC236}">
                <a16:creationId xmlns:a16="http://schemas.microsoft.com/office/drawing/2014/main" id="{369162CC-AF1F-594B-2B92-0BC2B35AB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2209800"/>
            <a:ext cx="772001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Integration of Speech Technology in Vehicles: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Hands-free controls and voice-activated features for driver convenience and safety.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Applications: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400"/>
              <a:t>Hands-Free Controls for Navigation, Entertainment, and Communication: Allowing drivers to operate car systems without manual input.</a:t>
            </a:r>
            <a:endParaRPr lang="en-US" altLang="en-US" sz="100"/>
          </a:p>
        </p:txBody>
      </p:sp>
      <p:pic>
        <p:nvPicPr>
          <p:cNvPr id="55303" name="Picture 2">
            <a:extLst>
              <a:ext uri="{FF2B5EF4-FFF2-40B4-BE49-F238E27FC236}">
                <a16:creationId xmlns:a16="http://schemas.microsoft.com/office/drawing/2014/main" id="{3AEEBBDA-48B5-E4A9-BC8D-A45E85753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13" y="3962400"/>
            <a:ext cx="4905375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AAE9DBCE-EED3-0C99-4055-1E7E52CA2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6705600" cy="609600"/>
          </a:xfrm>
        </p:spPr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57347" name="Slide Number Placeholder 6">
            <a:extLst>
              <a:ext uri="{FF2B5EF4-FFF2-40B4-BE49-F238E27FC236}">
                <a16:creationId xmlns:a16="http://schemas.microsoft.com/office/drawing/2014/main" id="{00460A22-6B3B-D507-684B-95B470C1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4E6C76-E3DD-4F99-8C23-EFCB86D52F9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pic>
        <p:nvPicPr>
          <p:cNvPr id="57348" name="Picture 3">
            <a:extLst>
              <a:ext uri="{FF2B5EF4-FFF2-40B4-BE49-F238E27FC236}">
                <a16:creationId xmlns:a16="http://schemas.microsoft.com/office/drawing/2014/main" id="{3C0860DB-5AB9-176E-69AB-463CFF8F8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10D276F7-D219-F8E5-9AAE-6EED9747C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1981200"/>
            <a:ext cx="7720012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0287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The Speech Signal: </a:t>
            </a:r>
            <a:r>
              <a:rPr lang="en-US" altLang="en-US" sz="1800"/>
              <a:t>Overview of speech production, transmission, and time-frequency representations.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The Speech Stack: </a:t>
            </a:r>
            <a:r>
              <a:rPr lang="en-US" altLang="en-US" sz="1800"/>
              <a:t>Layered architecture for speech processing, including signal processing, feature extraction, and pattern recognition.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Applications of DSP: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Speech Recognition: Converting spoken language into text.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Speech Synthesis: Generating speech from text.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Speech Enhancement: Improving clarity in noisy environments.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/>
              <a:t>Speaker Identification: Used in security and personalization.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00"/>
          </a:p>
        </p:txBody>
      </p:sp>
    </p:spTree>
    <p:extLst>
      <p:ext uri="{BB962C8B-B14F-4D97-AF65-F5344CB8AC3E}">
        <p14:creationId xmlns:p14="http://schemas.microsoft.com/office/powerpoint/2010/main" val="2063547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AAE9DBCE-EED3-0C99-4055-1E7E52CA2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57347" name="Slide Number Placeholder 6">
            <a:extLst>
              <a:ext uri="{FF2B5EF4-FFF2-40B4-BE49-F238E27FC236}">
                <a16:creationId xmlns:a16="http://schemas.microsoft.com/office/drawing/2014/main" id="{00460A22-6B3B-D507-684B-95B470C1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4E6C76-E3DD-4F99-8C23-EFCB86D52F9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400"/>
          </a:p>
        </p:txBody>
      </p:sp>
      <p:pic>
        <p:nvPicPr>
          <p:cNvPr id="57348" name="Picture 3">
            <a:extLst>
              <a:ext uri="{FF2B5EF4-FFF2-40B4-BE49-F238E27FC236}">
                <a16:creationId xmlns:a16="http://schemas.microsoft.com/office/drawing/2014/main" id="{3C0860DB-5AB9-176E-69AB-463CFF8F8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1384</TotalTime>
  <Words>1290</Words>
  <Application>Microsoft Office PowerPoint</Application>
  <PresentationFormat>On-screen Show (4:3)</PresentationFormat>
  <Paragraphs>246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Tahoma</vt:lpstr>
      <vt:lpstr>Times New Roman</vt:lpstr>
      <vt:lpstr>Wingdings</vt:lpstr>
      <vt:lpstr>Blueprint</vt:lpstr>
      <vt:lpstr>Introduction to Digital Speech Processing</vt:lpstr>
      <vt:lpstr>Contents</vt:lpstr>
      <vt:lpstr>Speech Signal</vt:lpstr>
      <vt:lpstr>The Speech Signal</vt:lpstr>
      <vt:lpstr>The Speech Signal</vt:lpstr>
      <vt:lpstr>The Speech Signal</vt:lpstr>
      <vt:lpstr>The Speech Signal</vt:lpstr>
      <vt:lpstr>The Speech Signal</vt:lpstr>
      <vt:lpstr>The Speech Signal</vt:lpstr>
      <vt:lpstr>The Speech Signal</vt:lpstr>
      <vt:lpstr>The Speech Signal</vt:lpstr>
      <vt:lpstr>Speech Stack</vt:lpstr>
      <vt:lpstr>The Speech Stack</vt:lpstr>
      <vt:lpstr>The Speech Stack</vt:lpstr>
      <vt:lpstr>The Speech Stack</vt:lpstr>
      <vt:lpstr>The Speech Stack</vt:lpstr>
      <vt:lpstr>The Speech Stack</vt:lpstr>
      <vt:lpstr>The Speech Stack</vt:lpstr>
      <vt:lpstr>Applications of DSP</vt:lpstr>
      <vt:lpstr>Applications of DSP</vt:lpstr>
      <vt:lpstr>Applications of DSP</vt:lpstr>
      <vt:lpstr>Applications of DSP</vt:lpstr>
      <vt:lpstr>Applications of DSP</vt:lpstr>
      <vt:lpstr>Applications of DSP</vt:lpstr>
      <vt:lpstr>Applications of DSP</vt:lpstr>
      <vt:lpstr>Applications of DSP</vt:lpstr>
      <vt:lpstr>Summary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104</cp:revision>
  <dcterms:created xsi:type="dcterms:W3CDTF">2022-10-28T07:26:15Z</dcterms:created>
  <dcterms:modified xsi:type="dcterms:W3CDTF">2024-08-29T09:01:50Z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