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wma" ContentType="audio/x-ms-wma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2" r:id="rId1"/>
  </p:sldMasterIdLst>
  <p:notesMasterIdLst>
    <p:notesMasterId r:id="rId124"/>
  </p:notesMasterIdLst>
  <p:sldIdLst>
    <p:sldId id="256" r:id="rId2"/>
    <p:sldId id="295" r:id="rId3"/>
    <p:sldId id="311" r:id="rId4"/>
    <p:sldId id="325" r:id="rId5"/>
    <p:sldId id="318" r:id="rId6"/>
    <p:sldId id="319" r:id="rId7"/>
    <p:sldId id="320" r:id="rId8"/>
    <p:sldId id="321" r:id="rId9"/>
    <p:sldId id="322" r:id="rId10"/>
    <p:sldId id="312" r:id="rId11"/>
    <p:sldId id="301" r:id="rId12"/>
    <p:sldId id="304" r:id="rId13"/>
    <p:sldId id="308" r:id="rId14"/>
    <p:sldId id="323" r:id="rId15"/>
    <p:sldId id="324" r:id="rId16"/>
    <p:sldId id="326" r:id="rId17"/>
    <p:sldId id="327" r:id="rId18"/>
    <p:sldId id="328" r:id="rId19"/>
    <p:sldId id="329" r:id="rId20"/>
    <p:sldId id="330" r:id="rId21"/>
    <p:sldId id="331" r:id="rId22"/>
    <p:sldId id="334" r:id="rId23"/>
    <p:sldId id="260" r:id="rId24"/>
    <p:sldId id="313" r:id="rId25"/>
    <p:sldId id="261" r:id="rId26"/>
    <p:sldId id="336" r:id="rId27"/>
    <p:sldId id="476" r:id="rId28"/>
    <p:sldId id="477" r:id="rId29"/>
    <p:sldId id="337" r:id="rId30"/>
    <p:sldId id="310" r:id="rId31"/>
    <p:sldId id="346" r:id="rId32"/>
    <p:sldId id="338" r:id="rId33"/>
    <p:sldId id="339" r:id="rId34"/>
    <p:sldId id="340" r:id="rId35"/>
    <p:sldId id="341" r:id="rId36"/>
    <p:sldId id="343" r:id="rId37"/>
    <p:sldId id="344" r:id="rId38"/>
    <p:sldId id="345" r:id="rId39"/>
    <p:sldId id="349" r:id="rId40"/>
    <p:sldId id="471" r:id="rId41"/>
    <p:sldId id="478" r:id="rId42"/>
    <p:sldId id="479" r:id="rId43"/>
    <p:sldId id="485" r:id="rId44"/>
    <p:sldId id="480" r:id="rId45"/>
    <p:sldId id="481" r:id="rId46"/>
    <p:sldId id="482" r:id="rId47"/>
    <p:sldId id="483" r:id="rId48"/>
    <p:sldId id="484" r:id="rId49"/>
    <p:sldId id="487" r:id="rId50"/>
    <p:sldId id="486" r:id="rId51"/>
    <p:sldId id="475" r:id="rId52"/>
    <p:sldId id="350" r:id="rId53"/>
    <p:sldId id="351" r:id="rId54"/>
    <p:sldId id="488" r:id="rId55"/>
    <p:sldId id="489" r:id="rId56"/>
    <p:sldId id="490" r:id="rId57"/>
    <p:sldId id="491" r:id="rId58"/>
    <p:sldId id="492" r:id="rId59"/>
    <p:sldId id="493" r:id="rId60"/>
    <p:sldId id="352" r:id="rId61"/>
    <p:sldId id="353" r:id="rId62"/>
    <p:sldId id="367" r:id="rId63"/>
    <p:sldId id="368" r:id="rId64"/>
    <p:sldId id="354" r:id="rId65"/>
    <p:sldId id="355" r:id="rId66"/>
    <p:sldId id="469" r:id="rId67"/>
    <p:sldId id="470" r:id="rId68"/>
    <p:sldId id="358" r:id="rId69"/>
    <p:sldId id="359" r:id="rId70"/>
    <p:sldId id="361" r:id="rId71"/>
    <p:sldId id="369" r:id="rId72"/>
    <p:sldId id="370" r:id="rId73"/>
    <p:sldId id="371" r:id="rId74"/>
    <p:sldId id="455" r:id="rId75"/>
    <p:sldId id="372" r:id="rId76"/>
    <p:sldId id="373" r:id="rId77"/>
    <p:sldId id="374" r:id="rId78"/>
    <p:sldId id="429" r:id="rId79"/>
    <p:sldId id="430" r:id="rId80"/>
    <p:sldId id="431" r:id="rId81"/>
    <p:sldId id="453" r:id="rId82"/>
    <p:sldId id="432" r:id="rId83"/>
    <p:sldId id="433" r:id="rId84"/>
    <p:sldId id="434" r:id="rId85"/>
    <p:sldId id="435" r:id="rId86"/>
    <p:sldId id="436" r:id="rId87"/>
    <p:sldId id="437" r:id="rId88"/>
    <p:sldId id="438" r:id="rId89"/>
    <p:sldId id="439" r:id="rId90"/>
    <p:sldId id="454" r:id="rId91"/>
    <p:sldId id="440" r:id="rId92"/>
    <p:sldId id="457" r:id="rId93"/>
    <p:sldId id="441" r:id="rId94"/>
    <p:sldId id="442" r:id="rId95"/>
    <p:sldId id="458" r:id="rId96"/>
    <p:sldId id="443" r:id="rId97"/>
    <p:sldId id="444" r:id="rId98"/>
    <p:sldId id="446" r:id="rId99"/>
    <p:sldId id="468" r:id="rId100"/>
    <p:sldId id="464" r:id="rId101"/>
    <p:sldId id="465" r:id="rId102"/>
    <p:sldId id="466" r:id="rId103"/>
    <p:sldId id="467" r:id="rId104"/>
    <p:sldId id="447" r:id="rId105"/>
    <p:sldId id="448" r:id="rId106"/>
    <p:sldId id="459" r:id="rId107"/>
    <p:sldId id="449" r:id="rId108"/>
    <p:sldId id="417" r:id="rId109"/>
    <p:sldId id="418" r:id="rId110"/>
    <p:sldId id="419" r:id="rId111"/>
    <p:sldId id="421" r:id="rId112"/>
    <p:sldId id="422" r:id="rId113"/>
    <p:sldId id="423" r:id="rId114"/>
    <p:sldId id="424" r:id="rId115"/>
    <p:sldId id="425" r:id="rId116"/>
    <p:sldId id="426" r:id="rId117"/>
    <p:sldId id="427" r:id="rId118"/>
    <p:sldId id="428" r:id="rId119"/>
    <p:sldId id="262" r:id="rId120"/>
    <p:sldId id="265" r:id="rId121"/>
    <p:sldId id="494" r:id="rId122"/>
    <p:sldId id="495" r:id="rId123"/>
  </p:sldIdLst>
  <p:sldSz cx="12192000" cy="6858000"/>
  <p:notesSz cx="6858000" cy="9144000"/>
  <p:custDataLst>
    <p:tags r:id="rId1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2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7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03T21:15:37.391" idx="1">
    <p:pos x="6906" y="1470"/>
    <p:text>thang 9 thi doc KU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03T21:29:46.740" idx="2">
    <p:pos x="5703" y="3819"/>
    <p:text>quan trọng</p:text>
    <p:extLst>
      <p:ext uri="{C676402C-5697-4E1C-873F-D02D1690AC5C}">
        <p15:threadingInfo xmlns:p15="http://schemas.microsoft.com/office/powerpoint/2012/main" timeZoneBias="-42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768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248.54369" units="1/cm"/>
          <inkml:channelProperty channel="Y" name="resolution" value="124.85549" units="1/cm"/>
          <inkml:channelProperty channel="T" name="resolution" value="1" units="1/dev"/>
        </inkml:channelProperties>
      </inkml:inkSource>
      <inkml:timestamp xml:id="ts0" timeString="2022-02-15T04:54:09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10706 2110 0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CD254-CFE3-4041-AD7B-F691019FA452}" type="datetimeFigureOut">
              <a:rPr kumimoji="1" lang="ja-JP" altLang="en-US" smtClean="0"/>
              <a:t>2023/7/24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74CD3-EAA7-4665-91A7-3A51653CF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31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D159-BDB8-4A99-8994-41018BDF55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18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場面：友達と町を歩いています。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5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場面：友達と町を歩いています。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36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92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Giáo</a:t>
            </a:r>
            <a:r>
              <a:rPr lang="en-US" baseline="0" dirty="0"/>
              <a:t> </a:t>
            </a:r>
            <a:r>
              <a:rPr lang="en-US" baseline="0" dirty="0" err="1"/>
              <a:t>viên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đoán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ảnh</a:t>
            </a:r>
            <a:r>
              <a:rPr lang="en-US" baseline="0" dirty="0"/>
              <a:t> </a:t>
            </a:r>
            <a:r>
              <a:rPr lang="en-US" baseline="0" dirty="0" err="1"/>
              <a:t>trước</a:t>
            </a:r>
            <a:r>
              <a:rPr lang="en-US" baseline="0" dirty="0"/>
              <a:t>, </a:t>
            </a:r>
            <a:r>
              <a:rPr lang="en-US" baseline="0" dirty="0" err="1"/>
              <a:t>gợi</a:t>
            </a:r>
            <a:r>
              <a:rPr lang="en-US" baseline="0" dirty="0"/>
              <a:t> ý </a:t>
            </a:r>
            <a:r>
              <a:rPr lang="en-US" baseline="0" dirty="0" err="1"/>
              <a:t>tình</a:t>
            </a:r>
            <a:r>
              <a:rPr lang="en-US" baseline="0" dirty="0"/>
              <a:t> </a:t>
            </a:r>
            <a:r>
              <a:rPr lang="en-US" baseline="0" dirty="0" err="1"/>
              <a:t>huống</a:t>
            </a:r>
            <a:r>
              <a:rPr lang="en-US" baseline="0" dirty="0"/>
              <a:t> </a:t>
            </a:r>
            <a:r>
              <a:rPr lang="en-US" baseline="0" dirty="0" err="1"/>
              <a:t>rồi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sv</a:t>
            </a:r>
            <a:r>
              <a:rPr lang="en-US" baseline="0" dirty="0"/>
              <a:t> </a:t>
            </a:r>
            <a:r>
              <a:rPr lang="en-US" baseline="0" dirty="0" err="1"/>
              <a:t>nghe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4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Giáo</a:t>
            </a:r>
            <a:r>
              <a:rPr lang="en-US" baseline="0" dirty="0"/>
              <a:t> </a:t>
            </a:r>
            <a:r>
              <a:rPr lang="en-US" baseline="0" dirty="0" err="1"/>
              <a:t>viên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đoán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ảnh</a:t>
            </a:r>
            <a:r>
              <a:rPr lang="en-US" baseline="0" dirty="0"/>
              <a:t> </a:t>
            </a:r>
            <a:r>
              <a:rPr lang="en-US" baseline="0" dirty="0" err="1"/>
              <a:t>trước</a:t>
            </a:r>
            <a:r>
              <a:rPr lang="en-US" baseline="0" dirty="0"/>
              <a:t>, </a:t>
            </a:r>
            <a:r>
              <a:rPr lang="en-US" baseline="0" dirty="0" err="1"/>
              <a:t>gợi</a:t>
            </a:r>
            <a:r>
              <a:rPr lang="en-US" baseline="0" dirty="0"/>
              <a:t> ý </a:t>
            </a:r>
            <a:r>
              <a:rPr lang="en-US" baseline="0" dirty="0" err="1"/>
              <a:t>tình</a:t>
            </a:r>
            <a:r>
              <a:rPr lang="en-US" baseline="0" dirty="0"/>
              <a:t> </a:t>
            </a:r>
            <a:r>
              <a:rPr lang="en-US" baseline="0" dirty="0" err="1"/>
              <a:t>huống</a:t>
            </a:r>
            <a:r>
              <a:rPr lang="en-US" baseline="0" dirty="0"/>
              <a:t> </a:t>
            </a:r>
            <a:r>
              <a:rPr lang="en-US" baseline="0" dirty="0" err="1"/>
              <a:t>rồi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sv</a:t>
            </a:r>
            <a:r>
              <a:rPr lang="en-US" baseline="0" dirty="0"/>
              <a:t> </a:t>
            </a:r>
            <a:r>
              <a:rPr lang="en-US" baseline="0" dirty="0" err="1"/>
              <a:t>nghe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23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Giáo</a:t>
            </a:r>
            <a:r>
              <a:rPr lang="en-US" baseline="0" dirty="0"/>
              <a:t> </a:t>
            </a:r>
            <a:r>
              <a:rPr lang="en-US" baseline="0" dirty="0" err="1"/>
              <a:t>viên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đoán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ảnh</a:t>
            </a:r>
            <a:r>
              <a:rPr lang="en-US" baseline="0" dirty="0"/>
              <a:t> </a:t>
            </a:r>
            <a:r>
              <a:rPr lang="en-US" baseline="0" dirty="0" err="1"/>
              <a:t>trước</a:t>
            </a:r>
            <a:r>
              <a:rPr lang="en-US" baseline="0" dirty="0"/>
              <a:t>, </a:t>
            </a:r>
            <a:r>
              <a:rPr lang="en-US" baseline="0" dirty="0" err="1"/>
              <a:t>gợi</a:t>
            </a:r>
            <a:r>
              <a:rPr lang="en-US" baseline="0" dirty="0"/>
              <a:t> ý </a:t>
            </a:r>
            <a:r>
              <a:rPr lang="en-US" baseline="0" dirty="0" err="1"/>
              <a:t>tình</a:t>
            </a:r>
            <a:r>
              <a:rPr lang="en-US" baseline="0" dirty="0"/>
              <a:t> </a:t>
            </a:r>
            <a:r>
              <a:rPr lang="en-US" baseline="0" dirty="0" err="1"/>
              <a:t>huống</a:t>
            </a:r>
            <a:r>
              <a:rPr lang="en-US" baseline="0" dirty="0"/>
              <a:t> </a:t>
            </a:r>
            <a:r>
              <a:rPr lang="en-US" baseline="0" dirty="0" err="1"/>
              <a:t>rồi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sv</a:t>
            </a:r>
            <a:r>
              <a:rPr lang="en-US" baseline="0" dirty="0"/>
              <a:t> </a:t>
            </a:r>
            <a:r>
              <a:rPr lang="en-US" baseline="0" dirty="0" err="1"/>
              <a:t>nghe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0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83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79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4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87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場面：友達と町を歩いています。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55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場面：友達と町を歩いています。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83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02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D5C1F09-6917-43A9-9311-D574C987FF7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68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場面：友達と町を歩いています。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43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場面：友達と町を歩いています。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01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59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4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71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78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12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87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66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396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baseline="0" dirty="0"/>
              <a:t> </a:t>
            </a:r>
            <a:r>
              <a:rPr lang="en-US" baseline="0" dirty="0" err="1"/>
              <a:t>xong</a:t>
            </a:r>
            <a:r>
              <a:rPr lang="en-US" baseline="0" dirty="0"/>
              <a:t> </a:t>
            </a:r>
            <a:r>
              <a:rPr lang="en-US" baseline="0" dirty="0" err="1"/>
              <a:t>trên</a:t>
            </a:r>
            <a:r>
              <a:rPr lang="en-US" baseline="0" dirty="0"/>
              <a:t> slide. GV </a:t>
            </a:r>
            <a:r>
              <a:rPr lang="en-US" baseline="0" dirty="0" err="1"/>
              <a:t>hỏi</a:t>
            </a:r>
            <a:r>
              <a:rPr lang="en-US" baseline="0" dirty="0"/>
              <a:t> SV </a:t>
            </a:r>
            <a:r>
              <a:rPr lang="en-US" baseline="0" dirty="0" err="1"/>
              <a:t>trong</a:t>
            </a:r>
            <a:r>
              <a:rPr lang="en-US" baseline="0" dirty="0"/>
              <a:t> </a:t>
            </a:r>
            <a:r>
              <a:rPr lang="en-US" baseline="0" dirty="0" err="1"/>
              <a:t>lớp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yêu</a:t>
            </a:r>
            <a:r>
              <a:rPr lang="en-US" baseline="0" dirty="0"/>
              <a:t> </a:t>
            </a:r>
            <a:r>
              <a:rPr lang="en-US" baseline="0" dirty="0" err="1"/>
              <a:t>cầu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bạn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 </a:t>
            </a:r>
            <a:r>
              <a:rPr lang="en-US" baseline="0" dirty="0" err="1"/>
              <a:t>nghe</a:t>
            </a:r>
            <a:r>
              <a:rPr lang="en-US" baseline="0" dirty="0"/>
              <a:t> </a:t>
            </a:r>
            <a:r>
              <a:rPr lang="en-US" baseline="0" dirty="0" err="1"/>
              <a:t>xem</a:t>
            </a:r>
            <a:r>
              <a:rPr lang="en-US" baseline="0" dirty="0"/>
              <a:t> SN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bạn</a:t>
            </a:r>
            <a:r>
              <a:rPr lang="en-US" baseline="0" dirty="0"/>
              <a:t> </a:t>
            </a:r>
            <a:r>
              <a:rPr lang="en-US" baseline="0" dirty="0" err="1"/>
              <a:t>vừa</a:t>
            </a:r>
            <a:r>
              <a:rPr lang="en-US" baseline="0" dirty="0"/>
              <a:t> </a:t>
            </a:r>
            <a:r>
              <a:rPr lang="en-US" baseline="0" dirty="0" err="1"/>
              <a:t>nói</a:t>
            </a:r>
            <a:r>
              <a:rPr lang="en-US" baseline="0" dirty="0"/>
              <a:t> </a:t>
            </a:r>
            <a:r>
              <a:rPr lang="en-US" baseline="0" dirty="0" err="1"/>
              <a:t>là</a:t>
            </a:r>
            <a:r>
              <a:rPr lang="en-US" baseline="0" dirty="0"/>
              <a:t> </a:t>
            </a:r>
            <a:r>
              <a:rPr lang="en-US" baseline="0" dirty="0" err="1"/>
              <a:t>ngày</a:t>
            </a:r>
            <a:r>
              <a:rPr lang="en-US" baseline="0" dirty="0"/>
              <a:t> </a:t>
            </a:r>
            <a:r>
              <a:rPr lang="en-US" baseline="0" dirty="0" err="1"/>
              <a:t>bao</a:t>
            </a:r>
            <a:r>
              <a:rPr lang="en-US" baseline="0" dirty="0"/>
              <a:t> </a:t>
            </a:r>
            <a:r>
              <a:rPr lang="en-US" baseline="0" dirty="0" err="1"/>
              <a:t>nhiêu</a:t>
            </a:r>
            <a:r>
              <a:rPr lang="en-US" baseline="0"/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39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33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017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513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GV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sv</a:t>
            </a:r>
            <a:r>
              <a:rPr lang="en-US" baseline="0" dirty="0"/>
              <a:t> </a:t>
            </a:r>
            <a:r>
              <a:rPr lang="en-US" baseline="0" dirty="0" err="1"/>
              <a:t>nghe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luyện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hội</a:t>
            </a:r>
            <a:r>
              <a:rPr lang="en-US" baseline="0" dirty="0"/>
              <a:t> </a:t>
            </a:r>
            <a:r>
              <a:rPr lang="en-US" baseline="0" dirty="0" err="1"/>
              <a:t>thoại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323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GV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sv</a:t>
            </a:r>
            <a:r>
              <a:rPr lang="en-US" baseline="0" dirty="0"/>
              <a:t> </a:t>
            </a:r>
            <a:r>
              <a:rPr lang="en-US" baseline="0" dirty="0" err="1"/>
              <a:t>nghe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luyện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hội</a:t>
            </a:r>
            <a:r>
              <a:rPr lang="en-US" baseline="0" dirty="0"/>
              <a:t> </a:t>
            </a:r>
            <a:r>
              <a:rPr lang="en-US" baseline="0" dirty="0" err="1"/>
              <a:t>thoại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176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378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2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36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FD468-9CBF-4CDA-B4AD-D89E51BCD068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3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P2</a:t>
            </a:r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283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P2</a:t>
            </a:r>
            <a:endParaRPr lang="en-US" dirty="0"/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639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P2</a:t>
            </a:r>
            <a:endParaRPr lang="en-US" dirty="0"/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438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P3</a:t>
            </a:r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21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846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526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P5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271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ja-JP" altLang="en-US" dirty="0"/>
              <a:t>文法ノート初級</a:t>
            </a:r>
            <a:r>
              <a:rPr lang="en-US" altLang="ja-JP" dirty="0"/>
              <a:t>P5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054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49D88-27F4-4B5E-A721-251F123FF451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4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7AFFB9B-9FB8-469E-96F9-4D32314110B6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81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903163"/>
                </a:solidFill>
              </a:rPr>
              <a:pPr/>
              <a:t>7/24/2023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75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092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903163"/>
                </a:solidFill>
              </a:rPr>
              <a:pPr/>
              <a:t>7/24/2023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9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ja-JP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903163"/>
                </a:solidFill>
              </a:rPr>
              <a:pPr/>
              <a:t>7/24/2023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01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28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7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7/24/2023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57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53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903163"/>
                </a:solidFill>
              </a:rPr>
              <a:pPr/>
              <a:t>7/24/2023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03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7/24/2023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76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8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35BB1C6-BF8F-4481-8AB2-603A1C8A906A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48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4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4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10" Type="http://schemas.openxmlformats.org/officeDocument/2006/relationships/image" Target="../media/image40.jpeg"/><Relationship Id="rId4" Type="http://schemas.openxmlformats.org/officeDocument/2006/relationships/image" Target="../media/image34.jpeg"/><Relationship Id="rId9" Type="http://schemas.openxmlformats.org/officeDocument/2006/relationships/image" Target="../media/image39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10" Type="http://schemas.openxmlformats.org/officeDocument/2006/relationships/image" Target="../media/image40.jpeg"/><Relationship Id="rId4" Type="http://schemas.openxmlformats.org/officeDocument/2006/relationships/image" Target="../media/image34.jpeg"/><Relationship Id="rId9" Type="http://schemas.openxmlformats.org/officeDocument/2006/relationships/image" Target="../media/image39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4.png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4.png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ma"/><Relationship Id="rId1" Type="http://schemas.microsoft.com/office/2007/relationships/media" Target="../media/media5.wma"/><Relationship Id="rId5" Type="http://schemas.openxmlformats.org/officeDocument/2006/relationships/image" Target="../media/image28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ma"/><Relationship Id="rId1" Type="http://schemas.microsoft.com/office/2007/relationships/media" Target="../media/media5.wma"/><Relationship Id="rId6" Type="http://schemas.openxmlformats.org/officeDocument/2006/relationships/image" Target="../media/image28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customXml" Target="../ink/ink1.xml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ma"/><Relationship Id="rId1" Type="http://schemas.microsoft.com/office/2007/relationships/media" Target="../media/media6.wma"/><Relationship Id="rId6" Type="http://schemas.openxmlformats.org/officeDocument/2006/relationships/image" Target="../media/image28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ma"/><Relationship Id="rId1" Type="http://schemas.microsoft.com/office/2007/relationships/media" Target="../media/media6.wma"/><Relationship Id="rId6" Type="http://schemas.openxmlformats.org/officeDocument/2006/relationships/image" Target="../media/image28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ma"/><Relationship Id="rId1" Type="http://schemas.microsoft.com/office/2007/relationships/media" Target="../media/media7.wma"/><Relationship Id="rId6" Type="http://schemas.openxmlformats.org/officeDocument/2006/relationships/image" Target="../media/image28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ma"/><Relationship Id="rId1" Type="http://schemas.microsoft.com/office/2007/relationships/media" Target="../media/media7.wma"/><Relationship Id="rId6" Type="http://schemas.openxmlformats.org/officeDocument/2006/relationships/image" Target="../media/image28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ma"/><Relationship Id="rId1" Type="http://schemas.microsoft.com/office/2007/relationships/media" Target="../media/media7.wma"/><Relationship Id="rId6" Type="http://schemas.openxmlformats.org/officeDocument/2006/relationships/image" Target="../media/image28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ma"/><Relationship Id="rId1" Type="http://schemas.microsoft.com/office/2007/relationships/media" Target="../media/media7.wma"/><Relationship Id="rId6" Type="http://schemas.openxmlformats.org/officeDocument/2006/relationships/image" Target="../media/image28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2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ma"/><Relationship Id="rId1" Type="http://schemas.microsoft.com/office/2007/relationships/media" Target="../media/media7.wma"/><Relationship Id="rId6" Type="http://schemas.openxmlformats.org/officeDocument/2006/relationships/image" Target="../media/image28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2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wma"/><Relationship Id="rId1" Type="http://schemas.microsoft.com/office/2007/relationships/media" Target="../media/media8.wma"/><Relationship Id="rId6" Type="http://schemas.openxmlformats.org/officeDocument/2006/relationships/image" Target="../media/image28.png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2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wma"/><Relationship Id="rId1" Type="http://schemas.microsoft.com/office/2007/relationships/media" Target="../media/media8.wma"/><Relationship Id="rId6" Type="http://schemas.openxmlformats.org/officeDocument/2006/relationships/image" Target="../media/image28.png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2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ma"/><Relationship Id="rId1" Type="http://schemas.microsoft.com/office/2007/relationships/media" Target="../media/media9.wma"/><Relationship Id="rId6" Type="http://schemas.openxmlformats.org/officeDocument/2006/relationships/image" Target="../media/image28.png"/><Relationship Id="rId5" Type="http://schemas.openxmlformats.org/officeDocument/2006/relationships/image" Target="../media/image66.png"/><Relationship Id="rId4" Type="http://schemas.openxmlformats.org/officeDocument/2006/relationships/notesSlide" Target="../notesSlides/notesSlide2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ma"/><Relationship Id="rId1" Type="http://schemas.microsoft.com/office/2007/relationships/media" Target="../media/media9.wma"/><Relationship Id="rId6" Type="http://schemas.openxmlformats.org/officeDocument/2006/relationships/image" Target="../media/image28.png"/><Relationship Id="rId5" Type="http://schemas.openxmlformats.org/officeDocument/2006/relationships/image" Target="../media/image66.png"/><Relationship Id="rId4" Type="http://schemas.openxmlformats.org/officeDocument/2006/relationships/notesSlide" Target="../notesSlides/notesSlide2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ma"/><Relationship Id="rId1" Type="http://schemas.microsoft.com/office/2007/relationships/media" Target="../media/media9.wma"/><Relationship Id="rId6" Type="http://schemas.openxmlformats.org/officeDocument/2006/relationships/image" Target="../media/image28.png"/><Relationship Id="rId5" Type="http://schemas.openxmlformats.org/officeDocument/2006/relationships/image" Target="../media/image66.png"/><Relationship Id="rId4" Type="http://schemas.openxmlformats.org/officeDocument/2006/relationships/notesSlide" Target="../notesSlides/notesSlide3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ma"/><Relationship Id="rId1" Type="http://schemas.microsoft.com/office/2007/relationships/media" Target="../media/media9.wma"/><Relationship Id="rId6" Type="http://schemas.openxmlformats.org/officeDocument/2006/relationships/image" Target="../media/image28.png"/><Relationship Id="rId5" Type="http://schemas.openxmlformats.org/officeDocument/2006/relationships/image" Target="../media/image66.png"/><Relationship Id="rId4" Type="http://schemas.openxmlformats.org/officeDocument/2006/relationships/notesSlide" Target="../notesSlides/notesSlide3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wma"/><Relationship Id="rId1" Type="http://schemas.microsoft.com/office/2007/relationships/media" Target="../media/media10.wma"/><Relationship Id="rId6" Type="http://schemas.openxmlformats.org/officeDocument/2006/relationships/image" Target="../media/image28.png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3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wma"/><Relationship Id="rId1" Type="http://schemas.microsoft.com/office/2007/relationships/media" Target="../media/media10.wma"/><Relationship Id="rId6" Type="http://schemas.openxmlformats.org/officeDocument/2006/relationships/image" Target="../media/image28.png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3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wma"/><Relationship Id="rId1" Type="http://schemas.microsoft.com/office/2007/relationships/media" Target="../media/media11.wma"/><Relationship Id="rId6" Type="http://schemas.openxmlformats.org/officeDocument/2006/relationships/image" Target="../media/image28.png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3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comments" Target="../comments/comment2.xml"/><Relationship Id="rId2" Type="http://schemas.openxmlformats.org/officeDocument/2006/relationships/audio" Target="../media/media11.wma"/><Relationship Id="rId1" Type="http://schemas.microsoft.com/office/2007/relationships/media" Target="../media/media11.wma"/><Relationship Id="rId6" Type="http://schemas.openxmlformats.org/officeDocument/2006/relationships/image" Target="../media/image28.png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3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 rot="21362611">
            <a:off x="4131336" y="4307115"/>
            <a:ext cx="6183886" cy="1536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JAPANESE CLASS</a:t>
            </a:r>
          </a:p>
        </p:txBody>
      </p:sp>
      <p:sp>
        <p:nvSpPr>
          <p:cNvPr id="6" name="Rounded Rectangle 5"/>
          <p:cNvSpPr/>
          <p:nvPr/>
        </p:nvSpPr>
        <p:spPr>
          <a:xfrm rot="21362611">
            <a:off x="6843201" y="5447312"/>
            <a:ext cx="4229100" cy="11203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LESSON 1</a:t>
            </a:r>
          </a:p>
        </p:txBody>
      </p:sp>
      <p:sp>
        <p:nvSpPr>
          <p:cNvPr id="7" name="Rounded Rectangle 6"/>
          <p:cNvSpPr/>
          <p:nvPr/>
        </p:nvSpPr>
        <p:spPr>
          <a:xfrm rot="21362611">
            <a:off x="2819400" y="623922"/>
            <a:ext cx="7493000" cy="16637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日本語クラス</a:t>
            </a:r>
            <a:endParaRPr lang="en-US" sz="8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9220">
            <a:off x="344032" y="4989642"/>
            <a:ext cx="3493667" cy="9066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5096317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7343" y="275545"/>
            <a:ext cx="11141643" cy="816276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kumimoji="1" lang="vi-VN" altLang="ja-JP" dirty="0"/>
              <a:t>Lưu ý trước khi học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37342" y="1476896"/>
            <a:ext cx="11141643" cy="503308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ja-JP" altLang="en-US" sz="3000" dirty="0"/>
              <a:t>①</a:t>
            </a:r>
            <a:r>
              <a:rPr kumimoji="1" lang="en-US" altLang="ja-JP" sz="3000" dirty="0">
                <a:solidFill>
                  <a:srgbClr val="FF0000"/>
                </a:solidFill>
              </a:rPr>
              <a:t>JP</a:t>
            </a:r>
            <a:r>
              <a:rPr kumimoji="1" lang="en-US" altLang="ja-JP" sz="3000" dirty="0"/>
              <a:t>:</a:t>
            </a:r>
            <a:r>
              <a:rPr kumimoji="1" lang="vi-VN" altLang="ja-JP" sz="3000" dirty="0"/>
              <a:t> CN (</a:t>
            </a:r>
            <a:r>
              <a:rPr kumimoji="1" lang="vi-VN" altLang="ja-JP" sz="3000" dirty="0">
                <a:solidFill>
                  <a:srgbClr val="FF0000"/>
                </a:solidFill>
              </a:rPr>
              <a:t>S</a:t>
            </a:r>
            <a:r>
              <a:rPr kumimoji="1" lang="vi-VN" altLang="ja-JP" sz="3000" dirty="0"/>
              <a:t>), </a:t>
            </a:r>
            <a:r>
              <a:rPr kumimoji="1" lang="vi-VN" altLang="ja-JP" sz="3000" dirty="0">
                <a:solidFill>
                  <a:srgbClr val="FF0000"/>
                </a:solidFill>
              </a:rPr>
              <a:t>VN   Thứ tự</a:t>
            </a:r>
            <a:r>
              <a:rPr kumimoji="1" lang="vi-VN" altLang="ja-JP" sz="3000" dirty="0"/>
              <a:t>-</a:t>
            </a:r>
            <a:r>
              <a:rPr kumimoji="1" lang="ja-JP" altLang="en-US" sz="3000" dirty="0"/>
              <a:t>＞？</a:t>
            </a:r>
            <a:endParaRPr kumimoji="1" lang="en-US" altLang="ja-JP" sz="3000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vi-VN" altLang="ja-JP" sz="3000" dirty="0"/>
              <a:t>Cụm từ: Phần phụ-</a:t>
            </a:r>
            <a:r>
              <a:rPr kumimoji="1" lang="vi-VN" altLang="ja-JP" sz="3000" dirty="0">
                <a:solidFill>
                  <a:srgbClr val="FF0000"/>
                </a:solidFill>
              </a:rPr>
              <a:t>&gt; PHẦN chính</a:t>
            </a:r>
            <a:r>
              <a:rPr kumimoji="1" lang="ja-JP" altLang="en-US" sz="3000" dirty="0">
                <a:solidFill>
                  <a:srgbClr val="FF0000"/>
                </a:solidFill>
              </a:rPr>
              <a:t>？</a:t>
            </a:r>
            <a:endParaRPr kumimoji="1" lang="vi-VN" altLang="ja-JP" sz="30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3200" dirty="0"/>
              <a:t>②</a:t>
            </a:r>
            <a:r>
              <a:rPr lang="vi-VN" altLang="ja-JP" sz="3200" dirty="0"/>
              <a:t>Từ Loại</a:t>
            </a:r>
            <a:r>
              <a:rPr lang="ja-JP" altLang="en-US" sz="3200" dirty="0"/>
              <a:t>：</a:t>
            </a:r>
            <a:r>
              <a:rPr lang="en-US" altLang="ja-JP" sz="3200" dirty="0"/>
              <a:t>N,V,A,</a:t>
            </a:r>
            <a:r>
              <a:rPr lang="vi-VN" altLang="ja-JP" sz="3200" dirty="0"/>
              <a:t>ADV, </a:t>
            </a:r>
            <a:r>
              <a:rPr lang="vi-VN" altLang="ja-JP" sz="3200" dirty="0">
                <a:solidFill>
                  <a:srgbClr val="FF0000"/>
                </a:solidFill>
              </a:rPr>
              <a:t>Trợ từ ( ?+</a:t>
            </a:r>
            <a:r>
              <a:rPr lang="vi-VN" altLang="ja-JP" sz="3200" dirty="0"/>
              <a:t>trợ từ</a:t>
            </a:r>
            <a:r>
              <a:rPr lang="vi-VN" altLang="ja-JP" sz="3200" dirty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3200" dirty="0">
                <a:solidFill>
                  <a:srgbClr val="FF0000"/>
                </a:solidFill>
              </a:rPr>
              <a:t>③</a:t>
            </a:r>
            <a:r>
              <a:rPr lang="vi-VN" altLang="ja-JP" sz="3200" dirty="0">
                <a:solidFill>
                  <a:srgbClr val="FF0000"/>
                </a:solidFill>
              </a:rPr>
              <a:t>Thì :</a:t>
            </a:r>
            <a:r>
              <a:rPr lang="vi-VN" altLang="ja-JP" sz="3200" dirty="0"/>
              <a:t> Hiện tại (Khẳng định), Quá khứ (KD), H.tại Phủ định, Q.khứ Phủ định</a:t>
            </a:r>
            <a:r>
              <a:rPr lang="vi-VN" altLang="ja-JP" sz="3200" dirty="0">
                <a:solidFill>
                  <a:srgbClr val="FF0000"/>
                </a:solidFill>
              </a:rPr>
              <a:t>. Vị trí? Phụ thuộc vào?</a:t>
            </a:r>
            <a:endParaRPr kumimoji="1" lang="ja-JP" altLang="en-US" sz="3000" dirty="0"/>
          </a:p>
        </p:txBody>
      </p:sp>
    </p:spTree>
    <p:extLst>
      <p:ext uri="{BB962C8B-B14F-4D97-AF65-F5344CB8AC3E}">
        <p14:creationId xmlns:p14="http://schemas.microsoft.com/office/powerpoint/2010/main" val="92440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7343" y="275545"/>
            <a:ext cx="11141643" cy="816276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kumimoji="1" lang="vi-VN" altLang="ja-JP" dirty="0"/>
              <a:t>Lưu ý trước khi học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37342" y="1476896"/>
            <a:ext cx="11141643" cy="503308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ja-JP" altLang="en-US" sz="3000" dirty="0"/>
              <a:t>①</a:t>
            </a:r>
            <a:r>
              <a:rPr kumimoji="1" lang="en-US" altLang="ja-JP" sz="3000" dirty="0">
                <a:solidFill>
                  <a:srgbClr val="FF0000"/>
                </a:solidFill>
              </a:rPr>
              <a:t>JP</a:t>
            </a:r>
            <a:r>
              <a:rPr kumimoji="1" lang="en-US" altLang="ja-JP" sz="3000" dirty="0"/>
              <a:t>:</a:t>
            </a:r>
            <a:r>
              <a:rPr kumimoji="1" lang="vi-VN" altLang="ja-JP" sz="3000" dirty="0"/>
              <a:t> CN (</a:t>
            </a:r>
            <a:r>
              <a:rPr kumimoji="1" lang="vi-VN" altLang="ja-JP" sz="3000" dirty="0">
                <a:solidFill>
                  <a:srgbClr val="FF0000"/>
                </a:solidFill>
              </a:rPr>
              <a:t>S</a:t>
            </a:r>
            <a:r>
              <a:rPr kumimoji="1" lang="vi-VN" altLang="ja-JP" sz="3000" dirty="0"/>
              <a:t>), </a:t>
            </a:r>
            <a:r>
              <a:rPr kumimoji="1" lang="vi-VN" altLang="ja-JP" sz="3000" dirty="0">
                <a:solidFill>
                  <a:srgbClr val="FF0000"/>
                </a:solidFill>
              </a:rPr>
              <a:t>VN   Thứ tự</a:t>
            </a:r>
            <a:r>
              <a:rPr kumimoji="1" lang="vi-VN" altLang="ja-JP" sz="3000" dirty="0"/>
              <a:t>-&gt; S-&gt;Vn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vi-VN" altLang="ja-JP" sz="3000" dirty="0"/>
              <a:t>Cụm từ: Phần phụ-</a:t>
            </a:r>
            <a:r>
              <a:rPr kumimoji="1" lang="vi-VN" altLang="ja-JP" sz="3000" dirty="0">
                <a:solidFill>
                  <a:srgbClr val="FF0000"/>
                </a:solidFill>
              </a:rPr>
              <a:t>&gt; PHẦN CHÍNH </a:t>
            </a:r>
            <a:r>
              <a:rPr kumimoji="1" lang="vi-VN" altLang="ja-JP" sz="3000" dirty="0"/>
              <a:t>(</a:t>
            </a:r>
            <a:r>
              <a:rPr kumimoji="1" lang="en-US" altLang="ja-JP" sz="3000" dirty="0"/>
              <a:t>FPT</a:t>
            </a:r>
            <a:r>
              <a:rPr kumimoji="1" lang="ja-JP" altLang="en-US" sz="3000" dirty="0"/>
              <a:t>　の　</a:t>
            </a:r>
            <a:r>
              <a:rPr kumimoji="1" lang="ja-JP" altLang="en-US" sz="3000" b="1" u="sng" dirty="0"/>
              <a:t>がくせい</a:t>
            </a:r>
            <a:r>
              <a:rPr kumimoji="1" lang="ja-JP" altLang="en-US" sz="3000" b="1" dirty="0"/>
              <a:t>↓</a:t>
            </a:r>
            <a:r>
              <a:rPr kumimoji="1" lang="vi-VN" altLang="ja-JP" sz="3000" dirty="0"/>
              <a:t>)</a:t>
            </a:r>
            <a:endParaRPr kumimoji="1" lang="en-US" altLang="ja-JP" sz="30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3000" dirty="0"/>
              <a:t>  </a:t>
            </a:r>
            <a:r>
              <a:rPr kumimoji="1" lang="en-US" altLang="ja-JP" sz="3000" dirty="0"/>
              <a:t>VN:</a:t>
            </a:r>
            <a:r>
              <a:rPr kumimoji="1" lang="ja-JP" altLang="en-US" sz="3000" dirty="0"/>
              <a:t>　</a:t>
            </a:r>
            <a:r>
              <a:rPr kumimoji="1" lang="vi-VN" altLang="ja-JP" sz="3000" dirty="0"/>
              <a:t>CN (S), VN-&gt; S-&gt;Vn</a:t>
            </a:r>
          </a:p>
          <a:p>
            <a:pPr>
              <a:lnSpc>
                <a:spcPct val="120000"/>
              </a:lnSpc>
            </a:pPr>
            <a:r>
              <a:rPr kumimoji="1" lang="vi-VN" altLang="ja-JP" sz="3000" dirty="0"/>
              <a:t>CỤm từ: PHẦN CHÍNH</a:t>
            </a:r>
            <a:r>
              <a:rPr kumimoji="1" lang="ja-JP" altLang="en-US" sz="3000" dirty="0"/>
              <a:t>ー＞</a:t>
            </a:r>
            <a:r>
              <a:rPr kumimoji="1" lang="vi-VN" altLang="ja-JP" sz="3000" dirty="0"/>
              <a:t> Phần phụ (</a:t>
            </a:r>
            <a:r>
              <a:rPr kumimoji="1" lang="vi-VN" altLang="ja-JP" sz="3000" b="1" u="sng" dirty="0"/>
              <a:t>Sinh viên </a:t>
            </a:r>
            <a:r>
              <a:rPr kumimoji="1" lang="ja-JP" altLang="en-US" sz="3000" b="1" dirty="0"/>
              <a:t>↓ </a:t>
            </a:r>
            <a:r>
              <a:rPr kumimoji="1" lang="vi-VN" altLang="ja-JP" sz="3000" dirty="0"/>
              <a:t>FPT)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3200" dirty="0"/>
              <a:t>②</a:t>
            </a:r>
            <a:r>
              <a:rPr lang="vi-VN" altLang="ja-JP" sz="3200" dirty="0"/>
              <a:t>Từ Loại</a:t>
            </a:r>
            <a:r>
              <a:rPr lang="ja-JP" altLang="en-US" sz="3200" dirty="0"/>
              <a:t>：</a:t>
            </a:r>
            <a:r>
              <a:rPr lang="en-US" altLang="ja-JP" sz="3200" dirty="0"/>
              <a:t>N,V,A,</a:t>
            </a:r>
            <a:r>
              <a:rPr lang="vi-VN" altLang="ja-JP" sz="3200" dirty="0"/>
              <a:t>ADV, </a:t>
            </a:r>
            <a:r>
              <a:rPr lang="vi-VN" altLang="ja-JP" sz="3200" dirty="0">
                <a:solidFill>
                  <a:srgbClr val="FF0000"/>
                </a:solidFill>
              </a:rPr>
              <a:t>Trợ từ ( N+</a:t>
            </a:r>
            <a:r>
              <a:rPr lang="vi-VN" altLang="ja-JP" sz="3200" dirty="0"/>
              <a:t>trợ từ</a:t>
            </a:r>
            <a:r>
              <a:rPr lang="vi-VN" altLang="ja-JP" sz="3200" dirty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3200" dirty="0">
                <a:solidFill>
                  <a:srgbClr val="FF0000"/>
                </a:solidFill>
              </a:rPr>
              <a:t>③</a:t>
            </a:r>
            <a:r>
              <a:rPr lang="vi-VN" altLang="ja-JP" sz="3200" dirty="0">
                <a:solidFill>
                  <a:srgbClr val="FF0000"/>
                </a:solidFill>
              </a:rPr>
              <a:t>Thì :</a:t>
            </a:r>
            <a:r>
              <a:rPr lang="vi-VN" altLang="ja-JP" sz="3200" dirty="0"/>
              <a:t> Hiện tại (Khẳng định), Quá khứ (KD), H.tại Phủ định, Q.khứ Phủ định</a:t>
            </a:r>
            <a:r>
              <a:rPr lang="vi-VN" altLang="ja-JP" sz="3200" dirty="0">
                <a:solidFill>
                  <a:srgbClr val="FF0000"/>
                </a:solidFill>
              </a:rPr>
              <a:t>. Thì </a:t>
            </a:r>
            <a:r>
              <a:rPr lang="vi-VN" altLang="ja-JP" sz="3200" dirty="0"/>
              <a:t>nằm cuối câu </a:t>
            </a:r>
            <a:r>
              <a:rPr lang="vi-VN" altLang="ja-JP" sz="3200" dirty="0">
                <a:solidFill>
                  <a:srgbClr val="FF0000"/>
                </a:solidFill>
              </a:rPr>
              <a:t>sau VNC</a:t>
            </a:r>
            <a:r>
              <a:rPr lang="vi-VN" altLang="ja-JP" sz="3200" dirty="0"/>
              <a:t>.Cách chia thì phụ thuộc vào VNC</a:t>
            </a:r>
            <a:endParaRPr kumimoji="1" lang="en-US" altLang="ja-JP" sz="3000" dirty="0"/>
          </a:p>
          <a:p>
            <a:pPr>
              <a:lnSpc>
                <a:spcPct val="120000"/>
              </a:lnSpc>
            </a:pPr>
            <a:endParaRPr kumimoji="1" lang="ja-JP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54032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0090" y="349194"/>
            <a:ext cx="11277600" cy="939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 về từ vựng bài 1</a:t>
            </a:r>
            <a:endParaRPr lang="en-US" sz="33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30090" y="1877169"/>
            <a:ext cx="11277600" cy="448387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vi-VN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Xưng hô: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さん・ちゃん・くん・せんせい</a:t>
            </a:r>
            <a:endParaRPr lang="vi-VN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vi-VN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 tịch: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～じん</a:t>
            </a:r>
            <a:endParaRPr lang="vi-VN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vi-VN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nhân viên công ty: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かいしゃいん？しゃいん</a:t>
            </a:r>
            <a:endParaRPr lang="en-US" altLang="ja-JP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(kasha in or </a:t>
            </a:r>
            <a:r>
              <a:rPr lang="en-US" sz="3333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shain</a:t>
            </a:r>
            <a:r>
              <a:rPr 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vi-VN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 để hỏi/ nghi vấn từ (NVT)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：どちら、なん、</a:t>
            </a:r>
            <a:r>
              <a:rPr lang="ja-JP" altLang="en-US" sz="3333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なんさい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ja-JP" altLang="en-US" sz="3333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いつ？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なんがつ？なんにち</a:t>
            </a:r>
            <a:r>
              <a:rPr lang="en-US" altLang="ja-JP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3333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ja-JP" altLang="en-US" sz="33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vi-VN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3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9600" y="381000"/>
            <a:ext cx="11277600" cy="939800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ách xưng hô trong tiếng Nhật</a:t>
            </a:r>
            <a:r>
              <a:rPr lang="ja-JP" altLang="en-US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33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09601" y="4648201"/>
            <a:ext cx="10323551" cy="1964473"/>
          </a:xfrm>
          <a:ln w="28575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</a:t>
            </a:r>
            <a:r>
              <a:rPr lang="ja-JP" altLang="en-US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～</a:t>
            </a:r>
            <a:r>
              <a:rPr lang="ja-JP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さん</a:t>
            </a:r>
            <a:r>
              <a:rPr lang="vi-VN" altLang="ja-JP" sz="2400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vi-VN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(dùng cho cả nam, nữ, già, trẻ… đều được</a:t>
            </a:r>
            <a:r>
              <a:rPr lang="vi-VN" altLang="ja-JP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ja-JP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ja-JP" sz="2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san</a:t>
            </a:r>
            <a:r>
              <a:rPr lang="en-US" altLang="ja-JP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ja-JP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 </a:t>
            </a:r>
            <a:r>
              <a:rPr lang="ja-JP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ja-JP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ちゃん</a:t>
            </a:r>
            <a:r>
              <a:rPr lang="vi-VN" altLang="ja-JP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gái.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 Chan)</a:t>
            </a:r>
            <a:endParaRPr lang="vi-V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ja-JP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 </a:t>
            </a:r>
            <a:r>
              <a:rPr lang="ja-JP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ja-JP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くん</a:t>
            </a:r>
            <a:r>
              <a:rPr lang="vi-VN" altLang="ja-JP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 Kun</a:t>
            </a:r>
            <a:r>
              <a:rPr lang="en-US" sz="2400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u="sng" dirty="0">
              <a:highlight>
                <a:srgbClr val="FFFF00"/>
              </a:highlight>
              <a:latin typeface="EPSON 教科書体Ｍ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s (18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3" y="1600200"/>
            <a:ext cx="2817707" cy="2641600"/>
          </a:xfrm>
          <a:prstGeom prst="rect">
            <a:avLst/>
          </a:prstGeom>
        </p:spPr>
      </p:pic>
      <p:pic>
        <p:nvPicPr>
          <p:cNvPr id="7" name="Picture 6" descr="8cb66811-62f4-4cc0-81d7-ea656987db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01800"/>
            <a:ext cx="2641600" cy="2641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51201" y="1967021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>
                <a:latin typeface="EPSON 教科書体Ｍ"/>
                <a:cs typeface="Times New Roman" panose="02020603050405020304" pitchFamily="18" charset="0"/>
              </a:rPr>
              <a:t>まるこ</a:t>
            </a:r>
            <a:r>
              <a:rPr lang="ja-JP" altLang="en-US" sz="2400" b="1" dirty="0">
                <a:latin typeface="EPSON 教科書体Ｍ"/>
                <a:cs typeface="Times New Roman" panose="02020603050405020304" pitchFamily="18" charset="0"/>
              </a:rPr>
              <a:t>さん</a:t>
            </a:r>
            <a:endParaRPr lang="ja-JP" altLang="en-US" sz="2400" dirty="0"/>
          </a:p>
          <a:p>
            <a:r>
              <a:rPr lang="ja-JP" altLang="en-US" sz="2400" dirty="0">
                <a:latin typeface="EPSON 教科書体Ｍ"/>
                <a:cs typeface="Times New Roman" panose="02020603050405020304" pitchFamily="18" charset="0"/>
              </a:rPr>
              <a:t>まるこ</a:t>
            </a:r>
            <a:r>
              <a:rPr lang="ja-JP" altLang="en-US" sz="2400" b="1" dirty="0">
                <a:latin typeface="EPSON 教科書体Ｍ"/>
                <a:cs typeface="Times New Roman" panose="02020603050405020304" pitchFamily="18" charset="0"/>
              </a:rPr>
              <a:t>ちゃん</a:t>
            </a:r>
            <a:endParaRPr lang="ja-JP" alt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9245600" y="1905465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>
                <a:latin typeface="EPSON 教科書体Ｍ"/>
                <a:cs typeface="Times New Roman" panose="02020603050405020304" pitchFamily="18" charset="0"/>
              </a:rPr>
              <a:t>しん</a:t>
            </a:r>
            <a:r>
              <a:rPr lang="ja-JP" altLang="en-US" sz="2400" b="1" dirty="0">
                <a:latin typeface="EPSON 教科書体Ｍ"/>
                <a:cs typeface="Times New Roman" panose="02020603050405020304" pitchFamily="18" charset="0"/>
              </a:rPr>
              <a:t>さん</a:t>
            </a:r>
            <a:endParaRPr lang="ja-JP" altLang="en-US" sz="2400" dirty="0"/>
          </a:p>
          <a:p>
            <a:r>
              <a:rPr lang="ja-JP" altLang="en-US" sz="2400" dirty="0">
                <a:latin typeface="EPSON 教科書体Ｍ"/>
                <a:cs typeface="Times New Roman" panose="02020603050405020304" pitchFamily="18" charset="0"/>
              </a:rPr>
              <a:t>しん</a:t>
            </a:r>
            <a:r>
              <a:rPr lang="ja-JP" altLang="en-US" sz="2400" b="1" dirty="0">
                <a:latin typeface="EPSON 教科書体Ｍ"/>
                <a:cs typeface="Times New Roman" panose="02020603050405020304" pitchFamily="18" charset="0"/>
              </a:rPr>
              <a:t>くん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6580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5080000" y="4241800"/>
            <a:ext cx="6400800" cy="1346200"/>
          </a:xfrm>
          <a:ln w="28575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533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</a:t>
            </a:r>
            <a:r>
              <a:rPr lang="ja-JP" altLang="en-US" sz="2533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せんせい 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là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hậu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tố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đứng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sau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tên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gọi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của</a:t>
            </a:r>
            <a:r>
              <a:rPr lang="en-US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1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thầy</a:t>
            </a:r>
            <a:r>
              <a:rPr lang="en-US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/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côgiáo</a:t>
            </a:r>
            <a:r>
              <a:rPr lang="en-US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,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ngoài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ra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còn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đứng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sau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tên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của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thầy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thuốc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hoặc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bác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sĩ</a:t>
            </a:r>
            <a:r>
              <a:rPr lang="en-US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ea typeface="EPSON 教科書体Ｍ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9600" y="381000"/>
            <a:ext cx="11277600" cy="93980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ách xưng hô trong tiếng Nhật</a:t>
            </a:r>
            <a:r>
              <a:rPr lang="ja-JP" altLang="en-US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33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514600"/>
            <a:ext cx="2641600" cy="3073400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3759200" y="1803400"/>
            <a:ext cx="5689600" cy="1727200"/>
          </a:xfrm>
          <a:prstGeom prst="wedgeEllipseCallout">
            <a:avLst>
              <a:gd name="adj1" fmla="val -60628"/>
              <a:gd name="adj2" fmla="val 45283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せんせい</a:t>
            </a:r>
            <a:r>
              <a:rPr lang="ja-JP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／やまだ</a:t>
            </a:r>
            <a:r>
              <a:rPr lang="ja-JP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せんせい</a:t>
            </a:r>
            <a:r>
              <a:rPr lang="ja-JP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、</a:t>
            </a:r>
            <a:endParaRPr lang="en-US" altLang="ja-JP" sz="2400" dirty="0">
              <a:solidFill>
                <a:schemeClr val="tx1"/>
              </a:solidFill>
              <a:latin typeface="Times New Roman" panose="02020603050405020304" pitchFamily="18" charset="0"/>
              <a:ea typeface="EPSON 教科書体Ｍ"/>
              <a:cs typeface="Times New Roman" panose="02020603050405020304" pitchFamily="18" charset="0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こんにちは</a:t>
            </a:r>
            <a:endParaRPr kumimoji="1" lang="ja-JP" alt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812801" y="5765801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やまだ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80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016000" y="5638160"/>
            <a:ext cx="10668000" cy="657385"/>
          </a:xfrm>
          <a:ln w="28575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</a:t>
            </a:r>
            <a:r>
              <a:rPr lang="ja-JP" altLang="en-US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～</a:t>
            </a:r>
            <a:r>
              <a:rPr lang="ja-JP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じん 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là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hậu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tố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được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đứng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sau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tên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nước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để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nói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về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quốc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tịch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1 ai</a:t>
            </a:r>
            <a:r>
              <a:rPr lang="vi-VN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( JIN)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600" y="381000"/>
            <a:ext cx="11277600" cy="93980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ách </a:t>
            </a:r>
            <a:r>
              <a:rPr lang="vi-VN" altLang="ja-JP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 tên </a:t>
            </a:r>
            <a:r>
              <a:rPr lang="vi-VN" altLang="ja-JP" sz="3333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 tịch</a:t>
            </a:r>
            <a:r>
              <a:rPr lang="vi-VN" sz="3333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3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tiếng Nhật</a:t>
            </a:r>
            <a:endParaRPr lang="en-US" sz="33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外国人 日本人 握手 イラスト素材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1" y="2311400"/>
            <a:ext cx="4017433" cy="301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844917" y="3429000"/>
            <a:ext cx="2034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アメリカ</a:t>
            </a:r>
            <a:r>
              <a:rPr lang="ja-JP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じん</a:t>
            </a:r>
            <a:endParaRPr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62787" y="3506901"/>
            <a:ext cx="17267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にほん</a:t>
            </a:r>
            <a:r>
              <a:rPr lang="ja-JP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じん</a:t>
            </a:r>
            <a:endParaRPr lang="en-US" altLang="ja-JP" sz="2133" b="1" dirty="0">
              <a:solidFill>
                <a:srgbClr val="FF0000"/>
              </a:solidFill>
              <a:latin typeface="Times New Roman" panose="02020603050405020304" pitchFamily="18" charset="0"/>
              <a:ea typeface="EPSON 教科書体Ｍ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3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11200" y="5062272"/>
            <a:ext cx="11074400" cy="1447800"/>
          </a:xfrm>
          <a:ln w="28575"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sz="2533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</a:t>
            </a:r>
            <a:r>
              <a:rPr lang="ja-JP" altLang="en-US" sz="2533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～</a:t>
            </a:r>
            <a:r>
              <a:rPr lang="ja-JP" altLang="en-US" sz="2533" b="1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しゃいん</a:t>
            </a:r>
            <a:r>
              <a:rPr lang="ja-JP" altLang="en-US" sz="2533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：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nhân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viên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của</a:t>
            </a:r>
            <a:r>
              <a:rPr lang="en-US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1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công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ty</a:t>
            </a:r>
            <a:r>
              <a:rPr lang="en-US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altLang="ja-JP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cụ</a:t>
            </a:r>
            <a:r>
              <a:rPr lang="vi-VN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altLang="ja-JP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thể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nào</a:t>
            </a:r>
            <a:r>
              <a:rPr lang="vi-VN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đó</a:t>
            </a:r>
            <a:r>
              <a:rPr lang="en-US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TOTYOTA no </a:t>
            </a:r>
            <a:r>
              <a:rPr lang="en-US" altLang="ja-JP" sz="2533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( SHA IN)</a:t>
            </a:r>
            <a:endParaRPr lang="en-US" sz="2533" dirty="0">
              <a:highlight>
                <a:srgbClr val="FFFF00"/>
              </a:highlight>
              <a:latin typeface="Times New Roman" panose="02020603050405020304" pitchFamily="18" charset="0"/>
              <a:ea typeface="EPSON 教科書体Ｍ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 </a:t>
            </a:r>
            <a:r>
              <a:rPr lang="ja-JP" altLang="en-US" sz="2533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かいしゃいん</a:t>
            </a:r>
            <a:r>
              <a:rPr lang="en-US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:</a:t>
            </a:r>
            <a:r>
              <a:rPr lang="vi-VN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nhân viên công ty (ko đi kèm tên công ty)</a:t>
            </a:r>
            <a:r>
              <a:rPr lang="en-US" altLang="ja-JP" sz="25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</a:t>
            </a:r>
            <a:r>
              <a:rPr lang="en-US" altLang="ja-JP" sz="2533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( Kai </a:t>
            </a:r>
            <a:r>
              <a:rPr lang="en-US" altLang="ja-JP" sz="2533" dirty="0" err="1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ShaIn</a:t>
            </a:r>
            <a:r>
              <a:rPr lang="en-US" altLang="ja-JP" sz="2533" dirty="0">
                <a:highlight>
                  <a:srgbClr val="FFFF00"/>
                </a:highlight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)</a:t>
            </a:r>
            <a:endParaRPr lang="en-US" sz="2533" dirty="0">
              <a:highlight>
                <a:srgbClr val="FFFF00"/>
              </a:highlight>
              <a:latin typeface="Times New Roman" panose="02020603050405020304" pitchFamily="18" charset="0"/>
              <a:ea typeface="EPSON 教科書体Ｍ"/>
              <a:cs typeface="Times New Roman" panose="02020603050405020304" pitchFamily="18" charset="0"/>
            </a:endParaRPr>
          </a:p>
          <a:p>
            <a:pPr algn="l"/>
            <a:r>
              <a:rPr lang="ja-JP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endParaRPr lang="vi-VN" dirty="0">
              <a:solidFill>
                <a:schemeClr val="tx1"/>
              </a:solidFill>
              <a:latin typeface="EPSON 教科書体Ｍ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317" y="1295401"/>
            <a:ext cx="2857500" cy="2857500"/>
          </a:xfrm>
          <a:prstGeom prst="rect">
            <a:avLst/>
          </a:prstGeom>
        </p:spPr>
      </p:pic>
      <p:pic>
        <p:nvPicPr>
          <p:cNvPr id="3076" name="Picture 4" descr="歩く男性会社員のイラスト | かわいいフリー素材集 いらすとや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881327"/>
            <a:ext cx="2785363" cy="3417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97180" y="2368550"/>
            <a:ext cx="2039341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かいしゃい</a:t>
            </a:r>
            <a:r>
              <a:rPr lang="ja-JP" altLang="en-US" sz="2400" b="1" dirty="0">
                <a:solidFill>
                  <a:srgbClr val="FF0000"/>
                </a:solidFill>
                <a:latin typeface="EPSON 教科書体Ｍ"/>
                <a:cs typeface="Times New Roman" panose="02020603050405020304" pitchFamily="18" charset="0"/>
              </a:rPr>
              <a:t>ん</a:t>
            </a:r>
            <a:endParaRPr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0" y="2636454"/>
            <a:ext cx="386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Toyota</a:t>
            </a:r>
            <a:r>
              <a:rPr lang="ja-JP" altLang="en-US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の</a:t>
            </a:r>
            <a:r>
              <a:rPr lang="ja-JP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しゃい</a:t>
            </a:r>
            <a:r>
              <a:rPr lang="ja-JP" altLang="en-US" sz="2400" b="1" dirty="0">
                <a:solidFill>
                  <a:srgbClr val="FF0000"/>
                </a:solidFill>
                <a:latin typeface="EPSON 教科書体Ｍ"/>
                <a:cs typeface="Times New Roman" panose="02020603050405020304" pitchFamily="18" charset="0"/>
              </a:rPr>
              <a:t>ん</a:t>
            </a:r>
            <a:endParaRPr lang="en-US" altLang="ja-JP" sz="2400" b="1" dirty="0">
              <a:solidFill>
                <a:srgbClr val="FF0000"/>
              </a:solidFill>
              <a:latin typeface="EPSON 教科書体Ｍ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Toyota</a:t>
            </a:r>
            <a:r>
              <a:rPr lang="ja-JP" altLang="en-US" sz="2400" b="1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の</a:t>
            </a:r>
            <a:r>
              <a:rPr lang="ja-JP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かいしゃい</a:t>
            </a:r>
            <a:r>
              <a:rPr lang="ja-JP" altLang="en-US" sz="2400" b="1" dirty="0">
                <a:solidFill>
                  <a:srgbClr val="FF0000"/>
                </a:solidFill>
                <a:latin typeface="EPSON 教科書体Ｍ"/>
                <a:cs typeface="Times New Roman" panose="02020603050405020304" pitchFamily="18" charset="0"/>
              </a:rPr>
              <a:t>ん</a:t>
            </a:r>
            <a:r>
              <a:rPr lang="ja-JP" altLang="en-US" sz="2400" b="1" dirty="0">
                <a:latin typeface="EPSON 教科書体Ｍ"/>
                <a:cs typeface="Times New Roman" panose="02020603050405020304" pitchFamily="18" charset="0"/>
              </a:rPr>
              <a:t>⇒</a:t>
            </a:r>
            <a:r>
              <a:rPr lang="en-US" altLang="ja-JP" sz="2400" b="1" dirty="0">
                <a:solidFill>
                  <a:srgbClr val="FF0000"/>
                </a:solidFill>
                <a:latin typeface="EPSON 教科書体Ｍ"/>
                <a:cs typeface="Times New Roman" panose="020206030504050203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8462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社員　会社員　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1" y="584200"/>
            <a:ext cx="7306849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39059" y="424180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ja-JP" altLang="en-US" sz="2400" b="1" dirty="0">
                <a:solidFill>
                  <a:srgbClr val="3E3E3E"/>
                </a:solidFill>
                <a:latin typeface="Noto Sans JP"/>
              </a:rPr>
              <a:t>「社員」</a:t>
            </a:r>
            <a:r>
              <a:rPr lang="ja-JP" altLang="en-US" sz="2400" dirty="0">
                <a:solidFill>
                  <a:srgbClr val="3E3E3E"/>
                </a:solidFill>
                <a:latin typeface="Noto Sans JP"/>
              </a:rPr>
              <a:t>　特定の企業などに所属していることを述べるとき。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b="1" dirty="0">
                <a:solidFill>
                  <a:srgbClr val="3E3E3E"/>
                </a:solidFill>
                <a:latin typeface="Noto Sans JP"/>
              </a:rPr>
              <a:t>「会社員」</a:t>
            </a:r>
            <a:r>
              <a:rPr lang="ja-JP" altLang="en-US" sz="2400" dirty="0">
                <a:solidFill>
                  <a:srgbClr val="3E3E3E"/>
                </a:solidFill>
                <a:latin typeface="Noto Sans JP"/>
              </a:rPr>
              <a:t>　職業として一般的に述べるとき。</a:t>
            </a:r>
          </a:p>
          <a:p>
            <a:r>
              <a:rPr lang="ja-JP" altLang="en-US" sz="2400" dirty="0">
                <a:solidFill>
                  <a:srgbClr val="3E3E3E"/>
                </a:solidFill>
                <a:latin typeface="Noto Sans JP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07639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37343" y="2036454"/>
            <a:ext cx="11249606" cy="3311525"/>
          </a:xfr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endParaRPr kumimoji="1" lang="vi-VN" altLang="ja-JP" sz="3000" dirty="0">
              <a:solidFill>
                <a:srgbClr val="FF0000"/>
              </a:solidFill>
            </a:endParaRPr>
          </a:p>
          <a:p>
            <a:r>
              <a:rPr kumimoji="1" lang="ja-JP" altLang="en-US" sz="3000" dirty="0">
                <a:solidFill>
                  <a:srgbClr val="FF0000"/>
                </a:solidFill>
              </a:rPr>
              <a:t>なん</a:t>
            </a:r>
            <a:r>
              <a:rPr kumimoji="1" lang="vi-VN" altLang="ja-JP" sz="3000" dirty="0"/>
              <a:t>: ? </a:t>
            </a:r>
            <a:r>
              <a:rPr kumimoji="1" lang="ja-JP" altLang="en-US" sz="3000" dirty="0"/>
              <a:t>➡</a:t>
            </a:r>
            <a:r>
              <a:rPr kumimoji="1" lang="ja-JP" altLang="en-US" sz="3000" dirty="0">
                <a:solidFill>
                  <a:srgbClr val="FF0000"/>
                </a:solidFill>
              </a:rPr>
              <a:t>なんさい／おいくつ</a:t>
            </a:r>
            <a:r>
              <a:rPr kumimoji="1" lang="ja-JP" altLang="en-US" sz="3000" dirty="0"/>
              <a:t>：　</a:t>
            </a:r>
            <a:r>
              <a:rPr kumimoji="1" lang="vi-VN" altLang="ja-JP" sz="3000" dirty="0"/>
              <a:t>?</a:t>
            </a:r>
            <a:endParaRPr kumimoji="1" lang="en-US" altLang="ja-JP" sz="3000" dirty="0"/>
          </a:p>
          <a:p>
            <a:r>
              <a:rPr kumimoji="1" lang="ja-JP" altLang="en-US" sz="3000" dirty="0">
                <a:solidFill>
                  <a:srgbClr val="FF0000"/>
                </a:solidFill>
              </a:rPr>
              <a:t>どこ➡どちら</a:t>
            </a:r>
            <a:r>
              <a:rPr kumimoji="1" lang="vi-VN" altLang="ja-JP" sz="3000" dirty="0"/>
              <a:t>:?</a:t>
            </a:r>
            <a:endParaRPr kumimoji="1" lang="en-US" altLang="ja-JP" sz="3000" dirty="0"/>
          </a:p>
          <a:p>
            <a:r>
              <a:rPr kumimoji="1" lang="ja-JP" altLang="en-US" sz="3000" dirty="0">
                <a:solidFill>
                  <a:srgbClr val="FF0000"/>
                </a:solidFill>
              </a:rPr>
              <a:t>いつ</a:t>
            </a:r>
            <a:r>
              <a:rPr kumimoji="1" lang="vi-VN" altLang="ja-JP" sz="3000" dirty="0"/>
              <a:t>: ? -&gt;</a:t>
            </a:r>
            <a:r>
              <a:rPr kumimoji="1" lang="ja-JP" altLang="en-US" sz="3000" dirty="0">
                <a:solidFill>
                  <a:srgbClr val="FF0000"/>
                </a:solidFill>
              </a:rPr>
              <a:t>なんがつ</a:t>
            </a:r>
            <a:r>
              <a:rPr kumimoji="1" lang="ja-JP" altLang="en-US" sz="3000" dirty="0"/>
              <a:t>（</a:t>
            </a:r>
            <a:r>
              <a:rPr kumimoji="1" lang="vi-VN" altLang="ja-JP" sz="3000" dirty="0"/>
              <a:t> ?</a:t>
            </a:r>
            <a:r>
              <a:rPr kumimoji="1" lang="ja-JP" altLang="en-US" sz="3000" dirty="0"/>
              <a:t>）　</a:t>
            </a:r>
            <a:r>
              <a:rPr kumimoji="1" lang="ja-JP" altLang="en-US" sz="3000" dirty="0">
                <a:solidFill>
                  <a:srgbClr val="FF0000"/>
                </a:solidFill>
              </a:rPr>
              <a:t>なんにち</a:t>
            </a:r>
            <a:r>
              <a:rPr kumimoji="1" lang="vi-VN" altLang="ja-JP" sz="3000" dirty="0"/>
              <a:t> (?)</a:t>
            </a:r>
            <a:endParaRPr kumimoji="1" lang="en-US" altLang="ja-JP" sz="3000" dirty="0"/>
          </a:p>
          <a:p>
            <a:endParaRPr kumimoji="1" lang="en-US" altLang="ja-JP" sz="3000" dirty="0"/>
          </a:p>
        </p:txBody>
      </p:sp>
      <p:sp>
        <p:nvSpPr>
          <p:cNvPr id="4" name="Rectangle 3"/>
          <p:cNvSpPr/>
          <p:nvPr/>
        </p:nvSpPr>
        <p:spPr>
          <a:xfrm>
            <a:off x="260062" y="715819"/>
            <a:ext cx="52790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※TU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HOI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（</a:t>
            </a:r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NVT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）</a:t>
            </a:r>
            <a:endParaRPr kumimoji="1" lang="en-US" altLang="ja-JP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2" descr="疑問・質問を考える可愛い女性のイラスト | 無料フリーイラスト素材集【Frame illust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740" y="2363452"/>
            <a:ext cx="2230782" cy="298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81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37343" y="1311966"/>
            <a:ext cx="11249606" cy="4036014"/>
          </a:xfr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000" dirty="0">
                <a:solidFill>
                  <a:srgbClr val="FF0000"/>
                </a:solidFill>
              </a:rPr>
              <a:t>なん</a:t>
            </a:r>
            <a:r>
              <a:rPr kumimoji="1" lang="vi-VN" altLang="ja-JP" sz="3000" dirty="0"/>
              <a:t>: cái gì? </a:t>
            </a:r>
            <a:r>
              <a:rPr kumimoji="1" lang="ja-JP" altLang="en-US" sz="3000" dirty="0"/>
              <a:t>➡</a:t>
            </a:r>
            <a:r>
              <a:rPr kumimoji="1" lang="ja-JP" altLang="en-US" sz="3000" dirty="0">
                <a:solidFill>
                  <a:srgbClr val="FF0000"/>
                </a:solidFill>
              </a:rPr>
              <a:t>なんさい／おいくつ</a:t>
            </a:r>
            <a:r>
              <a:rPr lang="en-US" altLang="ja-JP" sz="3000" dirty="0">
                <a:solidFill>
                  <a:srgbClr val="FF0000"/>
                </a:solidFill>
              </a:rPr>
              <a:t>( oi </a:t>
            </a:r>
            <a:r>
              <a:rPr lang="en-US" altLang="ja-JP" sz="3000" dirty="0" err="1">
                <a:solidFill>
                  <a:srgbClr val="FF0000"/>
                </a:solidFill>
              </a:rPr>
              <a:t>ku</a:t>
            </a:r>
            <a:r>
              <a:rPr lang="en-US" altLang="ja-JP" sz="3000" dirty="0">
                <a:solidFill>
                  <a:srgbClr val="FF0000"/>
                </a:solidFill>
              </a:rPr>
              <a:t> </a:t>
            </a:r>
            <a:r>
              <a:rPr lang="en-US" altLang="ja-JP" sz="3000" dirty="0" err="1">
                <a:solidFill>
                  <a:srgbClr val="FF0000"/>
                </a:solidFill>
              </a:rPr>
              <a:t>tsu</a:t>
            </a:r>
            <a:r>
              <a:rPr lang="en-US" altLang="ja-JP" sz="3000" dirty="0">
                <a:solidFill>
                  <a:srgbClr val="FF0000"/>
                </a:solidFill>
              </a:rPr>
              <a:t>)</a:t>
            </a:r>
            <a:r>
              <a:rPr kumimoji="1" lang="ja-JP" altLang="en-US" sz="3000" dirty="0"/>
              <a:t>：　</a:t>
            </a:r>
            <a:r>
              <a:rPr kumimoji="1" lang="vi-VN" altLang="ja-JP" sz="3000" dirty="0"/>
              <a:t>mấy tuổi</a:t>
            </a:r>
            <a:endParaRPr kumimoji="1" lang="en-US" altLang="ja-JP" sz="3000" dirty="0"/>
          </a:p>
          <a:p>
            <a:pPr>
              <a:lnSpc>
                <a:spcPct val="150000"/>
              </a:lnSpc>
            </a:pPr>
            <a:r>
              <a:rPr kumimoji="1" lang="ja-JP" altLang="en-US" sz="3000" dirty="0">
                <a:solidFill>
                  <a:srgbClr val="FF0000"/>
                </a:solidFill>
              </a:rPr>
              <a:t>どこ➡どちら</a:t>
            </a:r>
            <a:r>
              <a:rPr kumimoji="1" lang="vi-VN" altLang="ja-JP" sz="3000" dirty="0"/>
              <a:t>: ở đâu (HỎI TÊN RIÊNG CỦA CƠ QUAN, TỔ CHỨC)</a:t>
            </a:r>
            <a:r>
              <a:rPr kumimoji="1" lang="en-US" altLang="ja-JP" sz="3000" dirty="0"/>
              <a:t> </a:t>
            </a:r>
            <a:r>
              <a:rPr kumimoji="1" lang="en-US" altLang="ja-JP" sz="3000" dirty="0">
                <a:highlight>
                  <a:srgbClr val="FFFF00"/>
                </a:highlight>
              </a:rPr>
              <a:t>( </a:t>
            </a:r>
            <a:r>
              <a:rPr kumimoji="1" lang="en-US" altLang="ja-JP" sz="3000" dirty="0" err="1">
                <a:highlight>
                  <a:srgbClr val="FFFF00"/>
                </a:highlight>
              </a:rPr>
              <a:t>đo</a:t>
            </a:r>
            <a:r>
              <a:rPr kumimoji="1" lang="en-US" altLang="ja-JP" sz="3000" dirty="0">
                <a:highlight>
                  <a:srgbClr val="FFFF00"/>
                </a:highlight>
              </a:rPr>
              <a:t> ko </a:t>
            </a:r>
            <a:r>
              <a:rPr kumimoji="1" lang="en-US" altLang="ja-JP" sz="3000" dirty="0" err="1">
                <a:highlight>
                  <a:srgbClr val="FFFF00"/>
                </a:highlight>
              </a:rPr>
              <a:t>và</a:t>
            </a:r>
            <a:r>
              <a:rPr kumimoji="1" lang="en-US" altLang="ja-JP" sz="3000" dirty="0">
                <a:highlight>
                  <a:srgbClr val="FFFF00"/>
                </a:highlight>
              </a:rPr>
              <a:t> </a:t>
            </a:r>
            <a:r>
              <a:rPr kumimoji="1" lang="en-US" altLang="ja-JP" sz="3000" dirty="0" err="1">
                <a:highlight>
                  <a:srgbClr val="FFFF00"/>
                </a:highlight>
              </a:rPr>
              <a:t>đô</a:t>
            </a:r>
            <a:r>
              <a:rPr kumimoji="1" lang="en-US" altLang="ja-JP" sz="3000" dirty="0">
                <a:highlight>
                  <a:srgbClr val="FFFF00"/>
                </a:highlight>
              </a:rPr>
              <a:t> chi </a:t>
            </a:r>
            <a:r>
              <a:rPr kumimoji="1" lang="en-US" altLang="ja-JP" sz="3000" dirty="0" err="1">
                <a:highlight>
                  <a:srgbClr val="FFFF00"/>
                </a:highlight>
              </a:rPr>
              <a:t>ra</a:t>
            </a:r>
            <a:r>
              <a:rPr kumimoji="1" lang="en-US" altLang="ja-JP" sz="3000" dirty="0">
                <a:highlight>
                  <a:srgbClr val="FFFF00"/>
                </a:highlight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ja-JP" altLang="en-US" sz="3000" dirty="0">
                <a:solidFill>
                  <a:srgbClr val="FF0000"/>
                </a:solidFill>
              </a:rPr>
              <a:t>いつ</a:t>
            </a:r>
            <a:r>
              <a:rPr kumimoji="1" lang="vi-VN" altLang="ja-JP" sz="3000" dirty="0"/>
              <a:t>: KHI nào -&gt;</a:t>
            </a:r>
            <a:r>
              <a:rPr kumimoji="1" lang="ja-JP" altLang="en-US" sz="3000" dirty="0">
                <a:solidFill>
                  <a:srgbClr val="FF0000"/>
                </a:solidFill>
              </a:rPr>
              <a:t>なんがつ</a:t>
            </a:r>
            <a:r>
              <a:rPr kumimoji="1" lang="ja-JP" altLang="en-US" sz="3000" dirty="0"/>
              <a:t>（</a:t>
            </a:r>
            <a:r>
              <a:rPr kumimoji="1" lang="vi-VN" altLang="ja-JP" sz="3000" dirty="0"/>
              <a:t> tháng mấy</a:t>
            </a:r>
            <a:r>
              <a:rPr kumimoji="1" lang="ja-JP" altLang="en-US" sz="3000" dirty="0"/>
              <a:t>）　</a:t>
            </a:r>
            <a:r>
              <a:rPr kumimoji="1" lang="ja-JP" altLang="en-US" sz="3000" dirty="0">
                <a:solidFill>
                  <a:srgbClr val="FF0000"/>
                </a:solidFill>
              </a:rPr>
              <a:t>なんにち</a:t>
            </a:r>
            <a:r>
              <a:rPr kumimoji="1" lang="vi-VN" altLang="ja-JP" sz="3000" dirty="0"/>
              <a:t> (ngày mấy)</a:t>
            </a:r>
            <a:r>
              <a:rPr kumimoji="1" lang="en-US" altLang="ja-JP" sz="3000" dirty="0"/>
              <a:t> ( </a:t>
            </a:r>
            <a:r>
              <a:rPr kumimoji="1" lang="en-US" altLang="ja-JP" sz="3000" dirty="0" err="1"/>
              <a:t>ni</a:t>
            </a:r>
            <a:r>
              <a:rPr kumimoji="1" lang="en-US" altLang="ja-JP" sz="3000" dirty="0"/>
              <a:t> chi) 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355" y="421621"/>
            <a:ext cx="52790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※TU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HOI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（</a:t>
            </a:r>
            <a:r>
              <a:rPr lang="en-US" altLang="ja-JP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NVT</a:t>
            </a:r>
            <a:r>
              <a:rPr lang="ja-JP" alt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）</a:t>
            </a:r>
            <a:endParaRPr kumimoji="1" lang="en-US" altLang="ja-JP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73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1592"/>
          <a:stretch/>
        </p:blipFill>
        <p:spPr>
          <a:xfrm>
            <a:off x="0" y="1985319"/>
            <a:ext cx="10920866" cy="39009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7644" y="136028"/>
            <a:ext cx="10645728" cy="17064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4000" dirty="0">
                <a:solidFill>
                  <a:schemeClr val="tx1"/>
                </a:solidFill>
              </a:rPr>
              <a:t>   </a:t>
            </a:r>
            <a:r>
              <a:rPr lang="ja-JP" altLang="en-US" sz="2000" dirty="0">
                <a:solidFill>
                  <a:srgbClr val="FF0000"/>
                </a:solidFill>
              </a:rPr>
              <a:t>がつ</a:t>
            </a:r>
            <a:endParaRPr lang="vi-VN" altLang="ja-JP" sz="2000" dirty="0">
              <a:solidFill>
                <a:srgbClr val="FF0000"/>
              </a:solidFill>
            </a:endParaRPr>
          </a:p>
          <a:p>
            <a:r>
              <a:rPr lang="ja-JP" altLang="en-US" sz="4000" dirty="0">
                <a:solidFill>
                  <a:schemeClr val="tx1"/>
                </a:solidFill>
              </a:rPr>
              <a:t>～月　</a:t>
            </a:r>
            <a:r>
              <a:rPr lang="vi-VN" altLang="ja-JP" sz="4000" dirty="0">
                <a:solidFill>
                  <a:schemeClr val="tx1"/>
                </a:solidFill>
              </a:rPr>
              <a:t>-&gt; </a:t>
            </a:r>
            <a:r>
              <a:rPr lang="ja-JP" altLang="en-US" sz="4000" dirty="0">
                <a:solidFill>
                  <a:schemeClr val="tx1"/>
                </a:solidFill>
                <a:highlight>
                  <a:srgbClr val="FFFF00"/>
                </a:highlight>
              </a:rPr>
              <a:t>なん</a:t>
            </a:r>
            <a:r>
              <a:rPr lang="ja-JP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がつ</a:t>
            </a:r>
            <a:r>
              <a:rPr lang="ja-JP" altLang="en-US" sz="4000" dirty="0">
                <a:solidFill>
                  <a:schemeClr val="tx1"/>
                </a:solidFill>
              </a:rPr>
              <a:t>？</a:t>
            </a:r>
            <a:endParaRPr lang="en-US" altLang="ja-JP" sz="4000" dirty="0">
              <a:solidFill>
                <a:schemeClr val="tx1"/>
              </a:solidFill>
            </a:endParaRPr>
          </a:p>
          <a:p>
            <a:r>
              <a:rPr lang="vi-VN" altLang="ja-JP" sz="4000" dirty="0">
                <a:solidFill>
                  <a:schemeClr val="tx1"/>
                </a:solidFill>
              </a:rPr>
              <a:t>Tháng ~ (Thời gian)</a:t>
            </a:r>
            <a:r>
              <a:rPr lang="ja-JP" altLang="en-US" sz="4000" dirty="0">
                <a:solidFill>
                  <a:schemeClr val="tx1"/>
                </a:solidFill>
              </a:rPr>
              <a:t>　→</a:t>
            </a:r>
            <a:r>
              <a:rPr lang="vi-VN" altLang="ja-JP" sz="4000" dirty="0">
                <a:solidFill>
                  <a:schemeClr val="tx1"/>
                </a:solidFill>
              </a:rPr>
              <a:t>tháng mấy?</a:t>
            </a:r>
          </a:p>
        </p:txBody>
      </p:sp>
    </p:spTree>
    <p:extLst>
      <p:ext uri="{BB962C8B-B14F-4D97-AF65-F5344CB8AC3E}">
        <p14:creationId xmlns:p14="http://schemas.microsoft.com/office/powerpoint/2010/main" val="50007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05" y="1475707"/>
            <a:ext cx="7895644" cy="524807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7643" y="136028"/>
            <a:ext cx="11392135" cy="120145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4000" dirty="0">
                <a:solidFill>
                  <a:schemeClr val="tx1"/>
                </a:solidFill>
              </a:rPr>
              <a:t>   </a:t>
            </a:r>
            <a:r>
              <a:rPr lang="ja-JP" altLang="en-US" sz="4000" dirty="0">
                <a:solidFill>
                  <a:schemeClr val="tx1"/>
                </a:solidFill>
              </a:rPr>
              <a:t>～日</a:t>
            </a:r>
            <a:r>
              <a:rPr lang="ja-JP" altLang="en-US" sz="4000" dirty="0">
                <a:solidFill>
                  <a:srgbClr val="FF0000"/>
                </a:solidFill>
              </a:rPr>
              <a:t>（にち／か）</a:t>
            </a:r>
            <a:r>
              <a:rPr lang="ja-JP" altLang="en-US" sz="4000" dirty="0">
                <a:solidFill>
                  <a:schemeClr val="tx1"/>
                </a:solidFill>
              </a:rPr>
              <a:t>　</a:t>
            </a:r>
            <a:r>
              <a:rPr lang="vi-VN" altLang="ja-JP" sz="4000" dirty="0">
                <a:solidFill>
                  <a:schemeClr val="tx1"/>
                </a:solidFill>
              </a:rPr>
              <a:t>-&gt; </a:t>
            </a:r>
            <a:r>
              <a:rPr lang="ja-JP" altLang="en-US" sz="4000" dirty="0">
                <a:solidFill>
                  <a:schemeClr val="tx1"/>
                </a:solidFill>
              </a:rPr>
              <a:t>なん</a:t>
            </a:r>
            <a:r>
              <a:rPr lang="ja-JP" altLang="en-US" sz="4000" dirty="0">
                <a:solidFill>
                  <a:srgbClr val="FF0000"/>
                </a:solidFill>
              </a:rPr>
              <a:t>にち</a:t>
            </a:r>
            <a:r>
              <a:rPr lang="ja-JP" altLang="en-US" sz="4000" dirty="0">
                <a:solidFill>
                  <a:schemeClr val="tx1"/>
                </a:solidFill>
              </a:rPr>
              <a:t>？</a:t>
            </a:r>
            <a:endParaRPr lang="en-US" altLang="ja-JP" sz="4000" dirty="0">
              <a:solidFill>
                <a:schemeClr val="tx1"/>
              </a:solidFill>
            </a:endParaRPr>
          </a:p>
          <a:p>
            <a:r>
              <a:rPr lang="vi-VN" altLang="ja-JP" sz="4000" dirty="0">
                <a:solidFill>
                  <a:schemeClr val="tx1"/>
                </a:solidFill>
              </a:rPr>
              <a:t>ngày ~ (Thời gian)</a:t>
            </a:r>
            <a:r>
              <a:rPr lang="ja-JP" altLang="en-US" sz="4000" dirty="0">
                <a:solidFill>
                  <a:schemeClr val="tx1"/>
                </a:solidFill>
              </a:rPr>
              <a:t>　→</a:t>
            </a:r>
            <a:r>
              <a:rPr lang="vi-VN" altLang="ja-JP" sz="4000" dirty="0">
                <a:solidFill>
                  <a:schemeClr val="tx1"/>
                </a:solidFill>
              </a:rPr>
              <a:t>ngày mấy?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08949" y="1617817"/>
            <a:ext cx="3695478" cy="486486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dirty="0">
                <a:solidFill>
                  <a:schemeClr val="tx1"/>
                </a:solidFill>
              </a:rPr>
              <a:t>※</a:t>
            </a:r>
            <a:r>
              <a:rPr lang="vi-VN" altLang="ja-JP" sz="2500" dirty="0">
                <a:solidFill>
                  <a:schemeClr val="tx1"/>
                </a:solidFill>
              </a:rPr>
              <a:t>ngày </a:t>
            </a:r>
            <a:r>
              <a:rPr lang="ja-JP" altLang="en-US" sz="2500" dirty="0">
                <a:solidFill>
                  <a:srgbClr val="FF0000"/>
                </a:solidFill>
              </a:rPr>
              <a:t>○</a:t>
            </a:r>
            <a:r>
              <a:rPr lang="vi-VN" altLang="ja-JP" sz="2500" dirty="0">
                <a:solidFill>
                  <a:srgbClr val="FF0000"/>
                </a:solidFill>
              </a:rPr>
              <a:t>4</a:t>
            </a:r>
            <a:r>
              <a:rPr lang="ja-JP" altLang="en-US" sz="2500" dirty="0">
                <a:solidFill>
                  <a:schemeClr val="tx1"/>
                </a:solidFill>
              </a:rPr>
              <a:t>（</a:t>
            </a:r>
            <a:r>
              <a:rPr lang="en-US" altLang="ja-JP" sz="2500" dirty="0">
                <a:solidFill>
                  <a:schemeClr val="tx1"/>
                </a:solidFill>
              </a:rPr>
              <a:t>4,14,24</a:t>
            </a:r>
            <a:r>
              <a:rPr lang="ja-JP" altLang="en-US" sz="2500" dirty="0">
                <a:solidFill>
                  <a:schemeClr val="tx1"/>
                </a:solidFill>
              </a:rPr>
              <a:t>）</a:t>
            </a:r>
            <a:r>
              <a:rPr lang="ja-JP" altLang="en-US" sz="2500" dirty="0">
                <a:solidFill>
                  <a:srgbClr val="FF0000"/>
                </a:solidFill>
              </a:rPr>
              <a:t>○</a:t>
            </a:r>
            <a:r>
              <a:rPr lang="ja-JP" altLang="en-US" sz="2500" dirty="0">
                <a:solidFill>
                  <a:schemeClr val="tx1"/>
                </a:solidFill>
              </a:rPr>
              <a:t>よっか</a:t>
            </a:r>
            <a:endParaRPr lang="en-US" altLang="ja-JP" sz="2500" dirty="0">
              <a:solidFill>
                <a:schemeClr val="tx1"/>
              </a:solidFill>
            </a:endParaRPr>
          </a:p>
          <a:p>
            <a:endParaRPr lang="vi-VN" altLang="ja-JP" sz="2500" dirty="0">
              <a:solidFill>
                <a:schemeClr val="tx1"/>
              </a:solidFill>
            </a:endParaRPr>
          </a:p>
          <a:p>
            <a:r>
              <a:rPr lang="en-US" altLang="ja-JP" sz="2500" dirty="0">
                <a:solidFill>
                  <a:schemeClr val="tx1"/>
                </a:solidFill>
              </a:rPr>
              <a:t>※</a:t>
            </a:r>
            <a:r>
              <a:rPr lang="vi-VN" sz="2500" dirty="0">
                <a:solidFill>
                  <a:schemeClr val="tx1"/>
                </a:solidFill>
              </a:rPr>
              <a:t>Các ngày còn lại đọc </a:t>
            </a:r>
            <a:r>
              <a:rPr lang="vi-VN" sz="2500" dirty="0">
                <a:solidFill>
                  <a:srgbClr val="FF0000"/>
                </a:solidFill>
              </a:rPr>
              <a:t>số đếm+</a:t>
            </a:r>
            <a:r>
              <a:rPr lang="ja-JP" altLang="en-US" sz="2500" dirty="0">
                <a:solidFill>
                  <a:srgbClr val="FF0000"/>
                </a:solidFill>
              </a:rPr>
              <a:t>にち</a:t>
            </a:r>
            <a:endParaRPr lang="en-US" altLang="ja-JP" sz="2500" dirty="0">
              <a:solidFill>
                <a:srgbClr val="FF0000"/>
              </a:solidFill>
            </a:endParaRPr>
          </a:p>
          <a:p>
            <a:r>
              <a:rPr lang="vi-VN" sz="2500" dirty="0">
                <a:solidFill>
                  <a:schemeClr val="tx1"/>
                </a:solidFill>
              </a:rPr>
              <a:t>Ví dụ:</a:t>
            </a:r>
          </a:p>
          <a:p>
            <a:r>
              <a:rPr lang="vi-VN" sz="2500" dirty="0">
                <a:solidFill>
                  <a:schemeClr val="tx1"/>
                </a:solidFill>
              </a:rPr>
              <a:t>Ngày 11:</a:t>
            </a:r>
          </a:p>
          <a:p>
            <a:r>
              <a:rPr lang="ja-JP" altLang="en-US" sz="2500" dirty="0">
                <a:solidFill>
                  <a:schemeClr val="tx1"/>
                </a:solidFill>
              </a:rPr>
              <a:t>じゅう</a:t>
            </a:r>
            <a:r>
              <a:rPr lang="ja-JP" altLang="en-US" sz="2500" dirty="0">
                <a:solidFill>
                  <a:srgbClr val="FF0000"/>
                </a:solidFill>
              </a:rPr>
              <a:t>いち　にち</a:t>
            </a:r>
            <a:endParaRPr lang="vi-VN" altLang="ja-JP" sz="2500" dirty="0">
              <a:solidFill>
                <a:srgbClr val="FF0000"/>
              </a:solidFill>
            </a:endParaRPr>
          </a:p>
          <a:p>
            <a:endParaRPr lang="en-US" sz="2500" dirty="0">
              <a:solidFill>
                <a:srgbClr val="FF0000"/>
              </a:solidFill>
            </a:endParaRPr>
          </a:p>
          <a:p>
            <a:r>
              <a:rPr lang="vi-VN" sz="2500" dirty="0">
                <a:solidFill>
                  <a:srgbClr val="FF0000"/>
                </a:solidFill>
              </a:rPr>
              <a:t>(7: </a:t>
            </a:r>
            <a:r>
              <a:rPr lang="ja-JP" altLang="en-US" sz="2500" dirty="0">
                <a:solidFill>
                  <a:srgbClr val="FF0000"/>
                </a:solidFill>
              </a:rPr>
              <a:t>しち　</a:t>
            </a:r>
            <a:r>
              <a:rPr lang="vi-VN" sz="2500" dirty="0">
                <a:solidFill>
                  <a:srgbClr val="FF0000"/>
                </a:solidFill>
              </a:rPr>
              <a:t>9:</a:t>
            </a:r>
            <a:r>
              <a:rPr lang="ja-JP" altLang="en-US" sz="2500" dirty="0">
                <a:solidFill>
                  <a:srgbClr val="FF0000"/>
                </a:solidFill>
              </a:rPr>
              <a:t>く）</a:t>
            </a:r>
            <a:r>
              <a:rPr lang="vi-VN" sz="25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5337" y="1596788"/>
            <a:ext cx="1651379" cy="50496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93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7343" y="340128"/>
            <a:ext cx="11044890" cy="149860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dirty="0"/>
              <a:t>だい１か</a:t>
            </a:r>
            <a:r>
              <a:rPr kumimoji="1" lang="en-US" altLang="ja-JP" dirty="0"/>
              <a:t>_</a:t>
            </a:r>
            <a:r>
              <a:rPr kumimoji="1" lang="ja-JP" altLang="en-US" dirty="0"/>
              <a:t>文法まとめ</a:t>
            </a:r>
            <a:br>
              <a:rPr kumimoji="1" lang="vi-VN" altLang="ja-JP" dirty="0"/>
            </a:br>
            <a:r>
              <a:rPr lang="vi-VN" altLang="ja-JP" dirty="0"/>
              <a:t>Tổng hợp NP bài 1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37343" y="2077398"/>
            <a:ext cx="11044890" cy="440528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TRỢ TỪ (</a:t>
            </a:r>
            <a:r>
              <a:rPr kumimoji="1" lang="ja-JP" altLang="en-US" sz="3000" dirty="0"/>
              <a:t>助詞じょし</a:t>
            </a:r>
            <a:r>
              <a:rPr kumimoji="1" lang="vi-VN" altLang="ja-JP" sz="3000" dirty="0"/>
              <a:t>) và thì</a:t>
            </a:r>
            <a:endParaRPr kumimoji="1" lang="vi-VN" altLang="ja-JP" sz="3000" b="1" u="sng" dirty="0"/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S+</a:t>
            </a:r>
            <a:r>
              <a:rPr kumimoji="1" lang="ja-JP" altLang="en-US" sz="3000" dirty="0">
                <a:solidFill>
                  <a:srgbClr val="FF0000"/>
                </a:solidFill>
              </a:rPr>
              <a:t>は</a:t>
            </a:r>
            <a:r>
              <a:rPr kumimoji="1" lang="vi-VN" altLang="ja-JP" sz="30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S+</a:t>
            </a:r>
            <a:r>
              <a:rPr kumimoji="1" lang="ja-JP" altLang="en-US" sz="3000" dirty="0">
                <a:solidFill>
                  <a:srgbClr val="FF0000"/>
                </a:solidFill>
              </a:rPr>
              <a:t>も</a:t>
            </a:r>
            <a:r>
              <a:rPr kumimoji="1" lang="vi-VN" altLang="ja-JP" sz="30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3000" dirty="0"/>
              <a:t>N</a:t>
            </a:r>
            <a:r>
              <a:rPr kumimoji="1" lang="ja-JP" altLang="en-US" sz="3000" dirty="0">
                <a:solidFill>
                  <a:srgbClr val="FF0000"/>
                </a:solidFill>
              </a:rPr>
              <a:t>です</a:t>
            </a:r>
            <a:r>
              <a:rPr kumimoji="1" lang="ja-JP" altLang="en-US" sz="3000" dirty="0"/>
              <a:t>／</a:t>
            </a:r>
            <a:r>
              <a:rPr kumimoji="1" lang="en-US" altLang="ja-JP" sz="3000" dirty="0"/>
              <a:t>N</a:t>
            </a:r>
            <a:r>
              <a:rPr kumimoji="1" lang="ja-JP" altLang="en-US" sz="3000" b="1" dirty="0">
                <a:solidFill>
                  <a:schemeClr val="accent5">
                    <a:lumMod val="75000"/>
                  </a:schemeClr>
                </a:solidFill>
              </a:rPr>
              <a:t>では</a:t>
            </a:r>
            <a:r>
              <a:rPr kumimoji="1" lang="ja-JP" altLang="en-US" sz="3000" dirty="0">
                <a:solidFill>
                  <a:schemeClr val="accent5">
                    <a:lumMod val="75000"/>
                  </a:schemeClr>
                </a:solidFill>
              </a:rPr>
              <a:t>ありません</a:t>
            </a:r>
            <a:r>
              <a:rPr kumimoji="1" lang="vi-VN" altLang="ja-JP" sz="3000" dirty="0"/>
              <a:t>:</a:t>
            </a:r>
            <a:endParaRPr kumimoji="1" lang="en-US" altLang="ja-JP" sz="3000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sz="3000" dirty="0"/>
              <a:t>S</a:t>
            </a:r>
            <a:r>
              <a:rPr lang="ja-JP" altLang="en-US" sz="3000" dirty="0"/>
              <a:t>は</a:t>
            </a:r>
            <a:r>
              <a:rPr lang="vi-VN" altLang="ja-JP" sz="3000" dirty="0"/>
              <a:t>_____</a:t>
            </a:r>
            <a:r>
              <a:rPr lang="ja-JP" altLang="en-US" sz="3000" dirty="0"/>
              <a:t>です</a:t>
            </a:r>
            <a:r>
              <a:rPr lang="ja-JP" altLang="en-US" sz="3000" dirty="0">
                <a:solidFill>
                  <a:srgbClr val="FF0000"/>
                </a:solidFill>
              </a:rPr>
              <a:t>か：</a:t>
            </a:r>
            <a:r>
              <a:rPr lang="vi-VN" altLang="ja-JP" sz="3000" dirty="0">
                <a:solidFill>
                  <a:srgbClr val="FF0000"/>
                </a:solidFill>
              </a:rPr>
              <a:t>có 2 Loại câu hỏi? (ko NVT/ có NVT)</a:t>
            </a:r>
            <a:endParaRPr kumimoji="1" lang="vi-VN" altLang="ja-JP" sz="3000" dirty="0"/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N1</a:t>
            </a:r>
            <a:r>
              <a:rPr kumimoji="1" lang="ja-JP" altLang="en-US" sz="3000" dirty="0">
                <a:solidFill>
                  <a:srgbClr val="FF0000"/>
                </a:solidFill>
              </a:rPr>
              <a:t>の</a:t>
            </a:r>
            <a:r>
              <a:rPr kumimoji="1" lang="vi-VN" altLang="ja-JP" sz="3000" b="1" u="sng" dirty="0"/>
              <a:t>N2</a:t>
            </a:r>
            <a:r>
              <a:rPr kumimoji="1" lang="vi-VN" altLang="ja-JP" sz="30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N1</a:t>
            </a:r>
            <a:r>
              <a:rPr kumimoji="1" lang="ja-JP" altLang="en-US" sz="3000" dirty="0">
                <a:solidFill>
                  <a:srgbClr val="FF0000"/>
                </a:solidFill>
              </a:rPr>
              <a:t>と</a:t>
            </a:r>
            <a:r>
              <a:rPr kumimoji="1" lang="vi-VN" altLang="ja-JP" sz="3000" dirty="0"/>
              <a:t>N2</a:t>
            </a:r>
            <a:endParaRPr kumimoji="1" lang="ja-JP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77378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7343" y="340128"/>
            <a:ext cx="11044890" cy="149860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dirty="0"/>
              <a:t>だい１か</a:t>
            </a:r>
            <a:r>
              <a:rPr kumimoji="1" lang="en-US" altLang="ja-JP" dirty="0"/>
              <a:t>_</a:t>
            </a:r>
            <a:r>
              <a:rPr kumimoji="1" lang="ja-JP" altLang="en-US" dirty="0"/>
              <a:t>文法まとめ</a:t>
            </a:r>
            <a:br>
              <a:rPr kumimoji="1" lang="vi-VN" altLang="ja-JP" dirty="0"/>
            </a:br>
            <a:r>
              <a:rPr lang="vi-VN" altLang="ja-JP" dirty="0"/>
              <a:t>Tổng hợp NP bài 1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37343" y="2077398"/>
            <a:ext cx="11044890" cy="4405289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TRỢ TỪ (</a:t>
            </a:r>
            <a:r>
              <a:rPr kumimoji="1" lang="ja-JP" altLang="en-US" sz="3000" dirty="0"/>
              <a:t>助詞じょし</a:t>
            </a:r>
            <a:r>
              <a:rPr kumimoji="1" lang="vi-VN" altLang="ja-JP" sz="3000" dirty="0"/>
              <a:t>) và thì</a:t>
            </a:r>
            <a:endParaRPr kumimoji="1" lang="vi-VN" altLang="ja-JP" sz="3000" b="1" u="sng" dirty="0"/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S+</a:t>
            </a:r>
            <a:r>
              <a:rPr kumimoji="1" lang="ja-JP" altLang="en-US" sz="3000" dirty="0">
                <a:solidFill>
                  <a:srgbClr val="FF0000"/>
                </a:solidFill>
              </a:rPr>
              <a:t>は</a:t>
            </a:r>
            <a:r>
              <a:rPr kumimoji="1" lang="vi-VN" altLang="ja-JP" sz="3000" dirty="0"/>
              <a:t>: là, THÌ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S+</a:t>
            </a:r>
            <a:r>
              <a:rPr kumimoji="1" lang="ja-JP" altLang="en-US" sz="3000" dirty="0">
                <a:solidFill>
                  <a:srgbClr val="FF0000"/>
                </a:solidFill>
              </a:rPr>
              <a:t>も</a:t>
            </a:r>
            <a:r>
              <a:rPr kumimoji="1" lang="vi-VN" altLang="ja-JP" sz="3000" dirty="0"/>
              <a:t>: CŨNG, CŨNG LÀ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3000" dirty="0"/>
              <a:t>N</a:t>
            </a:r>
            <a:r>
              <a:rPr kumimoji="1" lang="ja-JP" altLang="en-US" sz="3000" dirty="0">
                <a:solidFill>
                  <a:srgbClr val="FF0000"/>
                </a:solidFill>
              </a:rPr>
              <a:t>です</a:t>
            </a:r>
            <a:r>
              <a:rPr kumimoji="1" lang="ja-JP" altLang="en-US" sz="3000" dirty="0"/>
              <a:t>／</a:t>
            </a:r>
            <a:r>
              <a:rPr kumimoji="1" lang="en-US" altLang="ja-JP" sz="3000" dirty="0"/>
              <a:t>N</a:t>
            </a:r>
            <a:r>
              <a:rPr kumimoji="1" lang="ja-JP" altLang="en-US" sz="3000" dirty="0">
                <a:solidFill>
                  <a:schemeClr val="accent5">
                    <a:lumMod val="75000"/>
                  </a:schemeClr>
                </a:solidFill>
              </a:rPr>
              <a:t>ではありません</a:t>
            </a:r>
            <a:r>
              <a:rPr kumimoji="1" lang="vi-VN" altLang="ja-JP" sz="3000" dirty="0"/>
              <a:t>: </a:t>
            </a:r>
            <a:r>
              <a:rPr kumimoji="1" lang="vi-VN" altLang="ja-JP" sz="3000" dirty="0">
                <a:solidFill>
                  <a:srgbClr val="FF0000"/>
                </a:solidFill>
              </a:rPr>
              <a:t>Thì KD, </a:t>
            </a:r>
            <a:r>
              <a:rPr kumimoji="1" lang="vi-VN" altLang="ja-JP" sz="3000" dirty="0">
                <a:solidFill>
                  <a:schemeClr val="accent5">
                    <a:lumMod val="75000"/>
                  </a:schemeClr>
                </a:solidFill>
              </a:rPr>
              <a:t>PD</a:t>
            </a:r>
            <a:r>
              <a:rPr kumimoji="1" lang="vi-VN" altLang="ja-JP" sz="3000" dirty="0">
                <a:solidFill>
                  <a:srgbClr val="FF0000"/>
                </a:solidFill>
              </a:rPr>
              <a:t> </a:t>
            </a:r>
            <a:r>
              <a:rPr kumimoji="1" lang="vi-VN" altLang="ja-JP" sz="3000" dirty="0"/>
              <a:t>của N</a:t>
            </a:r>
            <a:endParaRPr kumimoji="1" lang="en-US" altLang="ja-JP" sz="3000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sz="3000" dirty="0"/>
              <a:t>S</a:t>
            </a:r>
            <a:r>
              <a:rPr lang="ja-JP" altLang="en-US" sz="3000" dirty="0"/>
              <a:t>は</a:t>
            </a:r>
            <a:r>
              <a:rPr lang="en-US" altLang="ja-JP" sz="3000" dirty="0"/>
              <a:t>N</a:t>
            </a:r>
            <a:r>
              <a:rPr lang="ja-JP" altLang="en-US" sz="3000" dirty="0"/>
              <a:t>です</a:t>
            </a:r>
            <a:r>
              <a:rPr lang="ja-JP" altLang="en-US" sz="3000" dirty="0">
                <a:solidFill>
                  <a:srgbClr val="FF0000"/>
                </a:solidFill>
              </a:rPr>
              <a:t>か：</a:t>
            </a:r>
            <a:r>
              <a:rPr lang="vi-VN" altLang="ja-JP" sz="3000" dirty="0">
                <a:solidFill>
                  <a:srgbClr val="FF0000"/>
                </a:solidFill>
              </a:rPr>
              <a:t>Thêm vào câu hỏi. </a:t>
            </a:r>
          </a:p>
          <a:p>
            <a:pPr marL="514350" indent="-514350">
              <a:buFont typeface="+mj-lt"/>
              <a:buAutoNum type="arabicPeriod"/>
            </a:pPr>
            <a:r>
              <a:rPr lang="vi-VN" altLang="ja-JP" sz="3000" dirty="0"/>
              <a:t>Câu hỏi: có 2 dạng (có NVT/  ko NVT-&gt; yes/no)</a:t>
            </a:r>
            <a:endParaRPr kumimoji="1" lang="vi-VN" altLang="ja-JP" sz="3000" dirty="0"/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N1</a:t>
            </a:r>
            <a:r>
              <a:rPr kumimoji="1" lang="ja-JP" altLang="en-US" sz="3000" dirty="0">
                <a:solidFill>
                  <a:srgbClr val="FF0000"/>
                </a:solidFill>
              </a:rPr>
              <a:t>の</a:t>
            </a:r>
            <a:r>
              <a:rPr kumimoji="1" lang="vi-VN" altLang="ja-JP" sz="3000" b="1" u="sng" dirty="0"/>
              <a:t>N2</a:t>
            </a:r>
            <a:r>
              <a:rPr kumimoji="1" lang="vi-VN" altLang="ja-JP" sz="3000" dirty="0"/>
              <a:t>: </a:t>
            </a:r>
            <a:r>
              <a:rPr kumimoji="1" lang="vi-VN" altLang="ja-JP" sz="3000" dirty="0">
                <a:solidFill>
                  <a:srgbClr val="FF0000"/>
                </a:solidFill>
              </a:rPr>
              <a:t>của</a:t>
            </a:r>
            <a:r>
              <a:rPr kumimoji="1" lang="vi-VN" altLang="ja-JP" sz="3000" dirty="0"/>
              <a:t> (N1 bổ nghĩa cho N2)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vi-VN" altLang="ja-JP" sz="3000" dirty="0"/>
              <a:t>N1</a:t>
            </a:r>
            <a:r>
              <a:rPr kumimoji="1" lang="ja-JP" altLang="en-US" sz="3000" dirty="0">
                <a:solidFill>
                  <a:srgbClr val="FF0000"/>
                </a:solidFill>
              </a:rPr>
              <a:t>と</a:t>
            </a:r>
            <a:r>
              <a:rPr kumimoji="1" lang="vi-VN" altLang="ja-JP" sz="3000" dirty="0"/>
              <a:t>N2:</a:t>
            </a:r>
            <a:r>
              <a:rPr kumimoji="1" lang="vi-VN" altLang="ja-JP" sz="3000" dirty="0">
                <a:solidFill>
                  <a:srgbClr val="FF0000"/>
                </a:solidFill>
              </a:rPr>
              <a:t>VÀ</a:t>
            </a:r>
            <a:r>
              <a:rPr kumimoji="1" lang="vi-VN" altLang="ja-JP" sz="3000" dirty="0"/>
              <a:t> (N1, N2 đồng đẳng với nhau)</a:t>
            </a:r>
            <a:endParaRPr kumimoji="1" lang="ja-JP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592695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833096" y="653874"/>
            <a:ext cx="4495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ja-JP" sz="3600">
                <a:solidFill>
                  <a:schemeClr val="tx2"/>
                </a:solidFill>
                <a:latin typeface="RyuminPro-Regular-Identity-H"/>
              </a:rPr>
              <a:t>MỤC TIÊU BÀI 1</a:t>
            </a:r>
            <a:endParaRPr lang="en-US" altLang="ja-JP" sz="3600" dirty="0">
              <a:solidFill>
                <a:schemeClr val="tx2"/>
              </a:solidFill>
              <a:latin typeface="RyuminPro-Regular-Identity-H"/>
            </a:endParaRPr>
          </a:p>
          <a:p>
            <a:r>
              <a:rPr lang="ja-JP" altLang="en-US" sz="3600" dirty="0">
                <a:solidFill>
                  <a:schemeClr val="tx2"/>
                </a:solidFill>
                <a:latin typeface="RyuminPro-Regular-Identity-H"/>
              </a:rPr>
              <a:t>行動目標</a:t>
            </a:r>
            <a:endParaRPr lang="ja-JP" altLang="en-US" sz="3600" dirty="0">
              <a:solidFill>
                <a:schemeClr val="tx2"/>
              </a:solidFill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143501" y="3364599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lang="en-US">
                <a:latin typeface="Arial" pitchFamily="34" charset="0"/>
                <a:cs typeface="Arial" pitchFamily="34" charset="0"/>
              </a:rPr>
            </a:br>
            <a:endParaRPr lang="en-US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Logo_FPT_University_do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876" y="256"/>
            <a:ext cx="2211124" cy="1307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目標へ向かうイラスト／無料イラストなら「イラストAC」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650" y="3619499"/>
            <a:ext cx="4324350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01668"/>
              </p:ext>
            </p:extLst>
          </p:nvPr>
        </p:nvGraphicFramePr>
        <p:xfrm>
          <a:off x="692603" y="2349611"/>
          <a:ext cx="8458200" cy="1737360"/>
        </p:xfrm>
        <a:graphic>
          <a:graphicData uri="http://schemas.openxmlformats.org/drawingml/2006/table">
            <a:tbl>
              <a:tblPr/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3600" b="1" i="0" dirty="0">
                          <a:solidFill>
                            <a:srgbClr val="00B050"/>
                          </a:solidFill>
                          <a:effectLst/>
                          <a:latin typeface="RyuminPro-Regular-Identity-H"/>
                        </a:rPr>
                        <a:t>簡単に自分のこと（名前・国・ 趣味など） を話したり相手のことを聞いたりすることができる。</a:t>
                      </a:r>
                      <a:endParaRPr lang="ja-JP" altLang="en-US" sz="36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43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話してみよう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598" y="1241061"/>
            <a:ext cx="4947403" cy="495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494" y="1282300"/>
            <a:ext cx="3898106" cy="4896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Logo_FPT_University_doc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54555"/>
            <a:ext cx="1444942" cy="8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371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話してみよう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90314"/>
            <a:ext cx="4953000" cy="5186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1290314"/>
            <a:ext cx="4529138" cy="5186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8626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8" y="380799"/>
            <a:ext cx="1028700" cy="59195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7"/>
          <p:cNvSpPr/>
          <p:nvPr/>
        </p:nvSpPr>
        <p:spPr>
          <a:xfrm>
            <a:off x="4811556" y="247000"/>
            <a:ext cx="3199327" cy="17865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第</a:t>
            </a:r>
            <a:r>
              <a:rPr lang="en-US" altLang="ja-JP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1</a:t>
            </a:r>
            <a:r>
              <a:rPr lang="ja-JP" altLang="en-US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課</a:t>
            </a:r>
            <a:endParaRPr lang="en-US" sz="7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Rounded Rectangle 5"/>
          <p:cNvSpPr/>
          <p:nvPr/>
        </p:nvSpPr>
        <p:spPr>
          <a:xfrm rot="20688987">
            <a:off x="1311635" y="468166"/>
            <a:ext cx="2261051" cy="116372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6000" b="1" dirty="0">
                <a:solidFill>
                  <a:srgbClr val="FFFF00"/>
                </a:solidFill>
              </a:rPr>
              <a:t>ST</a:t>
            </a:r>
            <a:r>
              <a:rPr lang="ja-JP" altLang="en-US" sz="6000" b="1" dirty="0">
                <a:solidFill>
                  <a:srgbClr val="FFFF00"/>
                </a:solidFill>
              </a:rPr>
              <a:t>１</a:t>
            </a:r>
            <a:endParaRPr lang="en-US" sz="6000" dirty="0"/>
          </a:p>
        </p:txBody>
      </p:sp>
      <p:sp>
        <p:nvSpPr>
          <p:cNvPr id="7" name="Rounded Rectangle 6"/>
          <p:cNvSpPr/>
          <p:nvPr/>
        </p:nvSpPr>
        <p:spPr>
          <a:xfrm>
            <a:off x="1961563" y="2154285"/>
            <a:ext cx="8239959" cy="148530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000" b="1" dirty="0">
                <a:solidFill>
                  <a:schemeClr val="tx1"/>
                </a:solidFill>
                <a:latin typeface="+mj-ea"/>
                <a:ea typeface="+mj-ea"/>
              </a:rPr>
              <a:t>わたし　　　　　なまえ　　　　　くに　　　　しごと</a:t>
            </a:r>
            <a:endParaRPr lang="en-US" altLang="ja-JP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ja-JP" altLang="en-US" sz="6000" b="1" dirty="0">
                <a:solidFill>
                  <a:srgbClr val="00B050"/>
                </a:solidFill>
                <a:latin typeface="+mj-ea"/>
                <a:ea typeface="+mj-ea"/>
              </a:rPr>
              <a:t>私の名前・国・仕事</a:t>
            </a:r>
            <a:endParaRPr lang="en-US" sz="6000" b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18021" y="4212203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</a:rPr>
              <a:t>できること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150294"/>
              </p:ext>
            </p:extLst>
          </p:nvPr>
        </p:nvGraphicFramePr>
        <p:xfrm>
          <a:off x="1882052" y="4858247"/>
          <a:ext cx="7418987" cy="1066800"/>
        </p:xfrm>
        <a:graphic>
          <a:graphicData uri="http://schemas.openxmlformats.org/drawingml/2006/table">
            <a:tbl>
              <a:tblPr/>
              <a:tblGrid>
                <a:gridCol w="7418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3200" b="0" i="0" dirty="0">
                          <a:solidFill>
                            <a:schemeClr val="tx1"/>
                          </a:solidFill>
                          <a:effectLst/>
                          <a:latin typeface="RyuminPro-Regular-Identity-H"/>
                        </a:rPr>
                        <a:t>自分の名前・国・仕事を言ったり 相手に聞いたりすることができ る</a:t>
                      </a:r>
                      <a:endParaRPr lang="ja-JP" altLang="en-US" sz="3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62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551709" y="1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１，２，３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736" y="1181100"/>
            <a:ext cx="8277064" cy="558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5791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１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68111"/>
            <a:ext cx="4813448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1" y="3948545"/>
            <a:ext cx="4352925" cy="290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7008004_DiscA_02" descr="7008004_DiscA_02">
            <a:hlinkClick r:id="" action="ppaction://media"/>
            <a:extLst>
              <a:ext uri="{FF2B5EF4-FFF2-40B4-BE49-F238E27FC236}">
                <a16:creationId xmlns:a16="http://schemas.microsoft.com/office/drawing/2014/main" id="{FCF95697-7162-E849-9571-7E1512CCAB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537200" y="303356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1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4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１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2" name="7008004_DiscA_02" descr="7008004_DiscA_02">
            <a:hlinkClick r:id="" action="ppaction://media"/>
            <a:extLst>
              <a:ext uri="{FF2B5EF4-FFF2-40B4-BE49-F238E27FC236}">
                <a16:creationId xmlns:a16="http://schemas.microsoft.com/office/drawing/2014/main" id="{FCF95697-7162-E849-9571-7E1512CCAB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37200" y="303356"/>
            <a:ext cx="812800" cy="81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398" y="2536466"/>
            <a:ext cx="6324600" cy="1077218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：はじめまして。わたしはパクです。</a:t>
            </a:r>
            <a:endParaRPr lang="en-US" altLang="ja-JP" sz="32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　　よろしくおねがいします。</a:t>
            </a:r>
            <a:endParaRPr lang="en-US" sz="3200" b="1" dirty="0">
              <a:latin typeface="MS PMincho" pitchFamily="18" charset="-128"/>
              <a:ea typeface="MS PMincho" pitchFamily="18" charset="-128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005762" y="553517"/>
            <a:ext cx="5118248" cy="3124200"/>
            <a:chOff x="3276600" y="195709"/>
            <a:chExt cx="5118248" cy="312420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6600" y="195709"/>
              <a:ext cx="4813448" cy="3124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311236" y="1948309"/>
              <a:ext cx="609600" cy="707886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ja-JP" sz="4000" b="1" dirty="0"/>
                <a:t>A</a:t>
              </a:r>
              <a:endParaRPr lang="en-US" sz="40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85248" y="1240423"/>
              <a:ext cx="609600" cy="707886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ja-JP" sz="4000" b="1" dirty="0"/>
                <a:t>B</a:t>
              </a:r>
              <a:endParaRPr lang="en-US" sz="4000" b="1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96253" y="3908066"/>
            <a:ext cx="7453745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：はじめまして。（わたしは）ダニエルです。</a:t>
            </a:r>
            <a:endParaRPr lang="en-US" altLang="ja-JP" sz="32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　　</a:t>
            </a:r>
            <a:r>
              <a:rPr lang="ja-JP" altLang="en-US" sz="32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こちらこそ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よろしくおねがいします。</a:t>
            </a:r>
            <a:endParaRPr lang="en-US" sz="32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186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4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96036" y="370193"/>
            <a:ext cx="10617958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S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は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　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N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です。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 S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là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 N</a:t>
            </a:r>
            <a:endParaRPr lang="en-US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877" y="3081811"/>
            <a:ext cx="5243012" cy="3446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80497" y="2946639"/>
            <a:ext cx="6882126" cy="163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5000" b="1" u="sng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わたし</a:t>
            </a:r>
            <a:r>
              <a:rPr lang="vi-VN" altLang="ja-JP" sz="5000" b="1" u="sng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5000" b="1" u="sng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5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パク</a:t>
            </a:r>
            <a:r>
              <a:rPr lang="vi-VN" altLang="ja-JP" sz="5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5000" b="1" dirty="0">
                <a:solidFill>
                  <a:srgbClr val="00B0F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です。</a:t>
            </a:r>
            <a:endParaRPr lang="en-US" altLang="ja-JP" sz="5000" b="1" dirty="0">
              <a:solidFill>
                <a:srgbClr val="00B0F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pPr algn="ctr" eaLnBrk="1" hangingPunct="1"/>
            <a:endParaRPr lang="en-US" sz="5000" b="1" dirty="0">
              <a:solidFill>
                <a:srgbClr val="00B0F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161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2250830" y="3560287"/>
            <a:ext cx="6705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わたし</a:t>
            </a:r>
            <a:r>
              <a:rPr lang="vi-VN" altLang="ja-JP" sz="36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36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36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パク</a:t>
            </a:r>
            <a:r>
              <a:rPr lang="vi-VN" altLang="ja-JP" sz="36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3600" b="1" dirty="0">
                <a:solidFill>
                  <a:srgbClr val="00B0F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です。</a:t>
            </a:r>
            <a:endParaRPr lang="en-US" sz="3600" b="1" dirty="0">
              <a:solidFill>
                <a:srgbClr val="00B0F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" name="TextBox 11"/>
          <p:cNvSpPr txBox="1">
            <a:spLocks noChangeArrowheads="1"/>
          </p:cNvSpPr>
          <p:nvPr/>
        </p:nvSpPr>
        <p:spPr bwMode="auto">
          <a:xfrm>
            <a:off x="2250830" y="4735831"/>
            <a:ext cx="670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ja-JP" sz="2400" dirty="0" err="1">
                <a:latin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dirty="0" err="1">
                <a:latin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 PAKU</a:t>
            </a:r>
            <a:r>
              <a:rPr lang="ja-JP" altLang="en-US" sz="2400" dirty="0">
                <a:latin typeface="Tahoma" panose="020B0604030504040204" pitchFamily="34" charset="0"/>
                <a:cs typeface="Tahoma" panose="020B0604030504040204" pitchFamily="34" charset="0"/>
              </a:rPr>
              <a:t> （</a:t>
            </a:r>
            <a:r>
              <a:rPr lang="vi-VN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PARK)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>
              <a:latin typeface="Tahoma" panose="020B0604030504040204" pitchFamily="34" charset="0"/>
              <a:ea typeface="ＭＳ Ｐゴシック" panose="020B0600070205080204" pitchFamily="34" charset="-128"/>
              <a:cs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84230" y="3560287"/>
            <a:ext cx="1447800" cy="646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146430" y="3560287"/>
            <a:ext cx="1828800" cy="646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384430" y="3421380"/>
            <a:ext cx="762000" cy="923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975230" y="3568224"/>
            <a:ext cx="1219200" cy="6477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96036" y="360254"/>
            <a:ext cx="10617958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vi-VN" altLang="ja-JP" sz="4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S</a:t>
            </a:r>
            <a:r>
              <a:rPr lang="ja-JP" altLang="en-US" sz="4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は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　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N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です。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 S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là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 N</a:t>
            </a:r>
            <a:endParaRPr lang="en-US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0" name="Rounded Rectangular Callout 9"/>
          <p:cNvSpPr/>
          <p:nvPr/>
        </p:nvSpPr>
        <p:spPr>
          <a:xfrm rot="20833725">
            <a:off x="1641230" y="5114449"/>
            <a:ext cx="2209800" cy="1295400"/>
          </a:xfrm>
          <a:prstGeom prst="wedgeRoundRectCallout">
            <a:avLst>
              <a:gd name="adj1" fmla="val 46408"/>
              <a:gd name="adj2" fmla="val -104167"/>
              <a:gd name="adj3" fmla="val 16667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TỪ</a:t>
            </a:r>
          </a:p>
          <a:p>
            <a:pPr algn="ctr"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CHỦ NGỮ</a:t>
            </a:r>
          </a:p>
        </p:txBody>
      </p:sp>
      <p:sp>
        <p:nvSpPr>
          <p:cNvPr id="11" name="Rounded Rectangular Callout 10"/>
          <p:cNvSpPr/>
          <p:nvPr/>
        </p:nvSpPr>
        <p:spPr>
          <a:xfrm rot="306994">
            <a:off x="7700718" y="5241449"/>
            <a:ext cx="2209800" cy="1295400"/>
          </a:xfrm>
          <a:prstGeom prst="wedgeRoundRectCallout">
            <a:avLst>
              <a:gd name="adj1" fmla="val -98532"/>
              <a:gd name="adj2" fmla="val -114547"/>
              <a:gd name="adj3" fmla="val 16667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 TỪ</a:t>
            </a:r>
          </a:p>
          <a:p>
            <a:pPr algn="ctr">
              <a:defRPr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 NGỮ</a:t>
            </a:r>
          </a:p>
        </p:txBody>
      </p:sp>
      <p:sp>
        <p:nvSpPr>
          <p:cNvPr id="12" name="Oval Callout 11"/>
          <p:cNvSpPr/>
          <p:nvPr/>
        </p:nvSpPr>
        <p:spPr>
          <a:xfrm rot="20869587">
            <a:off x="188814" y="2573754"/>
            <a:ext cx="3129417" cy="1039813"/>
          </a:xfrm>
          <a:prstGeom prst="wedgeEllipseCallout">
            <a:avLst>
              <a:gd name="adj1" fmla="val 74768"/>
              <a:gd name="adj2" fmla="val 9307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vi-V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S+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 TỪ</a:t>
            </a:r>
          </a:p>
          <a:p>
            <a:pPr algn="ctr">
              <a:defRPr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[</a:t>
            </a:r>
            <a:r>
              <a:rPr lang="en-US" sz="16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</a:p>
        </p:txBody>
      </p:sp>
      <p:sp>
        <p:nvSpPr>
          <p:cNvPr id="13" name="Oval Callout 12"/>
          <p:cNvSpPr/>
          <p:nvPr/>
        </p:nvSpPr>
        <p:spPr>
          <a:xfrm rot="419072">
            <a:off x="7414945" y="2493496"/>
            <a:ext cx="3944718" cy="1216025"/>
          </a:xfrm>
          <a:prstGeom prst="wedgeEllipseCallout">
            <a:avLst>
              <a:gd name="adj1" fmla="val -43242"/>
              <a:gd name="adj2" fmla="val 5341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defRPr/>
            </a:pP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vi-VN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 </a:t>
            </a:r>
            <a:r>
              <a:rPr lang="vi-V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 tại Khẳng định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552138" y="1295120"/>
            <a:ext cx="5641136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500" dirty="0"/>
              <a:t>- </a:t>
            </a:r>
            <a:r>
              <a:rPr lang="en-US" sz="2500" dirty="0" err="1"/>
              <a:t>Câu</a:t>
            </a:r>
            <a:r>
              <a:rPr lang="en-US" sz="2500" dirty="0"/>
              <a:t> </a:t>
            </a:r>
            <a:r>
              <a:rPr lang="en-US" sz="2500" dirty="0" err="1"/>
              <a:t>danh</a:t>
            </a:r>
            <a:r>
              <a:rPr lang="en-US" sz="2500" dirty="0"/>
              <a:t> </a:t>
            </a:r>
            <a:r>
              <a:rPr lang="en-US" sz="2500" dirty="0" err="1"/>
              <a:t>từ</a:t>
            </a:r>
            <a:r>
              <a:rPr lang="en-US" sz="2500" dirty="0"/>
              <a:t> (A, B </a:t>
            </a:r>
            <a:r>
              <a:rPr lang="en-US" sz="2500" dirty="0" err="1"/>
              <a:t>đều</a:t>
            </a:r>
            <a:r>
              <a:rPr lang="en-US" sz="2500" dirty="0"/>
              <a:t> </a:t>
            </a:r>
            <a:r>
              <a:rPr lang="en-US" sz="2500" dirty="0" err="1"/>
              <a:t>là</a:t>
            </a:r>
            <a:r>
              <a:rPr lang="en-US" sz="2500" dirty="0"/>
              <a:t> </a:t>
            </a:r>
            <a:r>
              <a:rPr lang="en-US" sz="2500" dirty="0" err="1"/>
              <a:t>danh</a:t>
            </a:r>
            <a:r>
              <a:rPr lang="en-US" sz="2500" dirty="0"/>
              <a:t> </a:t>
            </a:r>
            <a:r>
              <a:rPr lang="en-US" sz="2500" dirty="0" err="1"/>
              <a:t>từ</a:t>
            </a:r>
            <a:r>
              <a:rPr lang="en-US" sz="2500" dirty="0"/>
              <a:t>)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647672" y="1703108"/>
            <a:ext cx="607900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500" dirty="0"/>
              <a:t>-</a:t>
            </a:r>
            <a:r>
              <a:rPr lang="vi-VN" sz="2500" dirty="0"/>
              <a:t>Thì Khẳng định hiện tại</a:t>
            </a:r>
            <a:endParaRPr lang="en-US" sz="2500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647672" y="2061883"/>
            <a:ext cx="607900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500" dirty="0"/>
              <a:t>- </a:t>
            </a:r>
            <a:r>
              <a:rPr lang="en-US" sz="2500" dirty="0" err="1"/>
              <a:t>Cách</a:t>
            </a:r>
            <a:r>
              <a:rPr lang="en-US" sz="2500" dirty="0"/>
              <a:t> </a:t>
            </a:r>
            <a:r>
              <a:rPr lang="en-US" sz="2500" dirty="0" err="1"/>
              <a:t>nói</a:t>
            </a:r>
            <a:r>
              <a:rPr lang="en-US" sz="2500" dirty="0"/>
              <a:t> </a:t>
            </a:r>
            <a:r>
              <a:rPr lang="en-US" sz="2500" dirty="0" err="1"/>
              <a:t>lịch</a:t>
            </a:r>
            <a:r>
              <a:rPr lang="en-US" sz="2500" dirty="0"/>
              <a:t> </a:t>
            </a:r>
            <a:r>
              <a:rPr lang="en-US" sz="2500" dirty="0" err="1"/>
              <a:t>sự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50615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02462" y="2134228"/>
            <a:ext cx="3720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>
                <a:solidFill>
                  <a:srgbClr val="0070C0"/>
                </a:solidFill>
              </a:rPr>
              <a:t>Tôi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là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người</a:t>
            </a:r>
            <a:r>
              <a:rPr lang="en-US" sz="2000" i="1" dirty="0">
                <a:solidFill>
                  <a:srgbClr val="0070C0"/>
                </a:solidFill>
              </a:rPr>
              <a:t> Việt Nam.</a:t>
            </a:r>
          </a:p>
        </p:txBody>
      </p:sp>
      <p:sp>
        <p:nvSpPr>
          <p:cNvPr id="3" name="TextBox 18"/>
          <p:cNvSpPr txBox="1">
            <a:spLocks noChangeArrowheads="1"/>
          </p:cNvSpPr>
          <p:nvPr/>
        </p:nvSpPr>
        <p:spPr bwMode="auto">
          <a:xfrm>
            <a:off x="7968748" y="3734381"/>
            <a:ext cx="3720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>
                <a:solidFill>
                  <a:srgbClr val="0070C0"/>
                </a:solidFill>
                <a:highlight>
                  <a:srgbClr val="FFFF00"/>
                </a:highlight>
              </a:rPr>
              <a:t>Chúng</a:t>
            </a:r>
            <a:r>
              <a:rPr lang="en-US" sz="2000" i="1" dirty="0">
                <a:solidFill>
                  <a:srgbClr val="0070C0"/>
                </a:solidFill>
                <a:highlight>
                  <a:srgbClr val="FFFF00"/>
                </a:highlight>
              </a:rPr>
              <a:t> </a:t>
            </a:r>
            <a:r>
              <a:rPr lang="en-US" sz="2000" i="1" dirty="0" err="1">
                <a:solidFill>
                  <a:srgbClr val="0070C0"/>
                </a:solidFill>
                <a:highlight>
                  <a:srgbClr val="FFFF00"/>
                </a:highlight>
              </a:rPr>
              <a:t>tôi</a:t>
            </a:r>
            <a:r>
              <a:rPr lang="en-US" sz="2000" i="1" dirty="0">
                <a:solidFill>
                  <a:srgbClr val="0070C0"/>
                </a:solidFill>
                <a:highlight>
                  <a:srgbClr val="FFFF00"/>
                </a:highlight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là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học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sinh</a:t>
            </a:r>
            <a:r>
              <a:rPr lang="en-US" sz="2000" i="1" dirty="0">
                <a:solidFill>
                  <a:srgbClr val="0070C0"/>
                </a:solidFill>
              </a:rPr>
              <a:t> .</a:t>
            </a:r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7435917" y="4599097"/>
            <a:ext cx="3720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>
                <a:solidFill>
                  <a:srgbClr val="0070C0"/>
                </a:solidFill>
              </a:rPr>
              <a:t>Người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kia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là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FF0000"/>
                </a:solidFill>
              </a:rPr>
              <a:t>người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0070C0"/>
                </a:solidFill>
              </a:rPr>
              <a:t>Nhật.</a:t>
            </a:r>
          </a:p>
        </p:txBody>
      </p:sp>
      <p:sp>
        <p:nvSpPr>
          <p:cNvPr id="5" name="TextBox 20"/>
          <p:cNvSpPr txBox="1">
            <a:spLocks noChangeArrowheads="1"/>
          </p:cNvSpPr>
          <p:nvPr/>
        </p:nvSpPr>
        <p:spPr bwMode="auto">
          <a:xfrm>
            <a:off x="232224" y="5463813"/>
            <a:ext cx="42554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>
                <a:solidFill>
                  <a:srgbClr val="0070C0"/>
                </a:solidFill>
              </a:rPr>
              <a:t>Bạn</a:t>
            </a:r>
            <a:r>
              <a:rPr lang="en-US" sz="2000" i="1" dirty="0">
                <a:solidFill>
                  <a:srgbClr val="0070C0"/>
                </a:solidFill>
              </a:rPr>
              <a:t> Linh </a:t>
            </a:r>
            <a:r>
              <a:rPr lang="en-US" sz="2000" i="1" dirty="0" err="1">
                <a:solidFill>
                  <a:srgbClr val="0070C0"/>
                </a:solidFill>
              </a:rPr>
              <a:t>là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nhân</a:t>
            </a:r>
            <a:r>
              <a:rPr lang="en-US" sz="2000" i="1" dirty="0">
                <a:solidFill>
                  <a:srgbClr val="0070C0"/>
                </a:solidFill>
              </a:rPr>
              <a:t> viên </a:t>
            </a:r>
            <a:r>
              <a:rPr lang="en-US" sz="2000" i="1" dirty="0" err="1">
                <a:solidFill>
                  <a:srgbClr val="0070C0"/>
                </a:solidFill>
              </a:rPr>
              <a:t>văn</a:t>
            </a:r>
            <a:r>
              <a:rPr lang="en-US" sz="2000" i="1" dirty="0">
                <a:solidFill>
                  <a:srgbClr val="0070C0"/>
                </a:solidFill>
              </a:rPr>
              <a:t> </a:t>
            </a:r>
            <a:r>
              <a:rPr lang="en-US" sz="2000" i="1" dirty="0" err="1">
                <a:solidFill>
                  <a:srgbClr val="0070C0"/>
                </a:solidFill>
              </a:rPr>
              <a:t>phòng</a:t>
            </a:r>
            <a:r>
              <a:rPr lang="en-US" sz="2000" i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6" name="TextBox 21"/>
          <p:cNvSpPr txBox="1">
            <a:spLocks noChangeArrowheads="1"/>
          </p:cNvSpPr>
          <p:nvPr/>
        </p:nvSpPr>
        <p:spPr bwMode="auto">
          <a:xfrm>
            <a:off x="225350" y="2012983"/>
            <a:ext cx="6705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①わたし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／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ベトナム</a:t>
            </a:r>
            <a:r>
              <a:rPr lang="ja-JP" altLang="en-US" sz="3600" b="1" dirty="0"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じん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？。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　</a:t>
            </a:r>
            <a:r>
              <a:rPr lang="vi-VN" altLang="ja-JP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(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べとなむ）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22"/>
          <p:cNvSpPr txBox="1">
            <a:spLocks noChangeArrowheads="1"/>
          </p:cNvSpPr>
          <p:nvPr/>
        </p:nvSpPr>
        <p:spPr bwMode="auto">
          <a:xfrm>
            <a:off x="225349" y="3575075"/>
            <a:ext cx="766897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②わたし</a:t>
            </a:r>
            <a:r>
              <a:rPr lang="ja-JP" altLang="en-US" sz="3600" dirty="0"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たち </a:t>
            </a:r>
            <a:r>
              <a:rPr lang="en-US" altLang="ja-JP" sz="3600" dirty="0"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(ta chi)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／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がくせい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／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8" name="TextBox 23"/>
          <p:cNvSpPr txBox="1">
            <a:spLocks noChangeArrowheads="1"/>
          </p:cNvSpPr>
          <p:nvPr/>
        </p:nvSpPr>
        <p:spPr bwMode="auto">
          <a:xfrm>
            <a:off x="157110" y="4505973"/>
            <a:ext cx="6705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③あの</a:t>
            </a:r>
            <a:r>
              <a:rPr lang="ja-JP" altLang="en-US" sz="3600" dirty="0"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ひと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／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にほん？？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／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TextBox 24"/>
          <p:cNvSpPr txBox="1">
            <a:spLocks noChangeArrowheads="1"/>
          </p:cNvSpPr>
          <p:nvPr/>
        </p:nvSpPr>
        <p:spPr bwMode="auto">
          <a:xfrm>
            <a:off x="225350" y="5863923"/>
            <a:ext cx="105563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④</a:t>
            </a:r>
            <a:r>
              <a:rPr lang="en-US" altLang="ja-JP" sz="3600" dirty="0" err="1">
                <a:latin typeface="NtMotoyaKyotai" panose="02020200000000000000" pitchFamily="18" charset="-128"/>
                <a:ea typeface="NtMotoyaKyotai" panose="02020200000000000000" pitchFamily="18" charset="-128"/>
              </a:rPr>
              <a:t>Linh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さん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／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（しゃいん？</a:t>
            </a:r>
            <a:r>
              <a:rPr lang="ja-JP" altLang="en-US" sz="3600" dirty="0"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かいしゃいん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？）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 ／ 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1026" name="Picture 2" descr="両手でハイタッチ 目標達成までがんばろう #cute #art #illustration #monochrome #イラスト #手描きイラスト  #ゆるい #かわいい #素材 | ハイタッチ イラスト, イラスト, 手描きイラス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020" y="-226789"/>
            <a:ext cx="2209768" cy="22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 rot="21261246">
            <a:off x="290587" y="214095"/>
            <a:ext cx="2870200" cy="1328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LUYỆN TẬP</a:t>
            </a:r>
          </a:p>
          <a:p>
            <a:pPr algn="ctr"/>
            <a:r>
              <a:rPr lang="ja-JP" alt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れんしゅう</a:t>
            </a: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00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１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816" y="1960720"/>
            <a:ext cx="4352925" cy="290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7008004_DiscA_02" descr="7008004_DiscA_02">
            <a:hlinkClick r:id="" action="ppaction://media"/>
            <a:extLst>
              <a:ext uri="{FF2B5EF4-FFF2-40B4-BE49-F238E27FC236}">
                <a16:creationId xmlns:a16="http://schemas.microsoft.com/office/drawing/2014/main" id="{FCF95697-7162-E849-9571-7E1512CCAB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37200" y="311594"/>
            <a:ext cx="812800" cy="81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5237" y="4253575"/>
            <a:ext cx="41148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4000" b="1" dirty="0">
                <a:latin typeface="MS PMincho" pitchFamily="18" charset="-128"/>
                <a:ea typeface="MS PMincho" pitchFamily="18" charset="-128"/>
              </a:rPr>
              <a:t>：お</a:t>
            </a:r>
            <a:r>
              <a:rPr lang="ja-JP" altLang="en-US" sz="40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なまえ</a:t>
            </a:r>
            <a:r>
              <a:rPr lang="ja-JP" altLang="en-US" sz="4000" b="1" dirty="0">
                <a:latin typeface="MS PMincho" pitchFamily="18" charset="-128"/>
                <a:ea typeface="MS PMincho" pitchFamily="18" charset="-128"/>
              </a:rPr>
              <a:t>は</a:t>
            </a:r>
            <a:r>
              <a:rPr lang="ja-JP" altLang="en-US" sz="40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⤴</a:t>
            </a:r>
            <a:r>
              <a:rPr lang="ja-JP" altLang="en-US" sz="4000" b="1" dirty="0">
                <a:latin typeface="MS PMincho" pitchFamily="18" charset="-128"/>
                <a:ea typeface="MS PMincho" pitchFamily="18" charset="-128"/>
              </a:rPr>
              <a:t>？</a:t>
            </a:r>
            <a:endParaRPr lang="en-US" sz="40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5237" y="5414075"/>
            <a:ext cx="4080163" cy="70788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4000" b="1" dirty="0">
                <a:latin typeface="MS PMincho" pitchFamily="18" charset="-128"/>
                <a:ea typeface="MS PMincho" pitchFamily="18" charset="-128"/>
              </a:rPr>
              <a:t>：ワン（わん）です。</a:t>
            </a:r>
            <a:endParaRPr lang="en-US" sz="40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134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4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４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52214"/>
            <a:ext cx="5638800" cy="373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05 Track 5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35314" y="1608438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52600" y="5135205"/>
            <a:ext cx="370609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：おしごとは？</a:t>
            </a:r>
            <a:endParaRPr lang="en-US" sz="36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64494" y="6049605"/>
            <a:ext cx="5879306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：わたしは　がくせいです。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5867400" y="5305969"/>
            <a:ext cx="457200" cy="3048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77000" y="5072160"/>
            <a:ext cx="4191000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Nghề</a:t>
            </a:r>
            <a:r>
              <a:rPr lang="en-US" sz="32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nghiệp</a:t>
            </a:r>
            <a:r>
              <a:rPr lang="en-US" sz="32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của</a:t>
            </a:r>
            <a:r>
              <a:rPr lang="en-US" sz="32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bạn</a:t>
            </a:r>
            <a:r>
              <a:rPr lang="en-US" sz="32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lang="en-US" sz="32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gì</a:t>
            </a:r>
            <a:r>
              <a:rPr lang="en-US" sz="32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5201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99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2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710" y="381000"/>
            <a:ext cx="5638800" cy="373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306784" y="4267201"/>
            <a:ext cx="619298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：あのう、</a:t>
            </a:r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さん、おしごとは？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7565" y="5105401"/>
            <a:ext cx="5762483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：わたしは</a:t>
            </a:r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__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がくせいです。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41419" y="2246547"/>
            <a:ext cx="6096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b="1" dirty="0"/>
              <a:t>A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480448" y="1627257"/>
            <a:ext cx="6096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b="1" dirty="0"/>
              <a:t>B</a:t>
            </a:r>
            <a:endParaRPr lang="en-US" sz="4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57401" y="5867401"/>
            <a:ext cx="861059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：そうですか。わたしは　かいしゃいん 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88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7" grpId="0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143" y="3765666"/>
            <a:ext cx="4352925" cy="290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Callout 2"/>
          <p:cNvSpPr/>
          <p:nvPr/>
        </p:nvSpPr>
        <p:spPr>
          <a:xfrm>
            <a:off x="914400" y="2138901"/>
            <a:ext cx="5096786" cy="1626765"/>
          </a:xfrm>
          <a:prstGeom prst="wedgeEllipseCallout">
            <a:avLst>
              <a:gd name="adj1" fmla="val 24641"/>
              <a:gd name="adj2" fmla="val 6592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b="1" dirty="0">
                <a:solidFill>
                  <a:srgbClr val="FF0000"/>
                </a:solidFill>
              </a:rPr>
              <a:t>お</a:t>
            </a:r>
            <a:r>
              <a:rPr kumimoji="1" lang="en-US" altLang="ja-JP" sz="3000" b="1" dirty="0">
                <a:solidFill>
                  <a:srgbClr val="FF0000"/>
                </a:solidFill>
              </a:rPr>
              <a:t>(</a:t>
            </a:r>
            <a:r>
              <a:rPr kumimoji="1" lang="en-US" altLang="ja-JP" sz="3000" b="1" dirty="0" err="1">
                <a:solidFill>
                  <a:srgbClr val="FF0000"/>
                </a:solidFill>
              </a:rPr>
              <a:t>olich</a:t>
            </a:r>
            <a:r>
              <a:rPr kumimoji="1" lang="en-US" altLang="ja-JP" sz="3000" b="1" dirty="0">
                <a:solidFill>
                  <a:srgbClr val="FF0000"/>
                </a:solidFill>
              </a:rPr>
              <a:t> </a:t>
            </a:r>
            <a:r>
              <a:rPr kumimoji="1" lang="en-US" altLang="ja-JP" sz="3000" b="1" dirty="0" err="1">
                <a:solidFill>
                  <a:srgbClr val="FF0000"/>
                </a:solidFill>
              </a:rPr>
              <a:t>su</a:t>
            </a:r>
            <a:r>
              <a:rPr kumimoji="1" lang="en-US" altLang="ja-JP" sz="3000" b="1" dirty="0">
                <a:solidFill>
                  <a:srgbClr val="FF0000"/>
                </a:solidFill>
              </a:rPr>
              <a:t>)     </a:t>
            </a:r>
            <a:r>
              <a:rPr kumimoji="1" lang="ja-JP" altLang="en-US" sz="3000" dirty="0">
                <a:solidFill>
                  <a:schemeClr val="tx1"/>
                </a:solidFill>
                <a:highlight>
                  <a:srgbClr val="FFFF00"/>
                </a:highlight>
              </a:rPr>
              <a:t>なまえ</a:t>
            </a:r>
            <a:r>
              <a:rPr kumimoji="1" lang="ja-JP" altLang="en-US" sz="3000" b="1" dirty="0">
                <a:solidFill>
                  <a:schemeClr val="tx1"/>
                </a:solidFill>
              </a:rPr>
              <a:t>は</a:t>
            </a:r>
            <a:endParaRPr kumimoji="1" lang="en-US" altLang="ja-JP" sz="30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3000" b="1" dirty="0">
                <a:solidFill>
                  <a:schemeClr val="tx1"/>
                </a:solidFill>
              </a:rPr>
              <a:t>O name </a:t>
            </a:r>
            <a:r>
              <a:rPr kumimoji="1" lang="en-US" altLang="ja-JP" sz="3000" b="1" dirty="0" err="1">
                <a:solidFill>
                  <a:schemeClr val="tx1"/>
                </a:solidFill>
              </a:rPr>
              <a:t>wa</a:t>
            </a:r>
            <a:endParaRPr kumimoji="1" lang="en-US" altLang="ja-JP" sz="3000" b="1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　（なんです</a:t>
            </a:r>
            <a:r>
              <a:rPr kumimoji="1" lang="ja-JP" altLang="en-US" sz="3000" dirty="0">
                <a:solidFill>
                  <a:srgbClr val="FF0000"/>
                </a:solidFill>
              </a:rPr>
              <a:t>か</a:t>
            </a:r>
            <a:r>
              <a:rPr kumimoji="1" lang="ja-JP" altLang="en-US" sz="3000" dirty="0">
                <a:solidFill>
                  <a:schemeClr val="tx1"/>
                </a:solidFill>
              </a:rPr>
              <a:t>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6036" y="338387"/>
            <a:ext cx="10617958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～か</a:t>
            </a:r>
            <a:endParaRPr lang="en-US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96036" y="1277904"/>
            <a:ext cx="861173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2500" dirty="0"/>
              <a:t>～か：</a:t>
            </a:r>
            <a:r>
              <a:rPr lang="vi-VN" altLang="ja-JP" sz="2500" dirty="0"/>
              <a:t>đứng cuối câu, sau thì-&gt; biểu thị câu hỏi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68082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446709" y="4036415"/>
            <a:ext cx="6705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40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お</a:t>
            </a:r>
            <a:r>
              <a:rPr lang="ja-JP" altLang="en-US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しごと</a:t>
            </a:r>
            <a:r>
              <a:rPr lang="vi-VN" altLang="ja-JP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4000" b="1" u="sng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ja-JP" altLang="en-US" sz="40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なん</a:t>
            </a:r>
            <a:r>
              <a:rPr lang="vi-VN" altLang="ja-JP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4000" b="1" u="sng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</a:t>
            </a:r>
            <a:r>
              <a:rPr lang="ja-JP" altLang="en-US" sz="40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4000" b="1" dirty="0">
                <a:solidFill>
                  <a:srgbClr val="00B0F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4000" b="1" dirty="0">
              <a:solidFill>
                <a:srgbClr val="00B0F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" name="TextBox 11"/>
          <p:cNvSpPr txBox="1">
            <a:spLocks noChangeArrowheads="1"/>
          </p:cNvSpPr>
          <p:nvPr/>
        </p:nvSpPr>
        <p:spPr bwMode="auto">
          <a:xfrm>
            <a:off x="1446709" y="4911312"/>
            <a:ext cx="670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Công việc (của bạn) </a:t>
            </a:r>
            <a:r>
              <a:rPr lang="en-US" altLang="ja-JP" sz="2400" dirty="0" err="1">
                <a:latin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gì?</a:t>
            </a:r>
            <a:endParaRPr lang="en-US" sz="2400" dirty="0">
              <a:latin typeface="Tahoma" panose="020B0604030504040204" pitchFamily="34" charset="0"/>
              <a:ea typeface="ＭＳ Ｐゴシック" panose="020B0600070205080204" pitchFamily="34" charset="-128"/>
              <a:cs typeface="Tahom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39059" y="4141117"/>
            <a:ext cx="1219200" cy="6477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96036" y="338387"/>
            <a:ext cx="10617958" cy="156966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S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は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　なんです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か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。⤴</a:t>
            </a:r>
            <a:endParaRPr lang="en-US" altLang="ja-JP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  <a:p>
            <a:pPr>
              <a:defRPr/>
            </a:pP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 S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là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 cái gì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?</a:t>
            </a:r>
            <a:endParaRPr lang="en-US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43342" y="4096601"/>
            <a:ext cx="1219200" cy="6477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050" name="Picture 2" descr="疑問・質問を考える可愛い女性のイラスト | 無料フリーイラスト素材集【Frame illust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815" y="3301952"/>
            <a:ext cx="2230782" cy="298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1446709" y="5584802"/>
            <a:ext cx="6705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40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お</a:t>
            </a:r>
            <a:r>
              <a:rPr lang="ja-JP" altLang="en-US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しごと</a:t>
            </a:r>
            <a:r>
              <a:rPr lang="vi-VN" altLang="ja-JP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4000" b="1" u="sng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40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⤴</a:t>
            </a:r>
            <a:r>
              <a:rPr lang="vi-VN" altLang="ja-JP" sz="40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8534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 animBg="1"/>
      <p:bldP spid="17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 rot="495600">
            <a:off x="8991599" y="176454"/>
            <a:ext cx="2870200" cy="584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 DỤNG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08022" y="350456"/>
            <a:ext cx="7556500" cy="12128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B</a:t>
            </a:r>
            <a:r>
              <a:rPr lang="ja-JP" altLang="en-US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さん、おしごとは？</a:t>
            </a:r>
            <a:endParaRPr lang="en-US" altLang="ja-JP" sz="32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1405" y="493314"/>
            <a:ext cx="876300" cy="9271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408022" y="1640017"/>
            <a:ext cx="7556500" cy="9778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わたしは　</a:t>
            </a:r>
            <a:r>
              <a:rPr lang="ja-JP" altLang="en-US" sz="3200" b="1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がくせい</a:t>
            </a:r>
            <a:r>
              <a:rPr lang="ja-JP" altLang="en-US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です。</a:t>
            </a:r>
            <a:endParaRPr lang="en-US" altLang="ja-JP" sz="32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3922" y="1640017"/>
            <a:ext cx="876300" cy="9271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408022" y="2689646"/>
            <a:ext cx="7556500" cy="9778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 </a:t>
            </a:r>
            <a:r>
              <a:rPr lang="en-US" altLang="ja-JP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( so </a:t>
            </a:r>
            <a:r>
              <a:rPr lang="en-US" altLang="ja-JP" sz="3200" dirty="0" err="1">
                <a:latin typeface="NtMotoyaKyotai" panose="02020200000000000000" pitchFamily="18" charset="-128"/>
                <a:ea typeface="NtMotoyaKyotai" panose="02020200000000000000" pitchFamily="18" charset="-128"/>
              </a:rPr>
              <a:t>desuka</a:t>
            </a:r>
            <a:r>
              <a:rPr lang="en-US" altLang="ja-JP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) </a:t>
            </a:r>
            <a:r>
              <a:rPr lang="ja-JP" altLang="en-US" sz="32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2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3922" y="2668717"/>
            <a:ext cx="876300" cy="9271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863404" y="749370"/>
            <a:ext cx="2565400" cy="6095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 rot="348533">
            <a:off x="6639682" y="32842"/>
            <a:ext cx="2209800" cy="1295400"/>
          </a:xfrm>
          <a:prstGeom prst="wedgeRoundRectCallout">
            <a:avLst>
              <a:gd name="adj1" fmla="val -103328"/>
              <a:gd name="adj2" fmla="val 40826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699" y="1448920"/>
            <a:ext cx="3657600" cy="2419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022" y="3868270"/>
            <a:ext cx="8333327" cy="292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3" y="129094"/>
            <a:ext cx="4484459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チャレンジ２</a:t>
            </a:r>
            <a:r>
              <a:rPr lang="vi-VN" altLang="ja-JP" sz="2800" b="1" dirty="0">
                <a:solidFill>
                  <a:srgbClr val="7030A0"/>
                </a:solidFill>
              </a:rPr>
              <a:t> P.16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43000"/>
            <a:ext cx="5334000" cy="3599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33600" y="5029201"/>
            <a:ext cx="8153400" cy="58477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（？？？）</a:t>
            </a:r>
            <a:r>
              <a:rPr lang="ja-JP" altLang="en-US" sz="32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です。よろしくおねがいします。</a:t>
            </a:r>
            <a:endParaRPr lang="en-US" sz="32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3" name="7008004_DiscA_03" descr="7008004_DiscA_03">
            <a:hlinkClick r:id="" action="ppaction://media"/>
            <a:extLst>
              <a:ext uri="{FF2B5EF4-FFF2-40B4-BE49-F238E27FC236}">
                <a16:creationId xmlns:a16="http://schemas.microsoft.com/office/drawing/2014/main" id="{E1039289-84C0-744A-80FA-8B90952615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54076" y="1624914"/>
            <a:ext cx="9906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0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41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チャレンジ２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43000"/>
            <a:ext cx="5334000" cy="3599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33600" y="5029201"/>
            <a:ext cx="8153400" cy="58477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ちゅうごく</a:t>
            </a:r>
            <a:r>
              <a:rPr lang="en-US" altLang="ja-JP" sz="32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_</a:t>
            </a:r>
            <a:r>
              <a:rPr lang="ja-JP" altLang="en-US" sz="32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じんです。よろしくおねがいします。</a:t>
            </a:r>
            <a:endParaRPr lang="en-US" sz="32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3" name="7008004_DiscA_03" descr="7008004_DiscA_03">
            <a:hlinkClick r:id="" action="ppaction://media"/>
            <a:extLst>
              <a:ext uri="{FF2B5EF4-FFF2-40B4-BE49-F238E27FC236}">
                <a16:creationId xmlns:a16="http://schemas.microsoft.com/office/drawing/2014/main" id="{E1039289-84C0-744A-80FA-8B90952615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37600" y="1600200"/>
            <a:ext cx="9906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3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41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韓国人イラスト／無料イラストなら「イラストAC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3" y="4894345"/>
            <a:ext cx="1479524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ロシア人イラスト／無料イラストなら「イラストAC」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85" y="2552992"/>
            <a:ext cx="2397065" cy="17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チャイナ服 イラスト素材 - i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27" y="4894345"/>
            <a:ext cx="1479524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日本の国旗を持って入場する男性選手のイラスト | かわいいフリー素材が無料のイラストレイン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27" y="2552992"/>
            <a:ext cx="1799122" cy="17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イタリア人イラスト／無料イラストなら「イラストAC」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65" y="114234"/>
            <a:ext cx="1971248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アメリカ人 男イラスト／無料イラストなら「イラストAC」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813" y="114234"/>
            <a:ext cx="1975599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27" y="114234"/>
            <a:ext cx="2165157" cy="1479524"/>
          </a:xfrm>
          <a:prstGeom prst="rect">
            <a:avLst/>
          </a:prstGeom>
        </p:spPr>
      </p:pic>
      <p:pic>
        <p:nvPicPr>
          <p:cNvPr id="2066" name="Picture 18" descr="タイ人イラスト／無料イラストなら「イラストAC」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909" y="2400149"/>
            <a:ext cx="2079574" cy="17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ベトナムイラスト／無料イラストなら「イラストAC」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164" y="4894345"/>
            <a:ext cx="1971248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450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韓国人イラスト／無料イラストなら「イラストAC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3" y="4508357"/>
            <a:ext cx="1865512" cy="186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ロシア人イラスト／無料イラストなら「イラストAC」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85" y="2552992"/>
            <a:ext cx="2397065" cy="17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チャイナ服 イラスト素材 - i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766" y="4512624"/>
            <a:ext cx="1752063" cy="175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日本の国旗を持って入場する男性選手のイラスト | かわいいフリー素材が無料のイラストレイン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27" y="2552992"/>
            <a:ext cx="1799122" cy="17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イタリア人イラスト／無料イラストなら「イラストAC」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65" y="68742"/>
            <a:ext cx="1971248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アメリカ人 男イラスト／無料イラストなら「イラストAC」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813" y="68742"/>
            <a:ext cx="1975599" cy="147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27" y="23249"/>
            <a:ext cx="2165157" cy="1479524"/>
          </a:xfrm>
          <a:prstGeom prst="rect">
            <a:avLst/>
          </a:prstGeom>
        </p:spPr>
      </p:pic>
      <p:pic>
        <p:nvPicPr>
          <p:cNvPr id="2066" name="Picture 18" descr="タイ人イラスト／無料イラストなら「イラストAC」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909" y="2396749"/>
            <a:ext cx="2079574" cy="17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ベトナムイラスト／無料イラストなら「イラストAC」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163" y="4453719"/>
            <a:ext cx="2558317" cy="192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15857" y="1518901"/>
            <a:ext cx="2749471" cy="35548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500" b="1" dirty="0">
                <a:latin typeface="MS PMincho" pitchFamily="18" charset="-128"/>
                <a:ea typeface="MS PMincho" pitchFamily="18" charset="-128"/>
              </a:rPr>
              <a:t>ちゅうごくじん</a:t>
            </a:r>
            <a:endParaRPr lang="en-US" altLang="ja-JP" sz="2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2500" b="1" dirty="0">
                <a:latin typeface="MS PMincho" pitchFamily="18" charset="-128"/>
                <a:ea typeface="MS PMincho" pitchFamily="18" charset="-128"/>
              </a:rPr>
              <a:t>かんこくじん</a:t>
            </a:r>
            <a:endParaRPr lang="en-US" altLang="ja-JP" sz="2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2500" b="1" dirty="0">
                <a:latin typeface="MS PMincho" pitchFamily="18" charset="-128"/>
                <a:ea typeface="MS PMincho" pitchFamily="18" charset="-128"/>
              </a:rPr>
              <a:t>ベトナムじん</a:t>
            </a:r>
            <a:endParaRPr lang="en-US" altLang="ja-JP" sz="2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2500" dirty="0">
                <a:solidFill>
                  <a:srgbClr val="FF0000"/>
                </a:solidFill>
              </a:rPr>
              <a:t>ロシアじん</a:t>
            </a:r>
            <a:endParaRPr lang="en-US" altLang="ja-JP" sz="2500" dirty="0">
              <a:solidFill>
                <a:srgbClr val="FF0000"/>
              </a:solidFill>
            </a:endParaRPr>
          </a:p>
          <a:p>
            <a:r>
              <a:rPr lang="ja-JP" altLang="en-US" sz="2500" dirty="0">
                <a:solidFill>
                  <a:srgbClr val="FF0000"/>
                </a:solidFill>
              </a:rPr>
              <a:t>オーストラリア人</a:t>
            </a:r>
            <a:endParaRPr lang="en-US" altLang="ja-JP" sz="2500" dirty="0">
              <a:solidFill>
                <a:srgbClr val="FF0000"/>
              </a:solidFill>
            </a:endParaRPr>
          </a:p>
          <a:p>
            <a:r>
              <a:rPr lang="ja-JP" altLang="en-US" sz="2500" dirty="0">
                <a:solidFill>
                  <a:srgbClr val="FF0000"/>
                </a:solidFill>
              </a:rPr>
              <a:t>アメリカ人</a:t>
            </a:r>
            <a:endParaRPr lang="vi-VN" altLang="ja-JP" sz="2500" dirty="0">
              <a:solidFill>
                <a:srgbClr val="FF0000"/>
              </a:solidFill>
            </a:endParaRPr>
          </a:p>
          <a:p>
            <a:r>
              <a:rPr lang="ja-JP" altLang="en-US" sz="2500" dirty="0">
                <a:solidFill>
                  <a:srgbClr val="FF0000"/>
                </a:solidFill>
              </a:rPr>
              <a:t>イタリア人</a:t>
            </a:r>
            <a:endParaRPr lang="en-US" altLang="ja-JP" sz="2500" dirty="0">
              <a:solidFill>
                <a:srgbClr val="FF0000"/>
              </a:solidFill>
            </a:endParaRPr>
          </a:p>
          <a:p>
            <a:r>
              <a:rPr lang="ja-JP" altLang="en-US" sz="2500" dirty="0">
                <a:solidFill>
                  <a:srgbClr val="FF0000"/>
                </a:solidFill>
              </a:rPr>
              <a:t>タイ人</a:t>
            </a:r>
            <a:endParaRPr lang="en-US" altLang="ja-JP" sz="2500" dirty="0">
              <a:solidFill>
                <a:srgbClr val="FF0000"/>
              </a:solidFill>
            </a:endParaRPr>
          </a:p>
          <a:p>
            <a:endParaRPr lang="ja-JP" altLang="en-US" sz="2500" dirty="0"/>
          </a:p>
        </p:txBody>
      </p:sp>
    </p:spTree>
    <p:extLst>
      <p:ext uri="{BB962C8B-B14F-4D97-AF65-F5344CB8AC3E}">
        <p14:creationId xmlns:p14="http://schemas.microsoft.com/office/powerpoint/2010/main" val="840908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154" y="345658"/>
            <a:ext cx="6256351" cy="422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2980" y="5202804"/>
            <a:ext cx="962704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はじめまして。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ワンです。</a:t>
            </a:r>
            <a:endParaRPr lang="en-US" altLang="ja-JP" sz="3600" b="1" dirty="0">
              <a:solidFill>
                <a:srgbClr val="FF0000"/>
              </a:solidFill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ちゅうごく</a:t>
            </a:r>
            <a:r>
              <a:rPr lang="ja-JP" altLang="en-US" sz="3600" b="1" dirty="0">
                <a:solidFill>
                  <a:srgbClr val="C00000"/>
                </a:solidFill>
                <a:latin typeface="MS PMincho" pitchFamily="18" charset="-128"/>
                <a:ea typeface="MS PMincho" pitchFamily="18" charset="-128"/>
              </a:rPr>
              <a:t>じん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です。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よろしくおねがいします。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111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チャレンジ３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3136" y="5257800"/>
            <a:ext cx="7149727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：お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くに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は （？？？）ですか。</a:t>
            </a:r>
            <a:endParaRPr lang="en-US" altLang="ja-JP" sz="36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：オーストラリアです。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146" y="1143001"/>
            <a:ext cx="6033655" cy="396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7008004_DiscA_04" descr="7008004_DiscA_04">
            <a:hlinkClick r:id="" action="ppaction://media"/>
            <a:extLst>
              <a:ext uri="{FF2B5EF4-FFF2-40B4-BE49-F238E27FC236}">
                <a16:creationId xmlns:a16="http://schemas.microsoft.com/office/drawing/2014/main" id="{3202D41D-C980-554F-90D5-6763B3066E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75200" y="1300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1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7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チャレンジ３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8596" y="2411234"/>
            <a:ext cx="5195455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お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くに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は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 どちら</a:t>
            </a:r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( </a:t>
            </a:r>
            <a:r>
              <a:rPr lang="en-US" altLang="ja-JP" sz="3600" b="1" dirty="0" err="1">
                <a:latin typeface="MS PMincho" pitchFamily="18" charset="-128"/>
                <a:ea typeface="MS PMincho" pitchFamily="18" charset="-128"/>
              </a:rPr>
              <a:t>đô</a:t>
            </a:r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 chi </a:t>
            </a:r>
            <a:r>
              <a:rPr lang="en-US" altLang="ja-JP" sz="3600" b="1" dirty="0" err="1">
                <a:latin typeface="MS PMincho" pitchFamily="18" charset="-128"/>
                <a:ea typeface="MS PMincho" pitchFamily="18" charset="-128"/>
              </a:rPr>
              <a:t>ra</a:t>
            </a:r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) 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ですか。</a:t>
            </a:r>
            <a:endParaRPr lang="en-US" altLang="ja-JP" sz="36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：オーストラリアです。</a:t>
            </a:r>
            <a:endParaRPr lang="en-US" altLang="ja-JP" sz="36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。。。</a:t>
            </a:r>
            <a:endParaRPr lang="en-US" altLang="ja-JP" sz="36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A: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⤵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724" y="284260"/>
            <a:ext cx="6033655" cy="396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2713382" y="2981077"/>
            <a:ext cx="1574138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7008004_DiscA_04" descr="7008004_DiscA_04">
            <a:hlinkClick r:id="" action="ppaction://media"/>
            <a:extLst>
              <a:ext uri="{FF2B5EF4-FFF2-40B4-BE49-F238E27FC236}">
                <a16:creationId xmlns:a16="http://schemas.microsoft.com/office/drawing/2014/main" id="{3202D41D-C980-554F-90D5-6763B3066E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75200" y="130051"/>
            <a:ext cx="812800" cy="812800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 rot="348533">
            <a:off x="5077442" y="5172475"/>
            <a:ext cx="6895360" cy="1055032"/>
          </a:xfrm>
          <a:prstGeom prst="wedgeRoundRectCallout">
            <a:avLst>
              <a:gd name="adj1" fmla="val -71476"/>
              <a:gd name="adj2" fmla="val -33145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vi-VN" sz="3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Vậy à</a:t>
            </a:r>
            <a:r>
              <a:rPr lang="vi-VN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 (tiếp nhận thông tin)</a:t>
            </a:r>
          </a:p>
          <a:p>
            <a:pPr algn="ctr">
              <a:defRPr/>
            </a:pP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Câu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đối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đáp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rất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hay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 rot="348533">
            <a:off x="3595228" y="896548"/>
            <a:ext cx="2209800" cy="1295400"/>
          </a:xfrm>
          <a:prstGeom prst="wedgeRoundRectCallout">
            <a:avLst>
              <a:gd name="adj1" fmla="val -75331"/>
              <a:gd name="adj2" fmla="val 81320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33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7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  <p:bldP spid="8" grpId="0" animBg="1"/>
      <p:bldP spid="7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-45493"/>
            <a:ext cx="6033655" cy="396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01636" y="2419574"/>
            <a:ext cx="6096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b="1" dirty="0"/>
              <a:t>A</a:t>
            </a:r>
            <a:endParaRPr lang="en-US" sz="4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229600" y="1266387"/>
            <a:ext cx="6096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b="1" dirty="0"/>
              <a:t>B</a:t>
            </a:r>
            <a:endParaRPr lang="en-US" sz="4000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981200" y="4114800"/>
            <a:ext cx="8229600" cy="217932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sz="28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2800" b="1" dirty="0">
                <a:latin typeface="MS PMincho" pitchFamily="18" charset="-128"/>
                <a:ea typeface="MS PMincho" pitchFamily="18" charset="-128"/>
              </a:rPr>
              <a:t>：はじめまして。ワンです。よろしくおねがいします。</a:t>
            </a:r>
            <a:endParaRPr lang="en-US" altLang="ja-JP" sz="2800" b="1" dirty="0">
              <a:latin typeface="MS PMincho" pitchFamily="18" charset="-128"/>
              <a:ea typeface="MS PMincho" pitchFamily="18" charset="-128"/>
            </a:endParaRPr>
          </a:p>
          <a:p>
            <a:pPr marL="0" indent="0">
              <a:buNone/>
            </a:pPr>
            <a:r>
              <a:rPr lang="en-US" altLang="ja-JP" sz="28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2800" b="1" dirty="0">
                <a:latin typeface="MS PMincho" pitchFamily="18" charset="-128"/>
                <a:ea typeface="MS PMincho" pitchFamily="18" charset="-128"/>
              </a:rPr>
              <a:t>：ワンさん、おくには </a:t>
            </a:r>
            <a:r>
              <a:rPr lang="ja-JP" altLang="en-US" sz="28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どちら</a:t>
            </a:r>
            <a:r>
              <a:rPr lang="ja-JP" altLang="en-US" sz="2800" b="1" dirty="0">
                <a:latin typeface="MS PMincho" pitchFamily="18" charset="-128"/>
                <a:ea typeface="MS PMincho" pitchFamily="18" charset="-128"/>
              </a:rPr>
              <a:t>ですか。</a:t>
            </a:r>
            <a:endParaRPr lang="en-US" altLang="ja-JP" sz="2800" b="1" dirty="0">
              <a:latin typeface="MS PMincho" pitchFamily="18" charset="-128"/>
              <a:ea typeface="MS PMincho" pitchFamily="18" charset="-128"/>
            </a:endParaRPr>
          </a:p>
          <a:p>
            <a:pPr marL="0" indent="0">
              <a:buNone/>
            </a:pPr>
            <a:r>
              <a:rPr lang="en-US" altLang="ja-JP" sz="28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2800" b="1" dirty="0">
                <a:latin typeface="MS PMincho" pitchFamily="18" charset="-128"/>
                <a:ea typeface="MS PMincho" pitchFamily="18" charset="-128"/>
              </a:rPr>
              <a:t>：ちゅうごくです。</a:t>
            </a:r>
            <a:endParaRPr lang="en-US" altLang="ja-JP" sz="2800" b="1" dirty="0">
              <a:latin typeface="MS PMincho" pitchFamily="18" charset="-128"/>
              <a:ea typeface="MS PMincho" pitchFamily="18" charset="-128"/>
            </a:endParaRPr>
          </a:p>
          <a:p>
            <a:pPr marL="0" indent="0">
              <a:buNone/>
            </a:pPr>
            <a:r>
              <a:rPr lang="en-US" altLang="ja-JP" sz="28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2800" b="1" dirty="0">
                <a:latin typeface="MS PMincho" pitchFamily="18" charset="-128"/>
                <a:ea typeface="MS PMincho" pitchFamily="18" charset="-128"/>
              </a:rPr>
              <a:t>：そうですか。</a:t>
            </a:r>
            <a:endParaRPr lang="en-US" sz="2800" b="1" dirty="0">
              <a:latin typeface="MS PMincho" pitchFamily="18" charset="-128"/>
              <a:ea typeface="MS PMincho" pitchFamily="18" charset="-12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82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61103">
            <a:off x="2492873" y="895708"/>
            <a:ext cx="6810845" cy="4476124"/>
          </a:xfrm>
          <a:prstGeom prst="rect">
            <a:avLst/>
          </a:prstGeom>
        </p:spPr>
      </p:pic>
      <p:pic>
        <p:nvPicPr>
          <p:cNvPr id="3" name="06 Track 6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46769" y="122368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8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48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チャレンジ　５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40694" y="4662165"/>
            <a:ext cx="52578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：かいしゃいんですか。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40694" y="5343132"/>
            <a:ext cx="626030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：はい、かいしゃいんです。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252214"/>
            <a:ext cx="511492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06 Track 6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40811" y="1252214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40694" y="6155607"/>
            <a:ext cx="801290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：いいえ、かいしゃいんじゃ　ありません。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3" name="Oval 2"/>
          <p:cNvSpPr/>
          <p:nvPr/>
        </p:nvSpPr>
        <p:spPr>
          <a:xfrm>
            <a:off x="2286001" y="5343131"/>
            <a:ext cx="1098947" cy="6692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286000" y="6155607"/>
            <a:ext cx="1447800" cy="646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97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648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10" grpId="0" animBg="1"/>
      <p:bldP spid="3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2057400" y="2263121"/>
            <a:ext cx="8077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3200" dirty="0">
                <a:latin typeface="ＭＳ 明朝" pitchFamily="49" charset="-128"/>
                <a:ea typeface="ＭＳ 明朝" pitchFamily="49" charset="-128"/>
              </a:rPr>
              <a:t>わたし　は　</a:t>
            </a:r>
            <a:r>
              <a:rPr lang="en-US" altLang="ja-JP" sz="3200" dirty="0">
                <a:latin typeface="ＭＳ 明朝" pitchFamily="49" charset="-128"/>
                <a:ea typeface="ＭＳ 明朝" pitchFamily="49" charset="-128"/>
              </a:rPr>
              <a:t>Van</a:t>
            </a:r>
            <a:r>
              <a:rPr lang="ja-JP" altLang="en-US" sz="3200" dirty="0">
                <a:latin typeface="ＭＳ 明朝" pitchFamily="49" charset="-128"/>
                <a:ea typeface="ＭＳ 明朝" pitchFamily="49" charset="-128"/>
              </a:rPr>
              <a:t>　　じゃ　ありません</a:t>
            </a:r>
            <a:r>
              <a:rPr lang="en-US" altLang="ja-JP" sz="3200" dirty="0">
                <a:latin typeface="ＭＳ 明朝" pitchFamily="49" charset="-128"/>
                <a:ea typeface="ＭＳ 明朝" pitchFamily="49" charset="-128"/>
              </a:rPr>
              <a:t>.</a:t>
            </a:r>
            <a:endParaRPr lang="en-US" sz="3200" dirty="0">
              <a:latin typeface="ＭＳ 明朝" pitchFamily="49" charset="-128"/>
              <a:ea typeface="ＭＳ 明朝" pitchFamily="49" charset="-128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958687" y="2825480"/>
            <a:ext cx="11430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2819400"/>
            <a:ext cx="11430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33800" y="2819400"/>
            <a:ext cx="4572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988627" y="2824686"/>
            <a:ext cx="3276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7000" y="1524000"/>
            <a:ext cx="4648200" cy="5232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N1 </a:t>
            </a:r>
            <a:r>
              <a:rPr lang="ja-JP" alt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は</a:t>
            </a:r>
            <a:r>
              <a:rPr lang="en-US" altLang="ja-JP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N2 </a:t>
            </a:r>
            <a:r>
              <a:rPr lang="ja-JP" alt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じゃ</a:t>
            </a:r>
            <a:r>
              <a:rPr lang="ja-JP" altLang="en-US" sz="2800" b="1" dirty="0">
                <a:solidFill>
                  <a:schemeClr val="bg1"/>
                </a:solidFill>
                <a:latin typeface="ＭＳ 明朝" pitchFamily="49" charset="-128"/>
                <a:ea typeface="ＭＳ 明朝" pitchFamily="49" charset="-128"/>
              </a:rPr>
              <a:t>あり</a:t>
            </a:r>
            <a:r>
              <a:rPr lang="ja-JP" alt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ません</a:t>
            </a:r>
            <a:endParaRPr lang="en-US" sz="2800" dirty="0">
              <a:solidFill>
                <a:srgbClr val="FFFFFF"/>
              </a:solidFill>
              <a:latin typeface="Tahoma" pitchFamily="34" charset="0"/>
              <a:ea typeface="MS PGothic" pitchFamily="34" charset="-128"/>
              <a:cs typeface="Tahoma" pitchFamily="34" charset="0"/>
            </a:endParaRPr>
          </a:p>
        </p:txBody>
      </p:sp>
      <p:sp>
        <p:nvSpPr>
          <p:cNvPr id="17" name="Line Callout 1 16"/>
          <p:cNvSpPr/>
          <p:nvPr/>
        </p:nvSpPr>
        <p:spPr>
          <a:xfrm>
            <a:off x="7767144" y="1093076"/>
            <a:ext cx="2367455" cy="756089"/>
          </a:xfrm>
          <a:prstGeom prst="borderCallout1">
            <a:avLst>
              <a:gd name="adj1" fmla="val 47782"/>
              <a:gd name="adj2" fmla="val -1601"/>
              <a:gd name="adj3" fmla="val 56782"/>
              <a:gd name="adj4" fmla="val -205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latin typeface="Tahoma" pitchFamily="34" charset="0"/>
                <a:cs typeface="Tahoma" pitchFamily="34" charset="0"/>
              </a:rPr>
              <a:t>Câu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phủ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định</a:t>
            </a:r>
            <a:endParaRPr 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895600" y="4343401"/>
            <a:ext cx="16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dirty="0">
                <a:latin typeface="ＭＳ 明朝" pitchFamily="49" charset="-128"/>
                <a:ea typeface="ＭＳ 明朝" pitchFamily="49" charset="-128"/>
              </a:rPr>
              <a:t>Thu</a:t>
            </a:r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さん</a:t>
            </a:r>
            <a:endParaRPr lang="en-US" sz="2800" dirty="0"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105400" y="4343401"/>
            <a:ext cx="1676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がくせい</a:t>
            </a:r>
            <a:endParaRPr lang="en-US" sz="2800" dirty="0"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2355274" y="5638800"/>
            <a:ext cx="19881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latin typeface="ＭＳ 明朝" pitchFamily="49" charset="-128"/>
                <a:ea typeface="ＭＳ 明朝" pitchFamily="49" charset="-128"/>
              </a:rPr>
              <a:t>Chi</a:t>
            </a:r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さん　　　　　　　　</a:t>
            </a:r>
            <a:endParaRPr lang="en-US" sz="2800" dirty="0"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953000" y="5638801"/>
            <a:ext cx="1676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dirty="0">
                <a:highlight>
                  <a:srgbClr val="FFFF00"/>
                </a:highlight>
                <a:latin typeface="ＭＳ 明朝" pitchFamily="49" charset="-128"/>
                <a:ea typeface="ＭＳ 明朝" pitchFamily="49" charset="-128"/>
              </a:rPr>
              <a:t>きょうし</a:t>
            </a:r>
            <a:endParaRPr lang="en-US" sz="2800" dirty="0">
              <a:highlight>
                <a:srgbClr val="FFFF00"/>
              </a:highlight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197927" y="4298417"/>
            <a:ext cx="685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は</a:t>
            </a:r>
            <a:endParaRPr lang="en-US" sz="2800" dirty="0"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6781800" y="4332652"/>
            <a:ext cx="342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じゃ　ありません。</a:t>
            </a:r>
            <a:endParaRPr lang="en-US" sz="2800" dirty="0"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267200" y="5638801"/>
            <a:ext cx="685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ja-JP" altLang="en-US" sz="2800" dirty="0">
                <a:highlight>
                  <a:srgbClr val="FFFF00"/>
                </a:highlight>
                <a:latin typeface="ＭＳ 明朝" pitchFamily="49" charset="-128"/>
                <a:ea typeface="ＭＳ 明朝" pitchFamily="49" charset="-128"/>
              </a:rPr>
              <a:t>は</a:t>
            </a:r>
            <a:endParaRPr lang="en-US" sz="2800" dirty="0">
              <a:highlight>
                <a:srgbClr val="FFFF00"/>
              </a:highlight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6553200" y="5638801"/>
            <a:ext cx="3276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じゃ　</a:t>
            </a:r>
            <a:r>
              <a:rPr lang="ja-JP" altLang="en-US" sz="2800" dirty="0">
                <a:solidFill>
                  <a:srgbClr val="FF0000"/>
                </a:solidFill>
                <a:latin typeface="ＭＳ 明朝" pitchFamily="49" charset="-128"/>
                <a:ea typeface="ＭＳ 明朝" pitchFamily="49" charset="-128"/>
              </a:rPr>
              <a:t>ありません</a:t>
            </a:r>
            <a:r>
              <a:rPr lang="ja-JP" altLang="en-US" sz="2800" dirty="0">
                <a:latin typeface="ＭＳ 明朝" pitchFamily="49" charset="-128"/>
                <a:ea typeface="ＭＳ 明朝" pitchFamily="49" charset="-128"/>
              </a:rPr>
              <a:t>。</a:t>
            </a:r>
            <a:endParaRPr lang="en-US" sz="2800" dirty="0">
              <a:latin typeface="ＭＳ 明朝" pitchFamily="49" charset="-128"/>
              <a:ea typeface="ＭＳ 明朝" pitchFamily="49" charset="-128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254827" y="2971800"/>
            <a:ext cx="990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Calibri" pitchFamily="34" charset="0"/>
              </a:rPr>
              <a:t>Chủ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đề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540827" y="2971800"/>
            <a:ext cx="990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Calibri" pitchFamily="34" charset="0"/>
              </a:rPr>
              <a:t>Thông</a:t>
            </a:r>
            <a:r>
              <a:rPr lang="en-US" dirty="0">
                <a:latin typeface="Calibri" pitchFamily="34" charset="0"/>
              </a:rPr>
              <a:t> tin </a:t>
            </a:r>
            <a:r>
              <a:rPr lang="en-US" dirty="0" err="1">
                <a:latin typeface="Calibri" pitchFamily="34" charset="0"/>
              </a:rPr>
              <a:t>về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chủ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đề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397827" y="2971801"/>
            <a:ext cx="1219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ja-JP">
                <a:latin typeface="Calibri" pitchFamily="34" charset="0"/>
                <a:cs typeface="HGP明朝E"/>
              </a:rPr>
              <a:t>trợ từ</a:t>
            </a:r>
          </a:p>
          <a:p>
            <a:pPr algn="ctr"/>
            <a:r>
              <a:rPr lang="en-US">
                <a:latin typeface="Calibri" pitchFamily="34" charset="0"/>
              </a:rPr>
              <a:t>(đọc là wa)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5988627" y="2971800"/>
            <a:ext cx="2438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ja-JP" dirty="0" err="1">
                <a:latin typeface="Calibri" pitchFamily="34" charset="0"/>
                <a:cs typeface="HGP明朝E"/>
              </a:rPr>
              <a:t>Thể</a:t>
            </a:r>
            <a:r>
              <a:rPr lang="en-US" altLang="ja-JP" dirty="0">
                <a:latin typeface="Calibri" pitchFamily="34" charset="0"/>
                <a:cs typeface="HGP明朝E"/>
              </a:rPr>
              <a:t> </a:t>
            </a:r>
            <a:r>
              <a:rPr lang="en-US" altLang="ja-JP" dirty="0" err="1">
                <a:latin typeface="Calibri" pitchFamily="34" charset="0"/>
                <a:cs typeface="HGP明朝E"/>
              </a:rPr>
              <a:t>hiện</a:t>
            </a:r>
            <a:r>
              <a:rPr lang="en-US" altLang="ja-JP" dirty="0">
                <a:latin typeface="Calibri" pitchFamily="34" charset="0"/>
                <a:cs typeface="HGP明朝E"/>
              </a:rPr>
              <a:t> </a:t>
            </a:r>
            <a:r>
              <a:rPr lang="en-US" altLang="ja-JP" dirty="0" err="1">
                <a:latin typeface="Calibri" pitchFamily="34" charset="0"/>
                <a:cs typeface="HGP明朝E"/>
              </a:rPr>
              <a:t>sự</a:t>
            </a:r>
            <a:r>
              <a:rPr lang="en-US" altLang="ja-JP" dirty="0">
                <a:latin typeface="Calibri" pitchFamily="34" charset="0"/>
                <a:cs typeface="HGP明朝E"/>
              </a:rPr>
              <a:t> </a:t>
            </a:r>
            <a:r>
              <a:rPr lang="en-US" altLang="ja-JP" dirty="0" err="1">
                <a:latin typeface="Calibri" pitchFamily="34" charset="0"/>
                <a:cs typeface="HGP明朝E"/>
              </a:rPr>
              <a:t>lịch</a:t>
            </a:r>
            <a:r>
              <a:rPr lang="en-US" altLang="ja-JP" dirty="0">
                <a:latin typeface="Calibri" pitchFamily="34" charset="0"/>
                <a:cs typeface="HGP明朝E"/>
              </a:rPr>
              <a:t> </a:t>
            </a:r>
            <a:r>
              <a:rPr lang="en-US" altLang="ja-JP" dirty="0" err="1">
                <a:latin typeface="Calibri" pitchFamily="34" charset="0"/>
                <a:cs typeface="HGP明朝E"/>
              </a:rPr>
              <a:t>sự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71800" y="4953000"/>
            <a:ext cx="4648200" cy="5232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Thu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không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phải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sinh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.</a:t>
            </a:r>
            <a:endParaRPr lang="en-US" sz="2800" dirty="0">
              <a:solidFill>
                <a:srgbClr val="FFFFFF"/>
              </a:solidFill>
              <a:latin typeface="Tahoma" pitchFamily="34" charset="0"/>
              <a:ea typeface="MS PGothic" pitchFamily="34" charset="-128"/>
              <a:cs typeface="Tahoma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78727" y="6162675"/>
            <a:ext cx="4648200" cy="5232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Chi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không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phải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giáo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viên</a:t>
            </a:r>
            <a:r>
              <a:rPr lang="en-US" sz="2800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.</a:t>
            </a:r>
            <a:endParaRPr lang="en-US" sz="2800" dirty="0">
              <a:solidFill>
                <a:srgbClr val="FFFFFF"/>
              </a:solidFill>
              <a:latin typeface="Tahoma" pitchFamily="34" charset="0"/>
              <a:ea typeface="MS PGothic" pitchFamily="34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04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19" grpId="0" animBg="1"/>
      <p:bldP spid="17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22" grpId="0"/>
      <p:bldP spid="31" grpId="0"/>
      <p:bldP spid="32" grpId="0"/>
      <p:bldP spid="33" grpId="0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2518116" y="2408876"/>
            <a:ext cx="6705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わたしは　がくせい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" name="TextBox 11"/>
          <p:cNvSpPr txBox="1">
            <a:spLocks noChangeArrowheads="1"/>
          </p:cNvSpPr>
          <p:nvPr/>
        </p:nvSpPr>
        <p:spPr bwMode="auto">
          <a:xfrm>
            <a:off x="2518116" y="3150819"/>
            <a:ext cx="670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ja-JP" sz="2400" dirty="0" err="1">
                <a:latin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học sinh</a:t>
            </a:r>
            <a:r>
              <a:rPr lang="en-US" altLang="ja-JP" sz="2400" dirty="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>
              <a:latin typeface="Tahoma" panose="020B0604030504040204" pitchFamily="34" charset="0"/>
              <a:ea typeface="ＭＳ Ｐゴシック" panose="020B0600070205080204" pitchFamily="34" charset="-128"/>
              <a:cs typeface="Tahoma" panose="020B060403050404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37494" y="2390808"/>
            <a:ext cx="1219200" cy="6477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5531" y="253658"/>
            <a:ext cx="6215216" cy="132343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ja-JP" sz="4000" dirty="0">
                <a:latin typeface="NtMotoyaKyotai" pitchFamily="18" charset="-128"/>
                <a:ea typeface="NtMotoyaKyotai" pitchFamily="18" charset="-128"/>
              </a:rPr>
              <a:t>N</a:t>
            </a:r>
            <a:r>
              <a:rPr lang="ja-JP" altLang="en-US" sz="4000" dirty="0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では</a:t>
            </a:r>
            <a:r>
              <a:rPr lang="en-US" altLang="ja-JP" sz="4000" dirty="0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(</a:t>
            </a:r>
            <a:r>
              <a:rPr lang="en-US" altLang="ja-JP" sz="4000" dirty="0" err="1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dewa</a:t>
            </a:r>
            <a:r>
              <a:rPr lang="en-US" altLang="ja-JP" sz="4000" dirty="0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) </a:t>
            </a:r>
            <a:r>
              <a:rPr lang="ja-JP" altLang="en-US" sz="4000" dirty="0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ありません</a:t>
            </a:r>
            <a:r>
              <a:rPr lang="ja-JP" altLang="en-US" sz="4000" dirty="0">
                <a:latin typeface="NtMotoyaKyotai" pitchFamily="18" charset="-128"/>
                <a:ea typeface="NtMotoyaKyotai" pitchFamily="18" charset="-128"/>
              </a:rPr>
              <a:t>。</a:t>
            </a:r>
            <a:endParaRPr lang="en-US" altLang="ja-JP" sz="4000" dirty="0">
              <a:latin typeface="NtMotoyaKyotai" pitchFamily="18" charset="-128"/>
              <a:ea typeface="NtMotoyaKyotai" pitchFamily="18" charset="-128"/>
            </a:endParaRPr>
          </a:p>
          <a:p>
            <a:pPr algn="ctr">
              <a:defRPr/>
            </a:pPr>
            <a:r>
              <a:rPr lang="en-US" altLang="ja-JP" sz="4000" dirty="0">
                <a:latin typeface="NtMotoyaKyotai" pitchFamily="18" charset="-128"/>
                <a:ea typeface="NtMotoyaKyotai" pitchFamily="18" charset="-128"/>
              </a:rPr>
              <a:t>N</a:t>
            </a:r>
            <a:r>
              <a:rPr lang="ja-JP" altLang="en-US" sz="4000" dirty="0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じゃ</a:t>
            </a:r>
            <a:r>
              <a:rPr lang="ja-JP" altLang="en-US" sz="4000" dirty="0">
                <a:latin typeface="NtMotoyaKyotai" pitchFamily="18" charset="-128"/>
                <a:ea typeface="NtMotoyaKyotai" pitchFamily="18" charset="-128"/>
              </a:rPr>
              <a:t>　</a:t>
            </a:r>
            <a:r>
              <a:rPr lang="ja-JP" altLang="en-US" sz="4000" dirty="0">
                <a:solidFill>
                  <a:srgbClr val="FF0000"/>
                </a:solidFill>
                <a:latin typeface="NtMotoyaKyotai" pitchFamily="18" charset="-128"/>
                <a:ea typeface="NtMotoyaKyotai" pitchFamily="18" charset="-128"/>
              </a:rPr>
              <a:t>ありません</a:t>
            </a:r>
            <a:r>
              <a:rPr lang="ja-JP" altLang="en-US" sz="4000" dirty="0">
                <a:latin typeface="NtMotoyaKyotai" pitchFamily="18" charset="-128"/>
                <a:ea typeface="NtMotoyaKyotai" pitchFamily="18" charset="-128"/>
              </a:rPr>
              <a:t>。</a:t>
            </a:r>
            <a:endParaRPr lang="en-US" sz="4000" dirty="0"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400747" y="282320"/>
            <a:ext cx="579125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500" dirty="0"/>
              <a:t>- </a:t>
            </a:r>
            <a:r>
              <a:rPr lang="en-US" sz="2500" dirty="0" err="1"/>
              <a:t>Thể</a:t>
            </a:r>
            <a:r>
              <a:rPr lang="en-US" sz="2500" dirty="0"/>
              <a:t> </a:t>
            </a:r>
            <a:r>
              <a:rPr lang="en-US" sz="2500" dirty="0" err="1">
                <a:solidFill>
                  <a:srgbClr val="FF0000"/>
                </a:solidFill>
              </a:rPr>
              <a:t>phủ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định</a:t>
            </a:r>
            <a:r>
              <a:rPr lang="en-US" sz="2500" dirty="0"/>
              <a:t>, </a:t>
            </a:r>
            <a:r>
              <a:rPr lang="en-US" sz="2500" dirty="0" err="1"/>
              <a:t>thời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 </a:t>
            </a:r>
            <a:r>
              <a:rPr lang="en-US" sz="2500" dirty="0" err="1"/>
              <a:t>tại</a:t>
            </a:r>
            <a:r>
              <a:rPr lang="en-US" sz="2500" dirty="0"/>
              <a:t>, </a:t>
            </a:r>
            <a:r>
              <a:rPr lang="en-US" sz="2500" dirty="0" err="1"/>
              <a:t>tương</a:t>
            </a:r>
            <a:r>
              <a:rPr lang="en-US" sz="2500" dirty="0"/>
              <a:t> </a:t>
            </a:r>
            <a:r>
              <a:rPr lang="en-US" sz="2500" dirty="0" err="1"/>
              <a:t>lai</a:t>
            </a:r>
            <a:endParaRPr lang="en-US" sz="2500" dirty="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400747" y="759374"/>
            <a:ext cx="44958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500" dirty="0"/>
              <a:t>- </a:t>
            </a:r>
            <a:r>
              <a:rPr lang="en-US" sz="2500" dirty="0" err="1"/>
              <a:t>Cách</a:t>
            </a:r>
            <a:r>
              <a:rPr lang="en-US" sz="2500" dirty="0"/>
              <a:t> </a:t>
            </a:r>
            <a:r>
              <a:rPr lang="en-US" sz="2500" dirty="0" err="1"/>
              <a:t>nói</a:t>
            </a:r>
            <a:r>
              <a:rPr lang="en-US" sz="2500" dirty="0"/>
              <a:t> </a:t>
            </a:r>
            <a:r>
              <a:rPr lang="en-US" sz="2500" dirty="0" err="1"/>
              <a:t>lịch</a:t>
            </a:r>
            <a:r>
              <a:rPr lang="en-US" sz="2500" dirty="0"/>
              <a:t> </a:t>
            </a:r>
            <a:r>
              <a:rPr lang="en-US" sz="2500" dirty="0" err="1"/>
              <a:t>sự</a:t>
            </a:r>
            <a:endParaRPr lang="en-US" sz="2500" dirty="0"/>
          </a:p>
        </p:txBody>
      </p:sp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1908516" y="4804114"/>
            <a:ext cx="8534400" cy="64611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ja-JP" altLang="en-US" sz="3600" dirty="0">
                <a:latin typeface="NtMotoyaKyotai" pitchFamily="18" charset="-128"/>
                <a:ea typeface="NtMotoyaKyotai" pitchFamily="18" charset="-128"/>
              </a:rPr>
              <a:t>わたしは　がくせいでは　ありません。</a:t>
            </a:r>
            <a:endParaRPr lang="en-US" sz="3600" dirty="0"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3386956" y="5588086"/>
            <a:ext cx="4565650" cy="46196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2400" dirty="0" err="1">
                <a:solidFill>
                  <a:schemeClr val="tx1"/>
                </a:solidFill>
                <a:latin typeface="Tahoma" charset="0"/>
                <a:cs typeface="Tahoma" charset="0"/>
              </a:rPr>
              <a:t>Tôi</a:t>
            </a:r>
            <a:r>
              <a:rPr lang="en-US" altLang="ja-JP" sz="2400" dirty="0">
                <a:solidFill>
                  <a:schemeClr val="tx1"/>
                </a:solidFill>
                <a:latin typeface="Tahoma" charset="0"/>
                <a:cs typeface="Tahoma" charset="0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latin typeface="Tahoma" charset="0"/>
                <a:cs typeface="Tahoma" charset="0"/>
              </a:rPr>
              <a:t>không</a:t>
            </a:r>
            <a:r>
              <a:rPr lang="en-US" altLang="ja-JP" sz="2400" dirty="0">
                <a:solidFill>
                  <a:srgbClr val="FF0000"/>
                </a:solidFill>
                <a:latin typeface="Tahoma" charset="0"/>
                <a:cs typeface="Tahoma" charset="0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latin typeface="Tahoma" charset="0"/>
                <a:cs typeface="Tahoma" charset="0"/>
              </a:rPr>
              <a:t>phải</a:t>
            </a:r>
            <a:r>
              <a:rPr lang="en-US" altLang="ja-JP" sz="2400" dirty="0">
                <a:solidFill>
                  <a:srgbClr val="FF0000"/>
                </a:solidFill>
                <a:latin typeface="Tahoma" charset="0"/>
                <a:cs typeface="Tahoma" charset="0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latin typeface="Tahoma" charset="0"/>
                <a:cs typeface="Tahoma" charset="0"/>
              </a:rPr>
              <a:t>là</a:t>
            </a:r>
            <a:r>
              <a:rPr lang="en-US" altLang="ja-JP" sz="2400" dirty="0">
                <a:solidFill>
                  <a:srgbClr val="FF0000"/>
                </a:solidFill>
                <a:latin typeface="Tahoma" charset="0"/>
                <a:cs typeface="Tahoma" charset="0"/>
              </a:rPr>
              <a:t> </a:t>
            </a:r>
            <a:r>
              <a:rPr lang="vi-VN" altLang="ja-JP" sz="2400" dirty="0">
                <a:cs typeface="Tahoma" panose="020B0604030504040204" pitchFamily="34" charset="0"/>
              </a:rPr>
              <a:t>học sinh</a:t>
            </a:r>
            <a:r>
              <a:rPr lang="en-US" altLang="ja-JP" sz="2400" dirty="0">
                <a:solidFill>
                  <a:schemeClr val="tx1"/>
                </a:solidFill>
                <a:latin typeface="Tahoma" charset="0"/>
                <a:cs typeface="Tahoma" charset="0"/>
              </a:rPr>
              <a:t>.</a:t>
            </a:r>
            <a:endParaRPr lang="en-US" sz="2400" dirty="0">
              <a:solidFill>
                <a:schemeClr val="tx1"/>
              </a:solidFill>
              <a:latin typeface="Tahoma" charset="0"/>
              <a:ea typeface="ＭＳ Ｐゴシック" pitchFamily="34" charset="-128"/>
              <a:cs typeface="Tahoma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37616" y="4760323"/>
            <a:ext cx="4000500" cy="6477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7498581" y="3654985"/>
            <a:ext cx="454025" cy="987425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Callout 15"/>
          <p:cNvSpPr/>
          <p:nvPr/>
        </p:nvSpPr>
        <p:spPr>
          <a:xfrm rot="419072">
            <a:off x="7542711" y="5669594"/>
            <a:ext cx="3609828" cy="1216025"/>
          </a:xfrm>
          <a:prstGeom prst="wedgeEllipseCallout">
            <a:avLst>
              <a:gd name="adj1" fmla="val -45690"/>
              <a:gd name="adj2" fmla="val -57362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6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phủ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lai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câu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2"/>
          <p:cNvSpPr txBox="1">
            <a:spLocks noChangeArrowheads="1"/>
          </p:cNvSpPr>
          <p:nvPr/>
        </p:nvSpPr>
        <p:spPr bwMode="auto">
          <a:xfrm>
            <a:off x="6215217" y="4813639"/>
            <a:ext cx="3922899" cy="64611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ja-JP" altLang="en-US" sz="3600" dirty="0">
                <a:latin typeface="NtMotoyaKyotai" pitchFamily="18" charset="-128"/>
                <a:ea typeface="NtMotoyaKyotai" pitchFamily="18" charset="-128"/>
              </a:rPr>
              <a:t>じゃありません。</a:t>
            </a:r>
            <a:endParaRPr lang="en-US" sz="3600" dirty="0">
              <a:latin typeface="NtMotoyaKyotai" pitchFamily="18" charset="-128"/>
              <a:ea typeface="NtMotoyaKyotai" pitchFamily="18" charset="-128"/>
            </a:endParaRPr>
          </a:p>
        </p:txBody>
      </p:sp>
      <p:pic>
        <p:nvPicPr>
          <p:cNvPr id="1026" name="Picture 2" descr="勉強をする学生のイラスト | 無料のフリー素材 イラストエイ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4" y="1792165"/>
            <a:ext cx="2004123" cy="254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丸のマークのイラスト「○」 | かわいいフリー素材集 いらすとや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991" y="3135938"/>
            <a:ext cx="1006902" cy="100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記号・マークのイラスト | 季節行事の無料イラスト素材集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290" y="5502649"/>
            <a:ext cx="1240953" cy="124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勉強をする学生のイラスト | 無料のフリー素材 イラストエイ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7" y="4309261"/>
            <a:ext cx="2004123" cy="254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3854160" y="75960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4800" y="7502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25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9" grpId="0"/>
      <p:bldP spid="10" grpId="0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8839200" cy="20574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N1</a:t>
            </a:r>
            <a:r>
              <a:rPr lang="ja-JP" altLang="en-US" sz="4400" dirty="0">
                <a:solidFill>
                  <a:schemeClr val="tx1"/>
                </a:solidFill>
              </a:rPr>
              <a:t>は　</a:t>
            </a:r>
            <a:r>
              <a:rPr lang="en-US" altLang="ja-JP" sz="4400" dirty="0">
                <a:solidFill>
                  <a:schemeClr val="tx1"/>
                </a:solidFill>
              </a:rPr>
              <a:t>N2</a:t>
            </a:r>
            <a:r>
              <a:rPr lang="ja-JP" altLang="en-US" sz="4400" dirty="0">
                <a:solidFill>
                  <a:schemeClr val="tx1"/>
                </a:solidFill>
              </a:rPr>
              <a:t>ですか。</a:t>
            </a:r>
            <a:r>
              <a:rPr lang="en-US" altLang="ja-JP" sz="4400" dirty="0">
                <a:solidFill>
                  <a:srgbClr val="FF0000"/>
                </a:solidFill>
              </a:rPr>
              <a:t>N1 </a:t>
            </a:r>
            <a:r>
              <a:rPr lang="en-US" altLang="ja-JP" sz="4400" dirty="0" err="1">
                <a:solidFill>
                  <a:srgbClr val="FF0000"/>
                </a:solidFill>
              </a:rPr>
              <a:t>có</a:t>
            </a:r>
            <a:r>
              <a:rPr lang="en-US" altLang="ja-JP" sz="4400" dirty="0">
                <a:solidFill>
                  <a:srgbClr val="FF0000"/>
                </a:solidFill>
              </a:rPr>
              <a:t> </a:t>
            </a:r>
            <a:r>
              <a:rPr lang="en-US" altLang="ja-JP" sz="4400" dirty="0" err="1">
                <a:solidFill>
                  <a:srgbClr val="FF0000"/>
                </a:solidFill>
              </a:rPr>
              <a:t>phải</a:t>
            </a:r>
            <a:r>
              <a:rPr lang="en-US" altLang="ja-JP" sz="4400" dirty="0">
                <a:solidFill>
                  <a:srgbClr val="FF0000"/>
                </a:solidFill>
              </a:rPr>
              <a:t> N2 </a:t>
            </a:r>
            <a:r>
              <a:rPr lang="en-US" altLang="ja-JP" sz="4400" dirty="0" err="1">
                <a:solidFill>
                  <a:srgbClr val="FF0000"/>
                </a:solidFill>
              </a:rPr>
              <a:t>không</a:t>
            </a:r>
            <a:r>
              <a:rPr lang="en-US" altLang="ja-JP" sz="4400" dirty="0">
                <a:solidFill>
                  <a:srgbClr val="FF0000"/>
                </a:solidFill>
              </a:rPr>
              <a:t>?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はい、</a:t>
            </a:r>
            <a:r>
              <a:rPr lang="en-US" altLang="ja-JP" dirty="0">
                <a:solidFill>
                  <a:schemeClr val="tx1"/>
                </a:solidFill>
              </a:rPr>
              <a:t>N2</a:t>
            </a:r>
            <a:r>
              <a:rPr lang="ja-JP" altLang="en-US" dirty="0">
                <a:solidFill>
                  <a:schemeClr val="tx1"/>
                </a:solidFill>
              </a:rPr>
              <a:t>です。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いいえ、</a:t>
            </a:r>
            <a:r>
              <a:rPr lang="en-US" altLang="ja-JP" dirty="0">
                <a:solidFill>
                  <a:schemeClr val="tx1"/>
                </a:solidFill>
              </a:rPr>
              <a:t>N2</a:t>
            </a:r>
            <a:r>
              <a:rPr lang="ja-JP" altLang="en-US" dirty="0">
                <a:solidFill>
                  <a:schemeClr val="tx1"/>
                </a:solidFill>
              </a:rPr>
              <a:t>じゃありません。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38400"/>
            <a:ext cx="899160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691" y="3429001"/>
            <a:ext cx="4114800" cy="157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2600" y="5035425"/>
            <a:ext cx="8686800" cy="63094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5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①わたしは　きょうしじゃ　ありません。</a:t>
            </a:r>
            <a:endParaRPr lang="en-US" sz="35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52600" y="5943600"/>
            <a:ext cx="8686800" cy="63094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5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②わたしは　にほんじんじゃ　ありません。</a:t>
            </a:r>
            <a:endParaRPr lang="en-US" sz="35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308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636" y="76201"/>
            <a:ext cx="8652164" cy="25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65563" y="2895600"/>
            <a:ext cx="8686800" cy="63094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5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③わたしは　ワンじゃ　ありません。</a:t>
            </a:r>
            <a:endParaRPr lang="en-US" sz="35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65563" y="3803776"/>
            <a:ext cx="8686800" cy="5693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1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④カルロスさんは　がくせいじゃ　ありません。</a:t>
            </a:r>
            <a:endParaRPr lang="en-US" sz="31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65563" y="4876801"/>
            <a:ext cx="8686800" cy="5693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1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⑤パクさんは　せんせいじゃ　ありません。</a:t>
            </a:r>
            <a:endParaRPr lang="en-US" sz="31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465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21199" y="609600"/>
            <a:ext cx="738664" cy="2590800"/>
          </a:xfrm>
          <a:prstGeom prst="rect">
            <a:avLst/>
          </a:prstGeom>
          <a:solidFill>
            <a:srgbClr val="92D050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すずきさん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45673" y="4111388"/>
            <a:ext cx="8534400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すずきさんは　ぎんこういんですか。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918855" y="5105400"/>
            <a:ext cx="6858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43200" y="5105400"/>
            <a:ext cx="18288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はい、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8600" y="5992743"/>
            <a:ext cx="62484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ぎんこういんです。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11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76200"/>
            <a:ext cx="2971800" cy="3846990"/>
          </a:xfrm>
        </p:spPr>
      </p:pic>
    </p:spTree>
    <p:extLst>
      <p:ext uri="{BB962C8B-B14F-4D97-AF65-F5344CB8AC3E}">
        <p14:creationId xmlns:p14="http://schemas.microsoft.com/office/powerpoint/2010/main" val="137404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Giang day\Hạ Long\Trung cap\Anh\shigoto_tekipak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381000"/>
            <a:ext cx="2616518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21199" y="609600"/>
            <a:ext cx="738664" cy="2590800"/>
          </a:xfrm>
          <a:prstGeom prst="rect">
            <a:avLst/>
          </a:prstGeom>
          <a:solidFill>
            <a:srgbClr val="92D050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すずきさん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52600" y="3515643"/>
            <a:ext cx="7716982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すずきさんは　がくせいですか。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752600" y="4509655"/>
            <a:ext cx="6858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76945" y="4509655"/>
            <a:ext cx="18288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いいえ、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72345" y="5396999"/>
            <a:ext cx="6248400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がくせいじゃありません。かいしゃいんです。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587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21199" y="609600"/>
            <a:ext cx="738664" cy="2971800"/>
          </a:xfrm>
          <a:prstGeom prst="rect">
            <a:avLst/>
          </a:prstGeom>
          <a:solidFill>
            <a:srgbClr val="92D050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やまださん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8692" y="3962400"/>
            <a:ext cx="8991600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やまださんは　がくせいですか。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918855" y="5105400"/>
            <a:ext cx="6858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43200" y="5105400"/>
            <a:ext cx="18288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はい、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8600" y="5992743"/>
            <a:ext cx="62484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がくせいです。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12" name="Picture 2" descr="E:\Giang day\Hạ Long\Trung cap\Anh\tải xuống (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756" y="157952"/>
            <a:ext cx="2692752" cy="342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5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524000" y="-34636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６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21" y="1088486"/>
            <a:ext cx="518160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07 Track 7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10600" y="137983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3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524000" y="-34636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６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40694" y="4662165"/>
            <a:ext cx="770810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わたしは　あおぞら</a:t>
            </a:r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_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にほんごがっこうのがくせいです。</a:t>
            </a:r>
            <a:endParaRPr lang="en-US" altLang="ja-JP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621" y="1088486"/>
            <a:ext cx="518160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07 Track 7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10600" y="1371600"/>
            <a:ext cx="609600" cy="609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610600" y="4662164"/>
            <a:ext cx="533400" cy="7480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3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11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2" grpId="0" animBg="1"/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792" y="356988"/>
            <a:ext cx="1028700" cy="59195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7"/>
          <p:cNvSpPr/>
          <p:nvPr/>
        </p:nvSpPr>
        <p:spPr>
          <a:xfrm>
            <a:off x="4811556" y="247000"/>
            <a:ext cx="3199327" cy="17865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第</a:t>
            </a:r>
            <a:r>
              <a:rPr lang="en-US" altLang="ja-JP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1</a:t>
            </a:r>
            <a:r>
              <a:rPr lang="ja-JP" altLang="en-US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課</a:t>
            </a:r>
            <a:endParaRPr lang="en-US" sz="7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Rounded Rectangle 5"/>
          <p:cNvSpPr/>
          <p:nvPr/>
        </p:nvSpPr>
        <p:spPr>
          <a:xfrm rot="20688987">
            <a:off x="2456624" y="656586"/>
            <a:ext cx="2261051" cy="116372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6000" b="1" dirty="0">
                <a:solidFill>
                  <a:srgbClr val="FFFF00"/>
                </a:solidFill>
              </a:rPr>
              <a:t>ST</a:t>
            </a:r>
            <a:r>
              <a:rPr lang="en-US" altLang="ja-JP" sz="6000" b="1" dirty="0">
                <a:solidFill>
                  <a:srgbClr val="FFFF00"/>
                </a:solidFill>
              </a:rPr>
              <a:t>2</a:t>
            </a:r>
            <a:endParaRPr lang="en-US" sz="6000" dirty="0"/>
          </a:p>
        </p:txBody>
      </p:sp>
      <p:sp>
        <p:nvSpPr>
          <p:cNvPr id="7" name="Rounded Rectangle 6"/>
          <p:cNvSpPr/>
          <p:nvPr/>
        </p:nvSpPr>
        <p:spPr>
          <a:xfrm>
            <a:off x="2868012" y="2082241"/>
            <a:ext cx="7086410" cy="201870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solidFill>
                  <a:srgbClr val="00B050"/>
                </a:solidFill>
                <a:latin typeface="+mj-ea"/>
                <a:ea typeface="+mj-ea"/>
              </a:rPr>
              <a:t>私の誕生日</a:t>
            </a:r>
            <a:endParaRPr lang="en-US" sz="6000" b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pic>
        <p:nvPicPr>
          <p:cNvPr id="9" name="Picture 2" descr="Logo_FPT_University_do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480" y="246999"/>
            <a:ext cx="1444942" cy="8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124199" y="43434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できること</a:t>
            </a:r>
            <a:endParaRPr lang="en-US" sz="28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68013" y="5029200"/>
          <a:ext cx="7418987" cy="1066800"/>
        </p:xfrm>
        <a:graphic>
          <a:graphicData uri="http://schemas.openxmlformats.org/drawingml/2006/table">
            <a:tbl>
              <a:tblPr/>
              <a:tblGrid>
                <a:gridCol w="7418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3200" b="1" i="0" dirty="0">
                          <a:solidFill>
                            <a:srgbClr val="00B050"/>
                          </a:solidFill>
                          <a:effectLst/>
                          <a:latin typeface="RyuminPro-Regular-Identity-H"/>
                        </a:rPr>
                        <a:t>年齢を言うことができ る 。 誕生日を言ったり聞いたりすることができ る。</a:t>
                      </a:r>
                      <a:endParaRPr lang="ja-JP" altLang="en-US" sz="32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0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556164" y="4419601"/>
            <a:ext cx="4835236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にじゅうろく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？</a:t>
            </a:r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です。</a:t>
            </a:r>
            <a:endParaRPr lang="en-US" sz="36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670" y="223838"/>
            <a:ext cx="5770775" cy="381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09 Track 9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113" y="1295400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6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556164" y="4419601"/>
            <a:ext cx="4835236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にじゅうろくさいです。</a:t>
            </a:r>
            <a:endParaRPr lang="en-US" sz="36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670" y="223838"/>
            <a:ext cx="5770775" cy="381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09 Track 9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53400" y="1295400"/>
            <a:ext cx="1447800" cy="1447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786056" y="4419601"/>
            <a:ext cx="928944" cy="646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1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35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49" y="260571"/>
            <a:ext cx="9038584" cy="660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68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670" y="192033"/>
            <a:ext cx="5770775" cy="381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09 Track 9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991600" y="1295400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4183050"/>
            <a:ext cx="9144000" cy="63094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あおぞらにほんごがっこう</a:t>
            </a:r>
            <a:r>
              <a:rPr lang="ja-JP" altLang="en-US" sz="35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の</a:t>
            </a:r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　がくせいです。</a:t>
            </a:r>
            <a:endParaRPr lang="en-US" altLang="ja-JP" sz="3500" b="1" dirty="0">
              <a:latin typeface="MS PMincho" pitchFamily="18" charset="-128"/>
              <a:ea typeface="MS PMincho" pitchFamily="18" charset="-128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48400" y="4738702"/>
            <a:ext cx="76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7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5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7429" y="381000"/>
            <a:ext cx="11887200" cy="12489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1"/>
            </a:solidFill>
          </a:ln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vi-VN" sz="2933" dirty="0">
                <a:solidFill>
                  <a:schemeClr val="tx1"/>
                </a:solidFill>
              </a:rPr>
            </a:br>
            <a:r>
              <a:rPr lang="vi-VN" altLang="ja-JP" sz="5867" dirty="0">
                <a:solidFill>
                  <a:schemeClr val="tx1"/>
                </a:solidFill>
              </a:rPr>
              <a:t>N1</a:t>
            </a:r>
            <a:r>
              <a:rPr lang="ja-JP" altLang="en-US" sz="5867" dirty="0">
                <a:solidFill>
                  <a:srgbClr val="FF0000"/>
                </a:solidFill>
              </a:rPr>
              <a:t>の</a:t>
            </a:r>
            <a:r>
              <a:rPr lang="vi-VN" altLang="ja-JP" sz="5867" dirty="0">
                <a:solidFill>
                  <a:schemeClr val="tx1"/>
                </a:solidFill>
              </a:rPr>
              <a:t>N2  N2 </a:t>
            </a:r>
            <a:r>
              <a:rPr lang="vi-VN" altLang="ja-JP" sz="5867" dirty="0">
                <a:solidFill>
                  <a:srgbClr val="FF0000"/>
                </a:solidFill>
              </a:rPr>
              <a:t>của</a:t>
            </a:r>
            <a:r>
              <a:rPr lang="vi-VN" altLang="ja-JP" sz="5867" dirty="0">
                <a:solidFill>
                  <a:schemeClr val="tx1"/>
                </a:solidFill>
              </a:rPr>
              <a:t> N1</a:t>
            </a:r>
            <a:r>
              <a:rPr lang="vi-VN" sz="5867" dirty="0">
                <a:solidFill>
                  <a:schemeClr val="tx1"/>
                </a:solidFill>
              </a:rPr>
              <a:t> </a:t>
            </a:r>
            <a:endParaRPr lang="en-US" sz="5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0648" y="3857488"/>
            <a:ext cx="6113981" cy="21439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333" dirty="0">
                <a:ea typeface="EPSON 教科書体Ｍ"/>
              </a:rPr>
              <a:t>※</a:t>
            </a:r>
            <a:r>
              <a:rPr lang="vi-VN" altLang="ja-JP" sz="3333" dirty="0">
                <a:ea typeface="EPSON 教科書体Ｍ"/>
              </a:rPr>
              <a:t>N1 bổ nghĩa cho N2 </a:t>
            </a:r>
          </a:p>
          <a:p>
            <a:r>
              <a:rPr lang="vi-VN" altLang="ja-JP" sz="3333" dirty="0">
                <a:ea typeface="EPSON 教科書体Ｍ"/>
              </a:rPr>
              <a:t>-&gt;dùng trợ từ </a:t>
            </a:r>
            <a:r>
              <a:rPr lang="ja-JP" altLang="en-US" sz="3333" b="1" dirty="0">
                <a:ea typeface="EPSON 教科書体Ｍ"/>
              </a:rPr>
              <a:t>の</a:t>
            </a:r>
            <a:r>
              <a:rPr lang="vi-VN" altLang="ja-JP" sz="3333" dirty="0">
                <a:ea typeface="EPSON 教科書体Ｍ"/>
              </a:rPr>
              <a:t> (của)</a:t>
            </a:r>
            <a:endParaRPr lang="en-US" altLang="ja-JP" sz="3333" dirty="0">
              <a:ea typeface="EPSON 教科書体Ｍ"/>
            </a:endParaRPr>
          </a:p>
          <a:p>
            <a:r>
              <a:rPr lang="vi-VN" altLang="ja-JP" sz="3333" dirty="0"/>
              <a:t>DT</a:t>
            </a:r>
            <a:r>
              <a:rPr lang="ja-JP" altLang="en-US" sz="3333" dirty="0"/>
              <a:t> </a:t>
            </a:r>
            <a:r>
              <a:rPr lang="vi-VN" altLang="ja-JP" sz="3333" dirty="0"/>
              <a:t>chính nằm ở phía sau.</a:t>
            </a:r>
          </a:p>
          <a:p>
            <a:r>
              <a:rPr lang="vi-VN" altLang="ja-JP" sz="3333" dirty="0"/>
              <a:t>DT bổ nghĩa (phụ) nằm ở trước</a:t>
            </a:r>
            <a:endParaRPr lang="ja-JP" altLang="en-US" sz="3333" dirty="0"/>
          </a:p>
        </p:txBody>
      </p:sp>
      <p:sp>
        <p:nvSpPr>
          <p:cNvPr id="6" name="TextBox 5"/>
          <p:cNvSpPr txBox="1"/>
          <p:nvPr/>
        </p:nvSpPr>
        <p:spPr>
          <a:xfrm>
            <a:off x="660903" y="1792730"/>
            <a:ext cx="11144133" cy="116955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（わたしは）あおぞらにほんごがっこう</a:t>
            </a:r>
            <a:r>
              <a:rPr lang="ja-JP" altLang="en-US" sz="35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の</a:t>
            </a:r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　がくせいです。</a:t>
            </a:r>
            <a:endParaRPr lang="en-US" altLang="ja-JP" sz="3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vi-VN" altLang="ja-JP" sz="3500" b="1" dirty="0">
                <a:latin typeface="MS PMincho" pitchFamily="18" charset="-128"/>
                <a:ea typeface="MS PMincho" pitchFamily="18" charset="-128"/>
              </a:rPr>
              <a:t>Tôi là sinh viên của trường tiếng Nhật AOZORA.</a:t>
            </a:r>
          </a:p>
        </p:txBody>
      </p:sp>
      <p:sp>
        <p:nvSpPr>
          <p:cNvPr id="7" name="Oval Callout 6"/>
          <p:cNvSpPr/>
          <p:nvPr/>
        </p:nvSpPr>
        <p:spPr>
          <a:xfrm rot="371499">
            <a:off x="-947486" y="34436"/>
            <a:ext cx="3432838" cy="1278757"/>
          </a:xfrm>
          <a:prstGeom prst="wedgeEllipseCallout">
            <a:avLst>
              <a:gd name="adj1" fmla="val 82216"/>
              <a:gd name="adj2" fmla="val -3388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“NO”,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”,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ý : </a:t>
            </a:r>
            <a:r>
              <a:rPr lang="en-US" i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đất</a:t>
            </a:r>
            <a:r>
              <a:rPr lang="en-US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nước</a:t>
            </a:r>
            <a:r>
              <a:rPr lang="en-US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br>
              <a:rPr lang="en-US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endParaRPr lang="en-US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41" y="3125075"/>
            <a:ext cx="4692235" cy="342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2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所属　助詞　の　日本語　初級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482600"/>
            <a:ext cx="9144000" cy="543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9256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英語のアルファベット一覧と文字の仕組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397" y="64633"/>
            <a:ext cx="9289970" cy="656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327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s://hire39.com/wp-content/uploads/2020/12/36-500x3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1193800"/>
            <a:ext cx="8134640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0777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09600" y="1605366"/>
            <a:ext cx="10668000" cy="4267200"/>
          </a:xfrm>
          <a:ln w="28575"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r>
              <a:rPr lang="en-US" sz="3333" b="1" dirty="0">
                <a:ea typeface="EPSON 教科書体Ｍ"/>
              </a:rPr>
              <a:t>1</a:t>
            </a:r>
            <a:r>
              <a:rPr lang="ja-JP" altLang="en-US" sz="3333" b="1" dirty="0">
                <a:ea typeface="EPSON 教科書体Ｍ"/>
              </a:rPr>
              <a:t>．いち</a:t>
            </a:r>
            <a:r>
              <a:rPr lang="en-US" sz="3333" b="1" dirty="0">
                <a:ea typeface="EPSON 教科書体Ｍ"/>
              </a:rPr>
              <a:t>			</a:t>
            </a:r>
            <a:r>
              <a:rPr lang="en-US" altLang="ja-JP" sz="3333" b="1" dirty="0">
                <a:ea typeface="EPSON 教科書体Ｍ"/>
              </a:rPr>
              <a:t> 6.</a:t>
            </a:r>
            <a:r>
              <a:rPr lang="ja-JP" altLang="en-US" sz="3333" b="1" dirty="0">
                <a:ea typeface="EPSON 教科書体Ｍ"/>
              </a:rPr>
              <a:t>　ろく</a:t>
            </a:r>
            <a:r>
              <a:rPr lang="en-US" sz="3333" b="1" dirty="0">
                <a:ea typeface="EPSON 教科書体Ｍ"/>
              </a:rPr>
              <a:t>			</a:t>
            </a:r>
          </a:p>
          <a:p>
            <a:r>
              <a:rPr lang="en-US" sz="3333" b="1" dirty="0">
                <a:ea typeface="EPSON 教科書体Ｍ"/>
              </a:rPr>
              <a:t>2.</a:t>
            </a:r>
            <a:r>
              <a:rPr lang="ja-JP" altLang="en-US" sz="3333" b="1" dirty="0">
                <a:ea typeface="EPSON 教科書体Ｍ"/>
              </a:rPr>
              <a:t>　に</a:t>
            </a:r>
            <a:r>
              <a:rPr lang="en-US" sz="3333" b="1" dirty="0">
                <a:ea typeface="EPSON 教科書体Ｍ"/>
              </a:rPr>
              <a:t>			</a:t>
            </a:r>
            <a:r>
              <a:rPr lang="en-US" altLang="ja-JP" sz="3333" b="1" dirty="0">
                <a:ea typeface="EPSON 教科書体Ｍ"/>
              </a:rPr>
              <a:t> 7.</a:t>
            </a:r>
            <a:r>
              <a:rPr lang="ja-JP" altLang="en-US" sz="3333" b="1" dirty="0">
                <a:ea typeface="EPSON 教科書体Ｍ"/>
              </a:rPr>
              <a:t>　なな</a:t>
            </a:r>
            <a:r>
              <a:rPr lang="vi-VN" altLang="ja-JP" sz="3333" b="1" dirty="0">
                <a:ea typeface="EPSON 教科書体Ｍ"/>
              </a:rPr>
              <a:t>/</a:t>
            </a:r>
            <a:r>
              <a:rPr lang="ja-JP" altLang="en-US" sz="3333" b="1" dirty="0">
                <a:ea typeface="EPSON 教科書体Ｍ"/>
              </a:rPr>
              <a:t>しち</a:t>
            </a:r>
            <a:r>
              <a:rPr lang="en-US" sz="3333" b="1" dirty="0">
                <a:ea typeface="EPSON 教科書体Ｍ"/>
              </a:rPr>
              <a:t>	</a:t>
            </a:r>
          </a:p>
          <a:p>
            <a:r>
              <a:rPr lang="en-US" sz="3333" b="1" dirty="0">
                <a:ea typeface="EPSON 教科書体Ｍ"/>
              </a:rPr>
              <a:t>3.</a:t>
            </a:r>
            <a:r>
              <a:rPr lang="ja-JP" altLang="en-US" sz="3333" b="1" dirty="0">
                <a:ea typeface="EPSON 教科書体Ｍ"/>
              </a:rPr>
              <a:t>　さん</a:t>
            </a:r>
            <a:r>
              <a:rPr lang="en-US" sz="3333" b="1" dirty="0">
                <a:ea typeface="EPSON 教科書体Ｍ"/>
              </a:rPr>
              <a:t>			</a:t>
            </a:r>
            <a:r>
              <a:rPr lang="en-US" altLang="ja-JP" sz="3333" b="1" dirty="0">
                <a:ea typeface="EPSON 教科書体Ｍ"/>
              </a:rPr>
              <a:t> 8.</a:t>
            </a:r>
            <a:r>
              <a:rPr lang="ja-JP" altLang="en-US" sz="3333" b="1" dirty="0">
                <a:ea typeface="EPSON 教科書体Ｍ"/>
              </a:rPr>
              <a:t>　はち</a:t>
            </a:r>
            <a:endParaRPr lang="en-US" sz="3333" b="1" dirty="0">
              <a:ea typeface="EPSON 教科書体Ｍ"/>
            </a:endParaRPr>
          </a:p>
          <a:p>
            <a:r>
              <a:rPr lang="en-US" sz="3333" b="1" dirty="0">
                <a:ea typeface="EPSON 教科書体Ｍ"/>
              </a:rPr>
              <a:t>4.</a:t>
            </a:r>
            <a:r>
              <a:rPr lang="ja-JP" altLang="en-US" sz="3333" b="1" dirty="0">
                <a:ea typeface="EPSON 教科書体Ｍ"/>
              </a:rPr>
              <a:t>　よん</a:t>
            </a:r>
            <a:r>
              <a:rPr lang="en-US" altLang="ja-JP" sz="3333" b="1" dirty="0">
                <a:ea typeface="EPSON 教科書体Ｍ"/>
              </a:rPr>
              <a:t>/</a:t>
            </a:r>
            <a:r>
              <a:rPr lang="ja-JP" altLang="en-US" sz="3333" b="1" dirty="0">
                <a:ea typeface="EPSON 教科書体Ｍ"/>
              </a:rPr>
              <a:t>よ</a:t>
            </a:r>
            <a:r>
              <a:rPr lang="en-US" altLang="ja-JP" sz="3333" b="1" dirty="0">
                <a:ea typeface="EPSON 教科書体Ｍ"/>
              </a:rPr>
              <a:t>/</a:t>
            </a:r>
            <a:r>
              <a:rPr lang="ja-JP" altLang="en-US" sz="3333" b="1" dirty="0">
                <a:ea typeface="EPSON 教科書体Ｍ"/>
              </a:rPr>
              <a:t>し</a:t>
            </a:r>
            <a:r>
              <a:rPr lang="en-US" sz="3333" b="1" dirty="0">
                <a:ea typeface="EPSON 教科書体Ｍ"/>
              </a:rPr>
              <a:t>	</a:t>
            </a:r>
            <a:r>
              <a:rPr lang="en-US" altLang="ja-JP" sz="3333" b="1" dirty="0">
                <a:ea typeface="EPSON 教科書体Ｍ"/>
              </a:rPr>
              <a:t>9</a:t>
            </a:r>
            <a:r>
              <a:rPr lang="ja-JP" altLang="en-US" sz="3333" b="1" dirty="0">
                <a:ea typeface="EPSON 教科書体Ｍ"/>
              </a:rPr>
              <a:t>．　きゅう</a:t>
            </a:r>
            <a:r>
              <a:rPr lang="en-US" altLang="ja-JP" sz="3333" b="1" dirty="0">
                <a:ea typeface="EPSON 教科書体Ｍ"/>
              </a:rPr>
              <a:t>/</a:t>
            </a:r>
            <a:r>
              <a:rPr lang="ja-JP" altLang="en-US" sz="3333" b="1" dirty="0">
                <a:ea typeface="EPSON 教科書体Ｍ"/>
              </a:rPr>
              <a:t>く</a:t>
            </a:r>
            <a:endParaRPr lang="en-US" altLang="ja-JP" sz="3333" b="1" dirty="0">
              <a:ea typeface="EPSON 教科書体Ｍ"/>
            </a:endParaRPr>
          </a:p>
          <a:p>
            <a:pPr marL="0" indent="0">
              <a:buNone/>
            </a:pPr>
            <a:r>
              <a:rPr lang="en-US" altLang="ja-JP" sz="3333" b="1" dirty="0">
                <a:ea typeface="EPSON 教科書体Ｍ"/>
              </a:rPr>
              <a:t> 5.</a:t>
            </a:r>
            <a:r>
              <a:rPr lang="ja-JP" altLang="en-US" sz="3333" b="1" dirty="0">
                <a:ea typeface="EPSON 教科書体Ｍ"/>
              </a:rPr>
              <a:t>　ご　　　　　</a:t>
            </a:r>
            <a:r>
              <a:rPr lang="en-US" sz="3333" b="1" dirty="0">
                <a:ea typeface="EPSON 教科書体Ｍ"/>
              </a:rPr>
              <a:t>10.</a:t>
            </a:r>
            <a:r>
              <a:rPr lang="ja-JP" altLang="en-US" sz="3333" b="1" dirty="0">
                <a:ea typeface="EPSON 教科書体Ｍ"/>
              </a:rPr>
              <a:t>　じゅう</a:t>
            </a:r>
            <a:endParaRPr lang="en-US" altLang="ja-JP" sz="3333" b="1" dirty="0">
              <a:ea typeface="EPSON 教科書体Ｍ"/>
            </a:endParaRPr>
          </a:p>
          <a:p>
            <a:pPr marL="0" indent="0">
              <a:buNone/>
            </a:pPr>
            <a:r>
              <a:rPr lang="vi-VN" altLang="ja-JP" sz="3333" b="1" dirty="0">
                <a:ea typeface="EPSON 教科書体Ｍ"/>
              </a:rPr>
              <a:t>20.</a:t>
            </a:r>
            <a:r>
              <a:rPr lang="ja-JP" altLang="en-US" sz="3333" b="1" dirty="0">
                <a:ea typeface="EPSON 教科書体Ｍ"/>
              </a:rPr>
              <a:t>に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じゅう</a:t>
            </a:r>
            <a:r>
              <a:rPr lang="ja-JP" altLang="en-US" sz="3333" b="1" dirty="0">
                <a:ea typeface="EPSON 教科書体Ｍ"/>
              </a:rPr>
              <a:t>　　</a:t>
            </a:r>
            <a:r>
              <a:rPr lang="en-US" altLang="ja-JP" sz="3333" b="1" dirty="0">
                <a:ea typeface="EPSON 教科書体Ｍ"/>
              </a:rPr>
              <a:t>99.</a:t>
            </a:r>
            <a:r>
              <a:rPr lang="ja-JP" altLang="en-US" sz="3333" b="1" dirty="0">
                <a:ea typeface="EPSON 教科書体Ｍ"/>
              </a:rPr>
              <a:t>きゅう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じゅう</a:t>
            </a:r>
            <a:r>
              <a:rPr lang="ja-JP" altLang="en-US" sz="3333" b="1" dirty="0">
                <a:ea typeface="EPSON 教科書体Ｍ"/>
              </a:rPr>
              <a:t>きゅう</a:t>
            </a:r>
            <a:endParaRPr lang="vi-VN" altLang="ja-JP" sz="3333" b="1" dirty="0">
              <a:ea typeface="EPSON 教科書体Ｍ"/>
            </a:endParaRPr>
          </a:p>
          <a:p>
            <a:pPr marL="0" indent="0">
              <a:buNone/>
            </a:pPr>
            <a:r>
              <a:rPr lang="vi-VN" altLang="ja-JP" sz="3333" b="1" dirty="0">
                <a:ea typeface="EPSON 教科書体Ｍ"/>
              </a:rPr>
              <a:t>0:</a:t>
            </a:r>
            <a:r>
              <a:rPr lang="ja-JP" altLang="en-US" sz="3333" b="1" dirty="0">
                <a:ea typeface="EPSON 教科書体Ｍ"/>
              </a:rPr>
              <a:t>れい</a:t>
            </a:r>
            <a:r>
              <a:rPr lang="en-US" altLang="ja-JP" sz="3333" b="1" dirty="0">
                <a:ea typeface="EPSON 教科書体Ｍ"/>
              </a:rPr>
              <a:t>(rei)/</a:t>
            </a:r>
            <a:r>
              <a:rPr lang="ja-JP" altLang="en-US" sz="3333" b="1" dirty="0">
                <a:solidFill>
                  <a:srgbClr val="00B050"/>
                </a:solidFill>
                <a:ea typeface="EPSON 教科書体Ｍ"/>
              </a:rPr>
              <a:t>ゼロ</a:t>
            </a:r>
            <a:r>
              <a:rPr lang="en-US" altLang="ja-JP" sz="3333" b="1" dirty="0">
                <a:solidFill>
                  <a:srgbClr val="00B050"/>
                </a:solidFill>
                <a:ea typeface="EPSON 教科書体Ｍ"/>
              </a:rPr>
              <a:t>/</a:t>
            </a:r>
            <a:r>
              <a:rPr lang="ja-JP" altLang="en-US" sz="3333" b="1" dirty="0">
                <a:ea typeface="EPSON 教科書体Ｍ"/>
              </a:rPr>
              <a:t>まる</a:t>
            </a:r>
            <a:r>
              <a:rPr lang="en-US" altLang="ja-JP" sz="3333" b="1" dirty="0">
                <a:ea typeface="EPSON 教科書体Ｍ"/>
              </a:rPr>
              <a:t>(ma </a:t>
            </a:r>
            <a:r>
              <a:rPr lang="en-US" altLang="ja-JP" sz="3333" b="1" dirty="0" err="1">
                <a:ea typeface="EPSON 教科書体Ｍ"/>
              </a:rPr>
              <a:t>ru</a:t>
            </a:r>
            <a:r>
              <a:rPr lang="en-US" altLang="ja-JP" sz="3333" b="1" dirty="0">
                <a:ea typeface="EPSON 教科書体Ｍ"/>
              </a:rPr>
              <a:t>)</a:t>
            </a:r>
          </a:p>
          <a:p>
            <a:pPr marL="0" indent="0">
              <a:buNone/>
            </a:pPr>
            <a:endParaRPr lang="en-US" sz="3333" b="1" dirty="0">
              <a:ea typeface="EPSON 教科書体Ｍ"/>
            </a:endParaRPr>
          </a:p>
          <a:p>
            <a:pPr marL="685783" indent="-685783"/>
            <a:endParaRPr lang="vi-VN" sz="3333" b="1" dirty="0">
              <a:latin typeface="EPSON 教科書体Ｍ"/>
              <a:ea typeface="EPSON 教科書体Ｍ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381000"/>
            <a:ext cx="11277600" cy="93980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altLang="ja-JP" sz="3733" dirty="0">
                <a:solidFill>
                  <a:srgbClr val="FF0000"/>
                </a:solidFill>
                <a:ea typeface="EPSON 教科書体Ｍ"/>
              </a:rPr>
              <a:t>Đếm số</a:t>
            </a:r>
            <a:endParaRPr lang="en-US" altLang="ja-JP" sz="3733" dirty="0">
              <a:solidFill>
                <a:srgbClr val="FF0000"/>
              </a:solidFill>
              <a:ea typeface="EPSON 教科書体Ｍ"/>
            </a:endParaRPr>
          </a:p>
        </p:txBody>
      </p:sp>
    </p:spTree>
    <p:extLst>
      <p:ext uri="{BB962C8B-B14F-4D97-AF65-F5344CB8AC3E}">
        <p14:creationId xmlns:p14="http://schemas.microsoft.com/office/powerpoint/2010/main" val="349175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12510" y="1871568"/>
            <a:ext cx="11101137" cy="3366132"/>
          </a:xfrm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en-US" sz="3333" b="1" dirty="0">
                <a:ea typeface="EPSON 教科書体Ｍ"/>
              </a:rPr>
              <a:t>1</a:t>
            </a:r>
            <a:r>
              <a:rPr lang="ja-JP" altLang="en-US" sz="3333" b="1" dirty="0">
                <a:ea typeface="EPSON 教科書体Ｍ"/>
              </a:rPr>
              <a:t>．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いっ</a:t>
            </a:r>
            <a:r>
              <a:rPr lang="ja-JP" altLang="en-US" sz="3333" b="1" dirty="0">
                <a:highlight>
                  <a:srgbClr val="FFFF00"/>
                </a:highlight>
                <a:ea typeface="EPSON 教科書体Ｍ"/>
              </a:rPr>
              <a:t>さい</a:t>
            </a:r>
            <a:r>
              <a:rPr lang="vi-VN" altLang="ja-JP" sz="3333" b="1" dirty="0">
                <a:ea typeface="EPSON 教科書体Ｍ"/>
              </a:rPr>
              <a:t>    </a:t>
            </a:r>
            <a:r>
              <a:rPr lang="en-US" sz="3333" b="1" dirty="0">
                <a:ea typeface="EPSON 教科書体Ｍ"/>
              </a:rPr>
              <a:t>		</a:t>
            </a:r>
            <a:r>
              <a:rPr lang="ja-JP" altLang="en-US" sz="3333" b="1" dirty="0">
                <a:ea typeface="EPSON 教科書体Ｍ"/>
              </a:rPr>
              <a:t> </a:t>
            </a:r>
            <a:r>
              <a:rPr lang="en-US" altLang="ja-JP" sz="3333" b="1" dirty="0">
                <a:ea typeface="EPSON 教科書体Ｍ"/>
              </a:rPr>
              <a:t>6.</a:t>
            </a:r>
            <a:r>
              <a:rPr lang="ja-JP" altLang="en-US" sz="3333" b="1" dirty="0">
                <a:ea typeface="EPSON 教科書体Ｍ"/>
              </a:rPr>
              <a:t>　ろくさい</a:t>
            </a:r>
            <a:r>
              <a:rPr lang="en-US" altLang="ja-JP" sz="3333" b="1" dirty="0">
                <a:ea typeface="EPSON 教科書体Ｍ"/>
              </a:rPr>
              <a:t>	</a:t>
            </a:r>
            <a:r>
              <a:rPr lang="en-US" sz="3333" b="1" dirty="0">
                <a:ea typeface="EPSON 教科書体Ｍ"/>
              </a:rPr>
              <a:t>			</a:t>
            </a:r>
          </a:p>
          <a:p>
            <a:r>
              <a:rPr lang="en-US" sz="3333" b="1" dirty="0">
                <a:ea typeface="EPSON 教科書体Ｍ"/>
              </a:rPr>
              <a:t>2.</a:t>
            </a:r>
            <a:r>
              <a:rPr lang="ja-JP" altLang="en-US" sz="3333" b="1" dirty="0">
                <a:ea typeface="EPSON 教科書体Ｍ"/>
              </a:rPr>
              <a:t>　に</a:t>
            </a:r>
            <a:r>
              <a:rPr lang="ja-JP" altLang="en-US" sz="3333" b="1" dirty="0">
                <a:highlight>
                  <a:srgbClr val="FFFF00"/>
                </a:highlight>
                <a:ea typeface="EPSON 教科書体Ｍ"/>
              </a:rPr>
              <a:t>さい</a:t>
            </a:r>
            <a:r>
              <a:rPr lang="en-US" sz="3333" b="1" dirty="0">
                <a:ea typeface="EPSON 教科書体Ｍ"/>
              </a:rPr>
              <a:t>			</a:t>
            </a:r>
            <a:r>
              <a:rPr lang="en-US" altLang="ja-JP" sz="3333" b="1" dirty="0">
                <a:ea typeface="EPSON 教科書体Ｍ"/>
              </a:rPr>
              <a:t> 7.</a:t>
            </a:r>
            <a:r>
              <a:rPr lang="ja-JP" altLang="en-US" sz="3333" b="1" dirty="0">
                <a:ea typeface="EPSON 教科書体Ｍ"/>
              </a:rPr>
              <a:t>　ななさい</a:t>
            </a:r>
            <a:endParaRPr lang="en-US" sz="3333" b="1" dirty="0">
              <a:ea typeface="EPSON 教科書体Ｍ"/>
            </a:endParaRPr>
          </a:p>
          <a:p>
            <a:r>
              <a:rPr lang="en-US" sz="3333" b="1" dirty="0">
                <a:ea typeface="EPSON 教科書体Ｍ"/>
              </a:rPr>
              <a:t>3.</a:t>
            </a:r>
            <a:r>
              <a:rPr lang="ja-JP" altLang="en-US" sz="3333" b="1" dirty="0">
                <a:ea typeface="EPSON 教科書体Ｍ"/>
              </a:rPr>
              <a:t>　さんさい</a:t>
            </a:r>
            <a:r>
              <a:rPr lang="en-US" sz="3333" b="1" dirty="0">
                <a:ea typeface="EPSON 教科書体Ｍ"/>
              </a:rPr>
              <a:t>			</a:t>
            </a:r>
            <a:r>
              <a:rPr lang="en-US" altLang="ja-JP" sz="3333" b="1" dirty="0">
                <a:ea typeface="EPSON 教科書体Ｍ"/>
              </a:rPr>
              <a:t> 8.</a:t>
            </a:r>
            <a:r>
              <a:rPr lang="ja-JP" altLang="en-US" sz="3333" b="1" dirty="0">
                <a:ea typeface="EPSON 教科書体Ｍ"/>
              </a:rPr>
              <a:t>　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はっ</a:t>
            </a:r>
            <a:r>
              <a:rPr lang="ja-JP" altLang="en-US" sz="3333" b="1" dirty="0">
                <a:ea typeface="EPSON 教科書体Ｍ"/>
              </a:rPr>
              <a:t>さい</a:t>
            </a:r>
            <a:endParaRPr lang="en-US" sz="3333" b="1" dirty="0">
              <a:ea typeface="EPSON 教科書体Ｍ"/>
            </a:endParaRPr>
          </a:p>
          <a:p>
            <a:r>
              <a:rPr lang="en-US" sz="3333" b="1" dirty="0">
                <a:ea typeface="EPSON 教科書体Ｍ"/>
              </a:rPr>
              <a:t>4.</a:t>
            </a:r>
            <a:r>
              <a:rPr lang="ja-JP" altLang="en-US" sz="3333" b="1" dirty="0">
                <a:ea typeface="EPSON 教科書体Ｍ"/>
              </a:rPr>
              <a:t>　</a:t>
            </a:r>
            <a:r>
              <a:rPr lang="ja-JP" altLang="en-US" sz="3333" b="1" dirty="0">
                <a:highlight>
                  <a:srgbClr val="FFFF00"/>
                </a:highlight>
                <a:ea typeface="EPSON 教科書体Ｍ"/>
              </a:rPr>
              <a:t>よん</a:t>
            </a:r>
            <a:r>
              <a:rPr lang="ja-JP" altLang="en-US" sz="3333" b="1" dirty="0">
                <a:ea typeface="EPSON 教科書体Ｍ"/>
              </a:rPr>
              <a:t>さい　</a:t>
            </a:r>
            <a:r>
              <a:rPr lang="en-US" altLang="ja-JP" sz="3333" b="1" dirty="0">
                <a:ea typeface="EPSON 教科書体Ｍ"/>
              </a:rPr>
              <a:t> </a:t>
            </a:r>
            <a:r>
              <a:rPr lang="ja-JP" altLang="en-US" sz="3333" b="1" dirty="0">
                <a:ea typeface="EPSON 教科書体Ｍ"/>
              </a:rPr>
              <a:t>　　　  </a:t>
            </a:r>
            <a:r>
              <a:rPr lang="en-US" altLang="ja-JP" sz="3333" b="1" dirty="0">
                <a:ea typeface="EPSON 教科書体Ｍ"/>
              </a:rPr>
              <a:t>9 </a:t>
            </a:r>
            <a:r>
              <a:rPr lang="en-US" altLang="ja-JP" sz="3333" b="1" dirty="0">
                <a:highlight>
                  <a:srgbClr val="FFFF00"/>
                </a:highlight>
                <a:ea typeface="EPSON 教科書体Ｍ"/>
              </a:rPr>
              <a:t>. </a:t>
            </a:r>
            <a:r>
              <a:rPr lang="ja-JP" altLang="en-US" sz="3333" b="1" dirty="0">
                <a:highlight>
                  <a:srgbClr val="FFFF00"/>
                </a:highlight>
                <a:ea typeface="EPSON 教科書体Ｍ"/>
              </a:rPr>
              <a:t> </a:t>
            </a:r>
            <a:r>
              <a:rPr lang="ja-JP" altLang="en-US" sz="3333" b="1" dirty="0">
                <a:solidFill>
                  <a:srgbClr val="FF0000"/>
                </a:solidFill>
                <a:highlight>
                  <a:srgbClr val="FFFF00"/>
                </a:highlight>
                <a:ea typeface="EPSON 教科書体Ｍ"/>
              </a:rPr>
              <a:t>きゅう</a:t>
            </a:r>
            <a:r>
              <a:rPr lang="ja-JP" altLang="en-US" sz="3333" b="1" dirty="0">
                <a:highlight>
                  <a:srgbClr val="FFFF00"/>
                </a:highlight>
                <a:ea typeface="EPSON 教科書体Ｍ"/>
              </a:rPr>
              <a:t>さい </a:t>
            </a:r>
            <a:r>
              <a:rPr lang="en-US" altLang="ja-JP" sz="3333" b="1" dirty="0">
                <a:highlight>
                  <a:srgbClr val="FFFF00"/>
                </a:highlight>
                <a:ea typeface="EPSON 教科書体Ｍ"/>
              </a:rPr>
              <a:t>( so 9 </a:t>
            </a:r>
            <a:r>
              <a:rPr lang="en-US" altLang="ja-JP" sz="3333" b="1" dirty="0" err="1">
                <a:highlight>
                  <a:srgbClr val="FFFF00"/>
                </a:highlight>
                <a:ea typeface="EPSON 教科書体Ｍ"/>
              </a:rPr>
              <a:t>kyou</a:t>
            </a:r>
            <a:r>
              <a:rPr lang="en-US" altLang="ja-JP" sz="3333" b="1" dirty="0">
                <a:highlight>
                  <a:srgbClr val="FFFF00"/>
                </a:highlight>
                <a:ea typeface="EPSON 教科書体Ｍ"/>
              </a:rPr>
              <a:t>)</a:t>
            </a:r>
            <a:r>
              <a:rPr lang="en-US" sz="3333" b="1" dirty="0">
                <a:ea typeface="EPSON 教科書体Ｍ"/>
              </a:rPr>
              <a:t>	</a:t>
            </a:r>
            <a:r>
              <a:rPr lang="en-US" sz="3333" b="1" dirty="0" err="1">
                <a:ea typeface="EPSON 教科書体Ｍ"/>
              </a:rPr>
              <a:t>tuoi</a:t>
            </a:r>
            <a:r>
              <a:rPr lang="en-US" sz="3333" b="1" dirty="0">
                <a:ea typeface="EPSON 教科書体Ｍ"/>
              </a:rPr>
              <a:t>		</a:t>
            </a:r>
            <a:endParaRPr lang="en-US" altLang="ja-JP" sz="3333" b="1" dirty="0">
              <a:ea typeface="EPSON 教科書体Ｍ"/>
            </a:endParaRPr>
          </a:p>
          <a:p>
            <a:r>
              <a:rPr lang="en-US" altLang="ja-JP" sz="3333" b="1" dirty="0">
                <a:ea typeface="EPSON 教科書体Ｍ"/>
              </a:rPr>
              <a:t>5.</a:t>
            </a:r>
            <a:r>
              <a:rPr lang="ja-JP" altLang="en-US" sz="3333" b="1" dirty="0">
                <a:ea typeface="EPSON 教科書体Ｍ"/>
              </a:rPr>
              <a:t>　ごさい　　　　　 </a:t>
            </a:r>
            <a:r>
              <a:rPr lang="en-US" sz="3333" b="1" dirty="0">
                <a:ea typeface="EPSON 教科書体Ｍ"/>
              </a:rPr>
              <a:t>10.</a:t>
            </a:r>
            <a:r>
              <a:rPr lang="ja-JP" altLang="en-US" sz="3333" b="1" dirty="0">
                <a:ea typeface="EPSON 教科書体Ｍ"/>
              </a:rPr>
              <a:t>　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じゅ</a:t>
            </a:r>
            <a:r>
              <a:rPr lang="ja-JP" altLang="en-US" sz="3333" b="1" u="sng" dirty="0">
                <a:solidFill>
                  <a:srgbClr val="FF0000"/>
                </a:solidFill>
                <a:ea typeface="EPSON 教科書体Ｍ"/>
              </a:rPr>
              <a:t>っ</a:t>
            </a:r>
            <a:r>
              <a:rPr lang="ja-JP" altLang="en-US" sz="3333" b="1" u="sng" dirty="0">
                <a:ea typeface="EPSON 教科書体Ｍ"/>
              </a:rPr>
              <a:t>さい</a:t>
            </a:r>
            <a:r>
              <a:rPr lang="ja-JP" altLang="en-US" sz="3333" b="1" dirty="0">
                <a:ea typeface="EPSON 教科書体Ｍ"/>
              </a:rPr>
              <a:t>／じっさい</a:t>
            </a:r>
            <a:r>
              <a:rPr lang="en-US" altLang="ja-JP" sz="3333" b="1" dirty="0">
                <a:ea typeface="EPSON 教科書体Ｍ"/>
              </a:rPr>
              <a:t>(</a:t>
            </a:r>
            <a:r>
              <a:rPr lang="en-US" altLang="ja-JP" sz="3333" b="1" dirty="0" err="1">
                <a:ea typeface="EPSON 教科書体Ｍ"/>
              </a:rPr>
              <a:t>jissai</a:t>
            </a:r>
            <a:r>
              <a:rPr lang="en-US" altLang="ja-JP" sz="3333" b="1" dirty="0">
                <a:ea typeface="EPSON 教科書体Ｍ"/>
              </a:rPr>
              <a:t>)</a:t>
            </a:r>
          </a:p>
          <a:p>
            <a:r>
              <a:rPr lang="en-US" altLang="ja-JP" sz="3333" b="1" dirty="0">
                <a:ea typeface="EPSON 教科書体Ｍ"/>
              </a:rPr>
              <a:t>11.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じゅう</a:t>
            </a:r>
            <a:r>
              <a:rPr lang="en-US" altLang="ja-JP" sz="3333" b="1" dirty="0">
                <a:solidFill>
                  <a:srgbClr val="FF0000"/>
                </a:solidFill>
                <a:ea typeface="EPSON 教科書体Ｍ"/>
              </a:rPr>
              <a:t>_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いっ</a:t>
            </a:r>
            <a:r>
              <a:rPr lang="ja-JP" altLang="en-US" sz="3333" b="1" dirty="0">
                <a:ea typeface="EPSON 教科書体Ｍ"/>
              </a:rPr>
              <a:t>さい　　</a:t>
            </a:r>
            <a:r>
              <a:rPr lang="en-US" altLang="ja-JP" sz="3333" b="1" dirty="0">
                <a:ea typeface="EPSON 教科書体Ｍ"/>
              </a:rPr>
              <a:t>20.</a:t>
            </a:r>
            <a:r>
              <a:rPr lang="ja-JP" altLang="en-US" sz="3333" b="1" dirty="0">
                <a:ea typeface="EPSON 教科書体Ｍ"/>
              </a:rPr>
              <a:t>　に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じゅっ</a:t>
            </a:r>
            <a:r>
              <a:rPr lang="ja-JP" altLang="en-US" sz="3333" b="1" dirty="0">
                <a:ea typeface="EPSON 教科書体Ｍ"/>
              </a:rPr>
              <a:t>さい／</a:t>
            </a:r>
            <a:r>
              <a:rPr lang="ja-JP" altLang="en-US" sz="3333" b="1" dirty="0">
                <a:solidFill>
                  <a:srgbClr val="FF0000"/>
                </a:solidFill>
                <a:ea typeface="EPSON 教科書体Ｍ"/>
              </a:rPr>
              <a:t>はたち</a:t>
            </a:r>
            <a:r>
              <a:rPr lang="en-US" altLang="ja-JP" sz="3333" b="1" dirty="0">
                <a:solidFill>
                  <a:srgbClr val="FF0000"/>
                </a:solidFill>
                <a:ea typeface="EPSON 教科書体Ｍ"/>
              </a:rPr>
              <a:t>()</a:t>
            </a:r>
            <a:endParaRPr lang="en-US" sz="3333" b="1" dirty="0">
              <a:solidFill>
                <a:srgbClr val="FF0000"/>
              </a:solidFill>
              <a:ea typeface="EPSON 教科書体Ｍ"/>
            </a:endParaRPr>
          </a:p>
          <a:p>
            <a:pPr marL="685783" indent="-685783">
              <a:buAutoNum type="arabicPeriod"/>
            </a:pPr>
            <a:endParaRPr lang="vi-VN" sz="3333" b="1" dirty="0">
              <a:latin typeface="EPSON 教科書体Ｍ"/>
              <a:ea typeface="EPSON 教科書体Ｍ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06399" y="537634"/>
            <a:ext cx="11277600" cy="117263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121920" tIns="60960" rIns="121920" bIns="60960" rtlCol="0" anchor="ctr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sz="3750" kern="1200" cap="all" spc="75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733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ja-JP" sz="3733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ách nói số tuổi</a:t>
            </a:r>
            <a:r>
              <a:rPr lang="ja-JP" altLang="en-US" sz="37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➡</a:t>
            </a:r>
            <a:r>
              <a:rPr lang="ja-JP" altLang="en-US" sz="37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なんさい</a:t>
            </a:r>
            <a:r>
              <a:rPr lang="ja-JP" altLang="en-US" sz="37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？おいくつ？</a:t>
            </a:r>
            <a:r>
              <a:rPr lang="vi-VN" altLang="ja-JP" sz="37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ja-JP" sz="37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+</a:t>
            </a:r>
            <a:r>
              <a:rPr lang="ja-JP" altLang="en-US" sz="37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さい</a:t>
            </a:r>
            <a:r>
              <a:rPr lang="vi-VN" altLang="ja-JP" sz="37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 (1,8,0</a:t>
            </a:r>
            <a:r>
              <a:rPr lang="ja-JP" altLang="en-US" sz="37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➡っ</a:t>
            </a:r>
            <a:r>
              <a:rPr lang="vi-VN" altLang="ja-JP" sz="37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)</a:t>
            </a:r>
            <a:endParaRPr lang="en-US" altLang="ja-JP" sz="3733" dirty="0">
              <a:solidFill>
                <a:srgbClr val="FF0000"/>
              </a:solidFill>
              <a:ea typeface="EPSON 教科書体Ｍ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1" y="5969000"/>
            <a:ext cx="9023945" cy="605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3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※</a:t>
            </a:r>
            <a:r>
              <a:rPr lang="vi-VN" altLang="ja-JP" sz="33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Biến âm </a:t>
            </a:r>
            <a:r>
              <a:rPr lang="vi-VN" altLang="ja-JP" sz="3333" dirty="0"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thường đi với </a:t>
            </a:r>
            <a:r>
              <a:rPr lang="vi-VN" altLang="ja-JP" sz="33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số : 1,6,8,0: +</a:t>
            </a:r>
            <a:r>
              <a:rPr lang="vi-VN" altLang="ja-JP" sz="3333" dirty="0">
                <a:solidFill>
                  <a:srgbClr val="00B05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t,s,k,p</a:t>
            </a:r>
            <a:r>
              <a:rPr lang="vi-VN" altLang="ja-JP" sz="3333" dirty="0">
                <a:solidFill>
                  <a:srgbClr val="FF0000"/>
                </a:solidFill>
                <a:latin typeface="Times New Roman" panose="02020603050405020304" pitchFamily="18" charset="0"/>
                <a:ea typeface="EPSON 教科書体Ｍ"/>
                <a:cs typeface="Times New Roman" panose="02020603050405020304" pitchFamily="18" charset="0"/>
              </a:rPr>
              <a:t>/ 3:+’’</a:t>
            </a:r>
            <a:endParaRPr lang="ja-JP" altLang="en-US" sz="3333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11583A-55B7-0A56-B36D-F90D89DA2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0757A"/>
                </a:solidFill>
                <a:effectLst/>
                <a:latin typeface="inherit"/>
              </a:rPr>
              <a:t>Ni jussai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80A381-844A-D615-BB0E-C01A7747B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0757A"/>
                </a:solidFill>
                <a:effectLst/>
                <a:latin typeface="inherit"/>
              </a:rPr>
              <a:t>Ni jussai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77F93FF-0F85-B6F9-768B-DEB6B7D80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5294" y="5237700"/>
            <a:ext cx="556706" cy="1846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0757A"/>
                </a:solidFill>
                <a:effectLst/>
                <a:latin typeface="inherit"/>
              </a:rPr>
              <a:t>Ni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0757A"/>
                </a:solidFill>
                <a:effectLst/>
                <a:latin typeface="inherit"/>
              </a:rPr>
              <a:t>jussai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63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457200"/>
            <a:ext cx="2057400" cy="5791200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１２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１５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１８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２１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２９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３０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３８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２０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343400" y="2514600"/>
            <a:ext cx="1066800" cy="838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0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457200"/>
            <a:ext cx="2057400" cy="5791200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１２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１５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１８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２１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２９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３０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３８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２０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T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343400" y="2514600"/>
            <a:ext cx="1066800" cy="838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410200" y="357612"/>
            <a:ext cx="5758732" cy="5791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じゅ</a:t>
            </a:r>
            <a:r>
              <a:rPr lang="ja-JP" altLang="en-US" sz="4000" b="1" u="sng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う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にさい 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( đầu1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じゅ</a:t>
            </a:r>
            <a:r>
              <a:rPr lang="ja-JP" altLang="en-US" sz="4000" b="1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う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ごさい</a:t>
            </a:r>
            <a:endParaRPr lang="en-US" altLang="ja-JP" sz="4000" b="1" dirty="0">
              <a:latin typeface="MS Mincho" pitchFamily="49" charset="-128"/>
              <a:ea typeface="MS Mincho" pitchFamily="49" charset="-128"/>
            </a:endParaRP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じゅ</a:t>
            </a:r>
            <a:r>
              <a:rPr lang="ja-JP" altLang="en-US" sz="4000" b="1" u="sng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う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はっさい</a:t>
            </a:r>
            <a:endParaRPr lang="en-US" altLang="ja-JP" sz="4000" b="1" dirty="0">
              <a:latin typeface="MS Mincho" pitchFamily="49" charset="-128"/>
              <a:ea typeface="MS Mincho" pitchFamily="49" charset="-128"/>
            </a:endParaRP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にじゅ</a:t>
            </a:r>
            <a:r>
              <a:rPr lang="ja-JP" altLang="en-US" sz="4000" b="1" u="sng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う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いっさい</a:t>
            </a:r>
            <a:endParaRPr lang="en-US" altLang="ja-JP" sz="4000" b="1" dirty="0">
              <a:latin typeface="MS Mincho" pitchFamily="49" charset="-128"/>
              <a:ea typeface="MS Mincho" pitchFamily="49" charset="-128"/>
            </a:endParaRP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にじゅ</a:t>
            </a:r>
            <a:r>
              <a:rPr lang="ja-JP" altLang="en-US" sz="4000" b="1" u="sng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う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きゅうさい</a:t>
            </a:r>
            <a:endParaRPr lang="en-US" altLang="ja-JP" sz="4000" b="1" dirty="0">
              <a:latin typeface="MS Mincho" pitchFamily="49" charset="-128"/>
              <a:ea typeface="MS Mincho" pitchFamily="49" charset="-128"/>
            </a:endParaRP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さんじゅ</a:t>
            </a:r>
            <a:r>
              <a:rPr lang="ja-JP" altLang="en-US" sz="4000" b="1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っ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さい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( even)</a:t>
            </a: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さんじゅうはっさい</a:t>
            </a:r>
            <a:endParaRPr lang="en-US" altLang="ja-JP" sz="4000" b="1" dirty="0">
              <a:latin typeface="MS Mincho" pitchFamily="49" charset="-128"/>
              <a:ea typeface="MS Mincho" pitchFamily="49" charset="-128"/>
            </a:endParaRPr>
          </a:p>
          <a:p>
            <a:pPr marL="0" indent="0">
              <a:buNone/>
            </a:pP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にじゅっさい</a:t>
            </a:r>
            <a:r>
              <a:rPr lang="en-US" altLang="ja-JP" sz="4000" b="1" dirty="0">
                <a:latin typeface="MS Mincho" pitchFamily="49" charset="-128"/>
                <a:ea typeface="MS Mincho" pitchFamily="49" charset="-128"/>
              </a:rPr>
              <a:t>/</a:t>
            </a:r>
            <a:r>
              <a:rPr lang="ja-JP" altLang="en-US" sz="4000" b="1" dirty="0">
                <a:latin typeface="MS Mincho" pitchFamily="49" charset="-128"/>
                <a:ea typeface="MS Mincho" pitchFamily="49" charset="-128"/>
              </a:rPr>
              <a:t>はたち</a:t>
            </a:r>
            <a:endParaRPr lang="en-US" sz="4000" b="1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358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6" grpId="0" build="p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pPr algn="ctr"/>
            <a:r>
              <a:rPr lang="en-US" altLang="ja-JP" sz="6000" dirty="0"/>
              <a:t>S</a:t>
            </a:r>
            <a:r>
              <a:rPr lang="ja-JP" altLang="en-US" dirty="0"/>
              <a:t>は～さいです。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35480"/>
            <a:ext cx="1371600" cy="579120"/>
          </a:xfrm>
          <a:solidFill>
            <a:srgbClr val="92D050"/>
          </a:solidFill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１８</a:t>
            </a:r>
            <a:r>
              <a:rPr lang="en-US" altLang="ja-JP" dirty="0"/>
              <a:t>T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14600" y="2743200"/>
            <a:ext cx="75438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わたしは</a:t>
            </a:r>
            <a:r>
              <a:rPr lang="en-US" altLang="ja-JP" sz="3200" b="1" dirty="0">
                <a:latin typeface="MS Mincho" pitchFamily="49" charset="-128"/>
                <a:ea typeface="MS Mincho" pitchFamily="49" charset="-128"/>
              </a:rPr>
              <a:t> </a:t>
            </a:r>
            <a:r>
              <a:rPr lang="ja-JP" altLang="en-US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じゅうはっさい</a:t>
            </a: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です。</a:t>
            </a:r>
            <a:endParaRPr lang="en-US" sz="32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5962" y="3581400"/>
            <a:ext cx="1371600" cy="579120"/>
          </a:xfrm>
          <a:prstGeom prst="rect">
            <a:avLst/>
          </a:prstGeom>
          <a:solidFill>
            <a:srgbClr val="92D050"/>
          </a:solidFill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３０</a:t>
            </a:r>
            <a:r>
              <a:rPr lang="en-US" altLang="ja-JP" dirty="0"/>
              <a:t>T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519362" y="4256722"/>
            <a:ext cx="7539038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わたしは</a:t>
            </a:r>
            <a:r>
              <a:rPr lang="ja-JP" altLang="vi-VN" sz="3200" b="1" dirty="0">
                <a:latin typeface="MS Mincho" pitchFamily="49" charset="-128"/>
                <a:ea typeface="MS Mincho" pitchFamily="49" charset="-128"/>
              </a:rPr>
              <a:t>　</a:t>
            </a:r>
            <a:r>
              <a:rPr lang="ja-JP" altLang="en-US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さんじゅっさい</a:t>
            </a: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です。</a:t>
            </a:r>
            <a:endParaRPr lang="en-US" sz="32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985962" y="5115878"/>
            <a:ext cx="1371600" cy="579120"/>
          </a:xfrm>
          <a:prstGeom prst="rect">
            <a:avLst/>
          </a:prstGeom>
          <a:solidFill>
            <a:srgbClr val="92D050"/>
          </a:solidFill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２０</a:t>
            </a:r>
            <a:r>
              <a:rPr lang="en-US" altLang="ja-JP" dirty="0"/>
              <a:t>T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519362" y="5791200"/>
            <a:ext cx="75438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わたしは</a:t>
            </a:r>
            <a:r>
              <a:rPr lang="ja-JP" altLang="vi-VN" sz="3200" b="1" dirty="0">
                <a:latin typeface="MS Mincho" pitchFamily="49" charset="-128"/>
                <a:ea typeface="MS Mincho" pitchFamily="49" charset="-128"/>
              </a:rPr>
              <a:t>　</a:t>
            </a:r>
            <a:r>
              <a:rPr lang="ja-JP" altLang="en-US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にじゅっさい</a:t>
            </a:r>
            <a:r>
              <a:rPr lang="en-US" altLang="ja-JP" sz="3200" b="1" dirty="0">
                <a:latin typeface="MS Mincho" pitchFamily="49" charset="-128"/>
                <a:ea typeface="MS Mincho" pitchFamily="49" charset="-128"/>
              </a:rPr>
              <a:t>/</a:t>
            </a:r>
            <a:r>
              <a:rPr lang="ja-JP" altLang="en-US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はたち</a:t>
            </a: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です。</a:t>
            </a:r>
            <a:endParaRPr lang="en-US" sz="3200" b="1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833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build="p" animBg="1"/>
      <p:bldP spid="6" grpId="0" build="p" animBg="1"/>
      <p:bldP spid="7" grpId="0" build="p" animBg="1"/>
      <p:bldP spid="8" grpId="0" build="p" animBg="1"/>
      <p:bldP spid="9" grpId="0" build="p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anchor="ctr"/>
          <a:lstStyle/>
          <a:p>
            <a:pPr algn="ctr"/>
            <a:r>
              <a:rPr lang="ja-JP" altLang="en-US" dirty="0"/>
              <a:t>～は～さいです。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35480"/>
            <a:ext cx="1371600" cy="579120"/>
          </a:xfrm>
          <a:solidFill>
            <a:srgbClr val="92D050"/>
          </a:solidFill>
        </p:spPr>
        <p:txBody>
          <a:bodyPr anchor="ctr"/>
          <a:lstStyle/>
          <a:p>
            <a:pPr marL="0" indent="0">
              <a:buNone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28T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15297" y="2628043"/>
            <a:ext cx="82296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パクさん</a:t>
            </a:r>
            <a:r>
              <a:rPr lang="ja-JP" alt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は</a:t>
            </a:r>
            <a:r>
              <a:rPr lang="en-US" altLang="ja-JP" sz="3200" b="1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 </a:t>
            </a: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にじゅうはっさいです。</a:t>
            </a:r>
            <a:endParaRPr lang="en-US" sz="32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5962" y="3581400"/>
            <a:ext cx="13716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３１</a:t>
            </a:r>
            <a:r>
              <a:rPr lang="en-US" altLang="ja-JP" dirty="0"/>
              <a:t>T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81200" y="4367404"/>
            <a:ext cx="82296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ダニエルさんは</a:t>
            </a:r>
            <a:r>
              <a:rPr lang="en-US" altLang="ja-JP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 </a:t>
            </a: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さんじゅういっさいです。</a:t>
            </a:r>
            <a:endParaRPr lang="en-US" sz="32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985962" y="5115878"/>
            <a:ext cx="13716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２２</a:t>
            </a:r>
            <a:r>
              <a:rPr lang="en-US" altLang="ja-JP" dirty="0"/>
              <a:t>T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981200" y="5864352"/>
            <a:ext cx="8229600" cy="579120"/>
          </a:xfrm>
          <a:prstGeom prst="rect">
            <a:avLst/>
          </a:prstGeom>
          <a:solidFill>
            <a:srgbClr val="92D050"/>
          </a:solidFill>
        </p:spPr>
        <p:txBody>
          <a:bodyPr vert="horz" anchor="ctr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メアリーさんは</a:t>
            </a:r>
            <a:r>
              <a:rPr lang="en-US" altLang="ja-JP" sz="32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 </a:t>
            </a:r>
            <a:r>
              <a:rPr lang="ja-JP" altLang="en-US" sz="3200" b="1" dirty="0">
                <a:latin typeface="MS Mincho" pitchFamily="49" charset="-128"/>
                <a:ea typeface="MS Mincho" pitchFamily="49" charset="-128"/>
              </a:rPr>
              <a:t>にじゅうにさいです。</a:t>
            </a:r>
            <a:endParaRPr lang="en-US" sz="3200" b="1" dirty="0">
              <a:latin typeface="MS Mincho" pitchFamily="49" charset="-128"/>
              <a:ea typeface="MS Mincho" pitchFamily="49" charset="-12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3504" cy="4704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04">
                  <a:extLst>
                    <a:ext uri="{9D8B030D-6E8A-4147-A177-3AD203B41FA5}">
                      <a16:colId xmlns:a16="http://schemas.microsoft.com/office/drawing/2014/main" val="3968652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64675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77535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61433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1125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69026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514129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445691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457049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314719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82082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90323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419907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54033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734317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93583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898657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60144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5267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29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850712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3606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32348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912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88417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68038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20737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754478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751506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443772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39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32392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016847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13316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472482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353026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95960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805325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126354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69273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63493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49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27261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2984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179355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115119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02708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619421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582578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361207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878763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2193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59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90025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93215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86257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7170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3000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246155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54750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47863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70371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08903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69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404494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02178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156537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12652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257838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73682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513794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75743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656773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934743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79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21154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23757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85632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858070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820871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369953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49097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421345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6140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3786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89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126491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39111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37237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141898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11406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066552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59790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215835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5410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62205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99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166418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66642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902704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67616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04838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191156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11549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70771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8998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9998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109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7665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052226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554252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8322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9813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44606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518562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46960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234470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15006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119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57141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04260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05508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823310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79282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580184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283676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891311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745446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98822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129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214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5612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621688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6752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58664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52060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3756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344960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606665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782566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139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88358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958914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0540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90703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930052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24272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074899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9503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424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25891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149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98470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972854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173589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66806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16841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693673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099588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66879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82402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513851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159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93032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344188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708245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2904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066166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20718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17158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72302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91353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1962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169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017959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664918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21067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71242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5338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2603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14621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15660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621742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195931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179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69825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659439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97142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126323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183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139172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184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81092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185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427942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186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240544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187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1323533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188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52035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189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186808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190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94152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191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70817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>
                          <a:effectLst/>
                        </a:rPr>
                        <a:t>192</a:t>
                      </a:r>
                      <a:endParaRPr lang="en-US" altLang="ja-JP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2951905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" u="none" strike="noStrike" dirty="0">
                          <a:effectLst/>
                        </a:rPr>
                        <a:t>193</a:t>
                      </a:r>
                      <a:endParaRPr lang="en-US" altLang="ja-JP" sz="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305" marR="305" marT="305" marB="0" anchor="ctr"/>
                </a:tc>
                <a:extLst>
                  <a:ext uri="{0D108BD9-81ED-4DB2-BD59-A6C34878D82A}">
                    <a16:rowId xmlns:a16="http://schemas.microsoft.com/office/drawing/2014/main" val="338846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66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build="p" animBg="1"/>
      <p:bldP spid="6" grpId="0" build="p" animBg="1"/>
      <p:bldP spid="7" grpId="0" build="p" animBg="1"/>
      <p:bldP spid="8" grpId="0" build="p" animBg="1"/>
      <p:bldP spid="9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985" y="696536"/>
            <a:ext cx="8781507" cy="5805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09 Track 9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94196" y="935063"/>
            <a:ext cx="1140417" cy="114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9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670" y="223838"/>
            <a:ext cx="5770775" cy="381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09 Track 9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991600" y="1295400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4191001"/>
            <a:ext cx="9144000" cy="224676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はじめまして。わたしは　パクです。</a:t>
            </a:r>
            <a:endParaRPr lang="en-US" altLang="ja-JP" sz="3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かんこくじんです。</a:t>
            </a:r>
            <a:endParaRPr lang="en-US" altLang="ja-JP" sz="3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あおぞらにほんごがっこうの　がくせいです。</a:t>
            </a:r>
            <a:endParaRPr lang="en-US" altLang="ja-JP" sz="35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500" b="1" dirty="0">
                <a:latin typeface="MS PMincho" pitchFamily="18" charset="-128"/>
                <a:ea typeface="MS PMincho" pitchFamily="18" charset="-128"/>
              </a:rPr>
              <a:t>２６さいです。よろしく　おねがいします。</a:t>
            </a:r>
            <a:endParaRPr lang="en-US" sz="3500" b="1" dirty="0">
              <a:latin typeface="MS PMincho" pitchFamily="18" charset="-128"/>
              <a:ea typeface="MS PMincho" pitchFamily="18" charset="-128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48400" y="4738702"/>
            <a:ext cx="76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90700" y="5314384"/>
            <a:ext cx="20574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752600" y="5791200"/>
            <a:ext cx="44958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524000" y="6432853"/>
            <a:ext cx="13716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0400" y="5791200"/>
            <a:ext cx="152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69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35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32885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２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224505"/>
            <a:ext cx="5381625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9748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8250"/>
            <a:ext cx="6103726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10 Track 10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05800" y="838200"/>
            <a:ext cx="1295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5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6890"/>
            <a:ext cx="6103726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10 Track 10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05800" y="838200"/>
            <a:ext cx="1295400" cy="1295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05000" y="4559588"/>
            <a:ext cx="563880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：たんじょうびは　いつですか。</a:t>
            </a:r>
            <a:endParaRPr lang="en-US" sz="32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4998" y="5454646"/>
            <a:ext cx="9590869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：</a:t>
            </a:r>
            <a:r>
              <a:rPr lang="vi-VN" altLang="ja-JP" sz="3200" b="1" dirty="0">
                <a:latin typeface="MS PMincho" pitchFamily="18" charset="-128"/>
                <a:ea typeface="MS PMincho" pitchFamily="18" charset="-128"/>
              </a:rPr>
              <a:t>(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たんじょうびは</a:t>
            </a:r>
            <a:r>
              <a:rPr lang="vi-VN" altLang="ja-JP" sz="3200" b="1" dirty="0">
                <a:latin typeface="MS PMincho" pitchFamily="18" charset="-128"/>
                <a:ea typeface="MS PMincho" pitchFamily="18" charset="-128"/>
              </a:rPr>
              <a:t>) </a:t>
            </a:r>
            <a:r>
              <a:rPr lang="ja-JP" altLang="en-US" sz="3200" b="1" dirty="0">
                <a:latin typeface="MS PMincho" pitchFamily="18" charset="-128"/>
                <a:ea typeface="MS PMincho" pitchFamily="18" charset="-128"/>
              </a:rPr>
              <a:t>さんがつ　にじゅういちにちです。</a:t>
            </a:r>
            <a:endParaRPr lang="en-US" sz="32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5" name="Oval 4"/>
          <p:cNvSpPr/>
          <p:nvPr/>
        </p:nvSpPr>
        <p:spPr>
          <a:xfrm>
            <a:off x="5126185" y="4502866"/>
            <a:ext cx="838200" cy="698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897105" y="5469960"/>
            <a:ext cx="838200" cy="698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991600" y="5460364"/>
            <a:ext cx="838200" cy="698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Arrow 1"/>
          <p:cNvSpPr/>
          <p:nvPr/>
        </p:nvSpPr>
        <p:spPr>
          <a:xfrm>
            <a:off x="7856327" y="4724400"/>
            <a:ext cx="373273" cy="41996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534400" y="4559586"/>
            <a:ext cx="17526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dirty="0" err="1"/>
              <a:t>Khi</a:t>
            </a:r>
            <a:r>
              <a:rPr lang="en-US" sz="3200" dirty="0"/>
              <a:t> </a:t>
            </a:r>
            <a:r>
              <a:rPr lang="en-US" sz="3200" dirty="0" err="1"/>
              <a:t>nào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287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88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8" grpId="0" animBg="1"/>
      <p:bldP spid="9" grpId="0" animBg="1"/>
      <p:bldP spid="5" grpId="0" animBg="1"/>
      <p:bldP spid="11" grpId="0" animBg="1"/>
      <p:bldP spid="13" grpId="0" animBg="1"/>
      <p:bldP spid="2" grpId="0" animBg="1"/>
      <p:bldP spid="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1592"/>
          <a:stretch/>
        </p:blipFill>
        <p:spPr>
          <a:xfrm>
            <a:off x="418386" y="2333767"/>
            <a:ext cx="10544986" cy="376666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7644" y="136028"/>
            <a:ext cx="10645728" cy="17064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4000" dirty="0">
                <a:solidFill>
                  <a:schemeClr val="tx1"/>
                </a:solidFill>
              </a:rPr>
              <a:t>   </a:t>
            </a:r>
            <a:r>
              <a:rPr lang="ja-JP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がつ</a:t>
            </a:r>
            <a:endParaRPr lang="vi-VN" altLang="ja-JP" sz="20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ja-JP" altLang="en-US" sz="4000" dirty="0">
                <a:solidFill>
                  <a:schemeClr val="tx1"/>
                </a:solidFill>
              </a:rPr>
              <a:t>～月　</a:t>
            </a:r>
            <a:r>
              <a:rPr lang="vi-VN" altLang="ja-JP" sz="4000" dirty="0">
                <a:solidFill>
                  <a:schemeClr val="tx1"/>
                </a:solidFill>
              </a:rPr>
              <a:t>-&gt; </a:t>
            </a:r>
            <a:r>
              <a:rPr lang="ja-JP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なん</a:t>
            </a:r>
            <a:r>
              <a:rPr lang="ja-JP" altLang="en-US" sz="4000" dirty="0">
                <a:solidFill>
                  <a:srgbClr val="FF0000"/>
                </a:solidFill>
              </a:rPr>
              <a:t>がつ？ </a:t>
            </a:r>
            <a:r>
              <a:rPr lang="en-US" altLang="ja-JP" sz="4000" dirty="0">
                <a:solidFill>
                  <a:srgbClr val="FF0000"/>
                </a:solidFill>
              </a:rPr>
              <a:t>( hoi thang may)</a:t>
            </a:r>
          </a:p>
          <a:p>
            <a:r>
              <a:rPr lang="vi-VN" altLang="ja-JP" sz="4000" dirty="0">
                <a:solidFill>
                  <a:schemeClr val="tx1"/>
                </a:solidFill>
              </a:rPr>
              <a:t>Tháng ~ (Thời gian)</a:t>
            </a:r>
            <a:r>
              <a:rPr lang="ja-JP" altLang="en-US" sz="4000" dirty="0">
                <a:solidFill>
                  <a:schemeClr val="tx1"/>
                </a:solidFill>
              </a:rPr>
              <a:t>　→</a:t>
            </a:r>
            <a:r>
              <a:rPr lang="vi-VN" altLang="ja-JP" sz="4000" dirty="0">
                <a:solidFill>
                  <a:schemeClr val="tx1"/>
                </a:solidFill>
              </a:rPr>
              <a:t>tháng mấy?</a:t>
            </a:r>
          </a:p>
        </p:txBody>
      </p:sp>
    </p:spTree>
    <p:extLst>
      <p:ext uri="{BB962C8B-B14F-4D97-AF65-F5344CB8AC3E}">
        <p14:creationId xmlns:p14="http://schemas.microsoft.com/office/powerpoint/2010/main" val="54039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05" y="1475707"/>
            <a:ext cx="7895644" cy="524807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7643" y="136028"/>
            <a:ext cx="11392135" cy="120145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4000" dirty="0">
                <a:solidFill>
                  <a:schemeClr val="tx1"/>
                </a:solidFill>
              </a:rPr>
              <a:t>   </a:t>
            </a:r>
            <a:r>
              <a:rPr lang="ja-JP" altLang="en-US" sz="4000" dirty="0">
                <a:solidFill>
                  <a:schemeClr val="tx1"/>
                </a:solidFill>
              </a:rPr>
              <a:t>～日</a:t>
            </a:r>
            <a:r>
              <a:rPr lang="ja-JP" altLang="en-US" sz="4000" dirty="0">
                <a:solidFill>
                  <a:srgbClr val="FF0000"/>
                </a:solidFill>
              </a:rPr>
              <a:t>（にち／か）</a:t>
            </a:r>
            <a:r>
              <a:rPr lang="ja-JP" altLang="en-US" sz="4000" dirty="0">
                <a:solidFill>
                  <a:schemeClr val="tx1"/>
                </a:solidFill>
              </a:rPr>
              <a:t>　</a:t>
            </a:r>
            <a:r>
              <a:rPr lang="vi-VN" altLang="ja-JP" sz="4000" dirty="0">
                <a:solidFill>
                  <a:schemeClr val="tx1"/>
                </a:solidFill>
              </a:rPr>
              <a:t>-&gt; </a:t>
            </a:r>
            <a:r>
              <a:rPr lang="ja-JP" altLang="en-US" sz="4000" dirty="0">
                <a:solidFill>
                  <a:schemeClr val="tx1"/>
                </a:solidFill>
              </a:rPr>
              <a:t>なん</a:t>
            </a:r>
            <a:r>
              <a:rPr lang="ja-JP" altLang="en-US" sz="4000" dirty="0">
                <a:solidFill>
                  <a:srgbClr val="FF0000"/>
                </a:solidFill>
              </a:rPr>
              <a:t>にち</a:t>
            </a:r>
            <a:r>
              <a:rPr lang="ja-JP" altLang="en-US" sz="4000" dirty="0">
                <a:solidFill>
                  <a:schemeClr val="tx1"/>
                </a:solidFill>
              </a:rPr>
              <a:t>？</a:t>
            </a:r>
            <a:endParaRPr lang="en-US" altLang="ja-JP" sz="4000" dirty="0">
              <a:solidFill>
                <a:schemeClr val="tx1"/>
              </a:solidFill>
            </a:endParaRPr>
          </a:p>
          <a:p>
            <a:r>
              <a:rPr lang="vi-VN" altLang="ja-JP" sz="4000" dirty="0">
                <a:solidFill>
                  <a:schemeClr val="tx1"/>
                </a:solidFill>
              </a:rPr>
              <a:t>ngày ~ (Thời gian)</a:t>
            </a:r>
            <a:r>
              <a:rPr lang="ja-JP" altLang="en-US" sz="4000" dirty="0">
                <a:solidFill>
                  <a:schemeClr val="tx1"/>
                </a:solidFill>
              </a:rPr>
              <a:t>　→</a:t>
            </a:r>
            <a:r>
              <a:rPr lang="vi-VN" altLang="ja-JP" sz="4000" dirty="0">
                <a:solidFill>
                  <a:schemeClr val="tx1"/>
                </a:solidFill>
              </a:rPr>
              <a:t>ngày mấy?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08949" y="1617817"/>
            <a:ext cx="3695478" cy="486486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dirty="0">
                <a:solidFill>
                  <a:schemeClr val="tx1"/>
                </a:solidFill>
              </a:rPr>
              <a:t>※</a:t>
            </a:r>
            <a:r>
              <a:rPr lang="vi-VN" altLang="ja-JP" sz="2500" dirty="0">
                <a:solidFill>
                  <a:schemeClr val="tx1"/>
                </a:solidFill>
              </a:rPr>
              <a:t>ngày </a:t>
            </a:r>
            <a:r>
              <a:rPr lang="ja-JP" altLang="en-US" sz="2500" dirty="0">
                <a:solidFill>
                  <a:srgbClr val="FF0000"/>
                </a:solidFill>
              </a:rPr>
              <a:t>○</a:t>
            </a:r>
            <a:r>
              <a:rPr lang="vi-VN" altLang="ja-JP" sz="2500" dirty="0">
                <a:solidFill>
                  <a:srgbClr val="FF0000"/>
                </a:solidFill>
              </a:rPr>
              <a:t>4</a:t>
            </a:r>
            <a:r>
              <a:rPr lang="ja-JP" altLang="en-US" sz="2500" dirty="0">
                <a:solidFill>
                  <a:schemeClr val="tx1"/>
                </a:solidFill>
              </a:rPr>
              <a:t>（</a:t>
            </a:r>
            <a:r>
              <a:rPr lang="en-US" altLang="ja-JP" sz="2500" dirty="0">
                <a:solidFill>
                  <a:schemeClr val="tx1"/>
                </a:solidFill>
              </a:rPr>
              <a:t>4,14,24</a:t>
            </a:r>
            <a:r>
              <a:rPr lang="ja-JP" altLang="en-US" sz="2500" dirty="0">
                <a:solidFill>
                  <a:schemeClr val="tx1"/>
                </a:solidFill>
              </a:rPr>
              <a:t>）</a:t>
            </a:r>
            <a:r>
              <a:rPr lang="ja-JP" altLang="en-US" sz="2500" dirty="0">
                <a:solidFill>
                  <a:srgbClr val="FF0000"/>
                </a:solidFill>
              </a:rPr>
              <a:t>○</a:t>
            </a:r>
            <a:r>
              <a:rPr lang="ja-JP" altLang="en-US" sz="2500" dirty="0">
                <a:solidFill>
                  <a:schemeClr val="tx1"/>
                </a:solidFill>
                <a:highlight>
                  <a:srgbClr val="FFFF00"/>
                </a:highlight>
              </a:rPr>
              <a:t>よっか</a:t>
            </a:r>
            <a:endParaRPr lang="en-US" altLang="ja-JP" sz="25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vi-VN" altLang="ja-JP" sz="2500" dirty="0">
              <a:solidFill>
                <a:schemeClr val="tx1"/>
              </a:solidFill>
            </a:endParaRPr>
          </a:p>
          <a:p>
            <a:r>
              <a:rPr lang="en-US" altLang="ja-JP" sz="2500" dirty="0">
                <a:solidFill>
                  <a:schemeClr val="tx1"/>
                </a:solidFill>
              </a:rPr>
              <a:t>※</a:t>
            </a:r>
            <a:r>
              <a:rPr lang="vi-VN" sz="2500" dirty="0">
                <a:solidFill>
                  <a:schemeClr val="tx1"/>
                </a:solidFill>
              </a:rPr>
              <a:t>Các ngày còn lại đọc </a:t>
            </a:r>
            <a:r>
              <a:rPr lang="vi-VN" sz="2500" dirty="0">
                <a:solidFill>
                  <a:srgbClr val="FF0000"/>
                </a:solidFill>
              </a:rPr>
              <a:t>số đếm+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ja-JP" altLang="en-US" sz="2500" dirty="0">
                <a:solidFill>
                  <a:srgbClr val="FF0000"/>
                </a:solidFill>
                <a:highlight>
                  <a:srgbClr val="FFFF00"/>
                </a:highlight>
              </a:rPr>
              <a:t>にち</a:t>
            </a:r>
            <a:endParaRPr lang="en-US" altLang="ja-JP" sz="25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vi-VN" sz="2500" dirty="0">
                <a:solidFill>
                  <a:schemeClr val="tx1"/>
                </a:solidFill>
              </a:rPr>
              <a:t>Ví dụ:</a:t>
            </a:r>
          </a:p>
          <a:p>
            <a:r>
              <a:rPr lang="vi-VN" sz="2500" dirty="0">
                <a:solidFill>
                  <a:schemeClr val="tx1"/>
                </a:solidFill>
              </a:rPr>
              <a:t>Ngày 11:</a:t>
            </a:r>
          </a:p>
          <a:p>
            <a:r>
              <a:rPr lang="ja-JP" altLang="en-US" sz="2500" dirty="0">
                <a:solidFill>
                  <a:schemeClr val="tx1"/>
                </a:solidFill>
              </a:rPr>
              <a:t>じゅう</a:t>
            </a:r>
            <a:r>
              <a:rPr lang="ja-JP" altLang="en-US" sz="2500" dirty="0">
                <a:solidFill>
                  <a:srgbClr val="FF0000"/>
                </a:solidFill>
              </a:rPr>
              <a:t>いち　にち</a:t>
            </a:r>
            <a:endParaRPr lang="vi-VN" altLang="ja-JP" sz="2500" dirty="0">
              <a:solidFill>
                <a:srgbClr val="FF0000"/>
              </a:solidFill>
            </a:endParaRPr>
          </a:p>
          <a:p>
            <a:endParaRPr lang="en-US" sz="2500" dirty="0">
              <a:solidFill>
                <a:srgbClr val="FF0000"/>
              </a:solidFill>
            </a:endParaRPr>
          </a:p>
          <a:p>
            <a:r>
              <a:rPr lang="vi-VN" sz="2500" dirty="0">
                <a:solidFill>
                  <a:srgbClr val="FF0000"/>
                </a:solidFill>
                <a:highlight>
                  <a:srgbClr val="FFFF00"/>
                </a:highlight>
              </a:rPr>
              <a:t>(7: </a:t>
            </a:r>
            <a:r>
              <a:rPr lang="ja-JP" altLang="en-US" sz="2500" dirty="0">
                <a:solidFill>
                  <a:srgbClr val="FF0000"/>
                </a:solidFill>
                <a:highlight>
                  <a:srgbClr val="FFFF00"/>
                </a:highlight>
              </a:rPr>
              <a:t>しち　</a:t>
            </a:r>
            <a:r>
              <a:rPr lang="vi-VN" sz="2500" dirty="0">
                <a:solidFill>
                  <a:srgbClr val="FF0000"/>
                </a:solidFill>
                <a:highlight>
                  <a:srgbClr val="FFFF00"/>
                </a:highlight>
              </a:rPr>
              <a:t>9:</a:t>
            </a:r>
            <a:r>
              <a:rPr lang="ja-JP" altLang="en-US" sz="2500" dirty="0">
                <a:solidFill>
                  <a:srgbClr val="FF0000"/>
                </a:solidFill>
                <a:highlight>
                  <a:srgbClr val="FFFF00"/>
                </a:highlight>
              </a:rPr>
              <a:t>く</a:t>
            </a:r>
            <a:r>
              <a:rPr lang="ja-JP" altLang="en-US" sz="2500" dirty="0">
                <a:solidFill>
                  <a:srgbClr val="FF0000"/>
                </a:solidFill>
              </a:rPr>
              <a:t>）</a:t>
            </a:r>
            <a:r>
              <a:rPr lang="vi-VN" sz="25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5337" y="1596788"/>
            <a:ext cx="1651379" cy="50496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37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6400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891789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76400" y="36872"/>
            <a:ext cx="8382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MS Mincho" pitchFamily="49" charset="-128"/>
                <a:ea typeface="MS Mincho" pitchFamily="49" charset="-128"/>
              </a:rPr>
              <a:t>練習</a:t>
            </a:r>
            <a:endParaRPr lang="en-US" sz="3600" dirty="0"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773" y="2410571"/>
            <a:ext cx="90011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75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6400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891789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81176" y="2743201"/>
            <a:ext cx="7134225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①ごがつ　</a:t>
            </a:r>
            <a:r>
              <a:rPr lang="ja-JP" altLang="en-US" sz="36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つ</a:t>
            </a:r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いたち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3801" y="3573747"/>
            <a:ext cx="7142104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②はちがつ　にじゅうににち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8549" y="4423678"/>
            <a:ext cx="712634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③いちがつ　よっか</a:t>
            </a:r>
            <a:r>
              <a:rPr lang="en-US" altLang="ja-JP" sz="3600" b="1" dirty="0">
                <a:latin typeface="MS Mincho" pitchFamily="49" charset="-128"/>
                <a:ea typeface="MS Mincho" pitchFamily="49" charset="-128"/>
              </a:rPr>
              <a:t>(</a:t>
            </a:r>
            <a:r>
              <a:rPr lang="en-US" altLang="ja-JP" sz="3600" b="1" dirty="0" err="1">
                <a:latin typeface="MS Mincho" pitchFamily="49" charset="-128"/>
                <a:ea typeface="MS Mincho" pitchFamily="49" charset="-128"/>
              </a:rPr>
              <a:t>yokko</a:t>
            </a:r>
            <a:r>
              <a:rPr lang="en-US" altLang="ja-JP" sz="3600" b="1" dirty="0">
                <a:latin typeface="MS Mincho" pitchFamily="49" charset="-128"/>
                <a:ea typeface="MS Mincho" pitchFamily="49" charset="-128"/>
              </a:rPr>
              <a:t>)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1176" y="5254224"/>
            <a:ext cx="7134225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④じゅうにがつ　じゅうににち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6400" y="36872"/>
            <a:ext cx="8382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MS Mincho" pitchFamily="49" charset="-128"/>
                <a:ea typeface="MS Mincho" pitchFamily="49" charset="-128"/>
              </a:rPr>
              <a:t>練習</a:t>
            </a:r>
            <a:endParaRPr lang="en-US" sz="3600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183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73802" y="1752601"/>
            <a:ext cx="6074799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⑤にがつ　ここのか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3801" y="3043924"/>
            <a:ext cx="608150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⑥さんがつ　じゅうよっか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1174" y="4217020"/>
            <a:ext cx="606809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⑦くがつ　にじゅうににち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1681" y="5357001"/>
            <a:ext cx="6074799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⑧しがつ　むいか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0595"/>
            <a:ext cx="90011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517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715124" y="3156577"/>
            <a:ext cx="6742705" cy="2946621"/>
          </a:xfrm>
          <a:prstGeom prst="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dirty="0">
                <a:solidFill>
                  <a:schemeClr val="bg1"/>
                </a:solidFill>
              </a:rPr>
              <a:t>※</a:t>
            </a:r>
            <a:r>
              <a:rPr lang="en-US" sz="3600" dirty="0" err="1">
                <a:solidFill>
                  <a:schemeClr val="bg1"/>
                </a:solidFill>
              </a:rPr>
              <a:t>Cách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nói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ngày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sinh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</a:p>
          <a:p>
            <a:r>
              <a:rPr lang="en-US" altLang="ja-JP" sz="36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A:</a:t>
            </a:r>
            <a:r>
              <a:rPr lang="ja-JP" altLang="en-US" sz="36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たんじょうびは　いつですか。</a:t>
            </a:r>
            <a:endParaRPr lang="en-US" altLang="ja-JP" sz="36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  <a:p>
            <a:r>
              <a:rPr lang="en-US" altLang="ja-JP" sz="36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B:</a:t>
            </a:r>
            <a:r>
              <a:rPr lang="ja-JP" altLang="en-US" sz="36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たんじょうび</a:t>
            </a:r>
            <a:r>
              <a:rPr lang="ja-JP" altLang="en-US" sz="36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は　～</a:t>
            </a:r>
            <a:r>
              <a:rPr lang="ja-JP" altLang="en-US" sz="36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がつ</a:t>
            </a:r>
            <a:r>
              <a:rPr lang="ja-JP" altLang="en-US" sz="36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～</a:t>
            </a:r>
            <a:r>
              <a:rPr lang="ja-JP" altLang="en-US" sz="3600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にち</a:t>
            </a:r>
            <a:r>
              <a:rPr lang="ja-JP" altLang="en-US" sz="36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です。</a:t>
            </a:r>
            <a:endParaRPr lang="en-US" altLang="ja-JP" sz="36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4" y="264338"/>
            <a:ext cx="4315859" cy="3000244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6" y="3183826"/>
            <a:ext cx="4330148" cy="289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278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b="1" dirty="0">
                <a:highlight>
                  <a:srgbClr val="FFFF00"/>
                </a:highlight>
                <a:latin typeface="MS Mincho" pitchFamily="49" charset="-128"/>
                <a:ea typeface="MS Mincho" pitchFamily="49" charset="-128"/>
              </a:rPr>
              <a:t>たんじょうびは　いつですか</a:t>
            </a: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。</a:t>
            </a:r>
            <a:br>
              <a:rPr lang="en-US" altLang="ja-JP" b="1" dirty="0">
                <a:latin typeface="MS Mincho" pitchFamily="49" charset="-128"/>
                <a:ea typeface="MS Mincho" pitchFamily="49" charset="-128"/>
              </a:rPr>
            </a:br>
            <a:r>
              <a:rPr lang="en-US" altLang="ja-JP" b="1" dirty="0">
                <a:latin typeface="MS Mincho" pitchFamily="49" charset="-128"/>
                <a:ea typeface="MS Mincho" pitchFamily="49" charset="-128"/>
              </a:rPr>
              <a:t>Hoi </a:t>
            </a:r>
            <a:r>
              <a:rPr lang="en-US" altLang="ja-JP" b="1" dirty="0" err="1">
                <a:latin typeface="MS Mincho" pitchFamily="49" charset="-128"/>
                <a:ea typeface="MS Mincho" pitchFamily="49" charset="-128"/>
              </a:rPr>
              <a:t>sinh</a:t>
            </a:r>
            <a:r>
              <a:rPr lang="en-US" altLang="ja-JP" b="1" dirty="0">
                <a:latin typeface="MS Mincho" pitchFamily="49" charset="-128"/>
                <a:ea typeface="MS Mincho" pitchFamily="49" charset="-128"/>
              </a:rPr>
              <a:t> </a:t>
            </a:r>
            <a:r>
              <a:rPr lang="en-US" altLang="ja-JP" b="1" dirty="0" err="1">
                <a:latin typeface="MS Mincho" pitchFamily="49" charset="-128"/>
                <a:ea typeface="MS Mincho" pitchFamily="49" charset="-128"/>
              </a:rPr>
              <a:t>nhat</a:t>
            </a:r>
            <a:r>
              <a:rPr lang="en-US" altLang="ja-JP" b="1" dirty="0">
                <a:latin typeface="MS Mincho" pitchFamily="49" charset="-128"/>
                <a:ea typeface="MS Mincho" pitchFamily="49" charset="-128"/>
              </a:rPr>
              <a:t> </a:t>
            </a:r>
            <a:r>
              <a:rPr lang="en-US" altLang="ja-JP" b="1" dirty="0" err="1">
                <a:latin typeface="MS Mincho" pitchFamily="49" charset="-128"/>
                <a:ea typeface="MS Mincho" pitchFamily="49" charset="-128"/>
              </a:rPr>
              <a:t>cua</a:t>
            </a:r>
            <a:r>
              <a:rPr lang="en-US" altLang="ja-JP" b="1" dirty="0">
                <a:latin typeface="MS Mincho" pitchFamily="49" charset="-128"/>
                <a:ea typeface="MS Mincho" pitchFamily="49" charset="-128"/>
              </a:rPr>
              <a:t> ban </a:t>
            </a:r>
            <a:r>
              <a:rPr lang="en-US" altLang="ja-JP" b="1" dirty="0" err="1">
                <a:latin typeface="MS Mincho" pitchFamily="49" charset="-128"/>
                <a:ea typeface="MS Mincho" pitchFamily="49" charset="-128"/>
              </a:rPr>
              <a:t>khi</a:t>
            </a:r>
            <a:r>
              <a:rPr lang="en-US" altLang="ja-JP" b="1" dirty="0">
                <a:latin typeface="MS Mincho" pitchFamily="49" charset="-128"/>
                <a:ea typeface="MS Mincho" pitchFamily="49" charset="-128"/>
              </a:rPr>
              <a:t> </a:t>
            </a:r>
            <a:r>
              <a:rPr lang="en-US" altLang="ja-JP" b="1" dirty="0" err="1">
                <a:latin typeface="MS Mincho" pitchFamily="49" charset="-128"/>
                <a:ea typeface="MS Mincho" pitchFamily="49" charset="-128"/>
              </a:rPr>
              <a:t>nao</a:t>
            </a:r>
            <a:endParaRPr lang="en-US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6400" y="2579949"/>
            <a:ext cx="24384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j-ea"/>
                <a:ea typeface="+mj-ea"/>
              </a:rPr>
              <a:t>２０</a:t>
            </a:r>
            <a:r>
              <a:rPr lang="en-US" altLang="ja-JP" sz="3600" dirty="0">
                <a:latin typeface="+mj-ea"/>
                <a:ea typeface="+mj-ea"/>
              </a:rPr>
              <a:t>/</a:t>
            </a:r>
            <a:r>
              <a:rPr lang="ja-JP" altLang="en-US" sz="3600" dirty="0">
                <a:latin typeface="+mj-ea"/>
                <a:ea typeface="+mj-ea"/>
              </a:rPr>
              <a:t>１０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2579949"/>
            <a:ext cx="49530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j-ea"/>
                <a:ea typeface="+mj-ea"/>
              </a:rPr>
              <a:t>じゅうがつ　はつかです。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495801" y="2732349"/>
            <a:ext cx="523875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76400" y="3886201"/>
            <a:ext cx="24384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j-ea"/>
                <a:ea typeface="+mj-ea"/>
              </a:rPr>
              <a:t>１</a:t>
            </a:r>
            <a:r>
              <a:rPr lang="ja-JP" altLang="en-US" sz="3600" dirty="0">
                <a:solidFill>
                  <a:srgbClr val="FF0000"/>
                </a:solidFill>
                <a:latin typeface="+mj-ea"/>
                <a:ea typeface="+mj-ea"/>
              </a:rPr>
              <a:t>４</a:t>
            </a:r>
            <a:r>
              <a:rPr lang="en-US" altLang="ja-JP" sz="3600" dirty="0">
                <a:latin typeface="+mj-ea"/>
                <a:ea typeface="+mj-ea"/>
              </a:rPr>
              <a:t>/</a:t>
            </a:r>
            <a:r>
              <a:rPr lang="ja-JP" altLang="en-US" sz="3600" dirty="0">
                <a:latin typeface="+mj-ea"/>
                <a:ea typeface="+mj-ea"/>
              </a:rPr>
              <a:t>１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81600" y="3886201"/>
            <a:ext cx="54864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j-ea"/>
                <a:ea typeface="+mj-ea"/>
              </a:rPr>
              <a:t>いちがつ　じゅう</a:t>
            </a:r>
            <a:r>
              <a:rPr lang="ja-JP" altLang="en-US" sz="3600" dirty="0">
                <a:solidFill>
                  <a:srgbClr val="FF0000"/>
                </a:solidFill>
                <a:latin typeface="+mj-ea"/>
                <a:ea typeface="+mj-ea"/>
              </a:rPr>
              <a:t>よっか</a:t>
            </a:r>
            <a:r>
              <a:rPr lang="ja-JP" altLang="en-US" sz="3600" dirty="0">
                <a:latin typeface="+mj-ea"/>
                <a:ea typeface="+mj-ea"/>
              </a:rPr>
              <a:t>です。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495801" y="4038601"/>
            <a:ext cx="523875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705897" y="5181601"/>
            <a:ext cx="24384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j-ea"/>
                <a:ea typeface="+mj-ea"/>
              </a:rPr>
              <a:t>１３</a:t>
            </a:r>
            <a:r>
              <a:rPr lang="en-US" altLang="ja-JP" sz="3600" dirty="0">
                <a:latin typeface="+mj-ea"/>
                <a:ea typeface="+mj-ea"/>
              </a:rPr>
              <a:t>/</a:t>
            </a:r>
            <a:r>
              <a:rPr lang="ja-JP" altLang="en-US" sz="3600" dirty="0">
                <a:latin typeface="+mj-ea"/>
                <a:ea typeface="+mj-ea"/>
              </a:rPr>
              <a:t>９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1601" y="5181601"/>
            <a:ext cx="5287297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+mj-ea"/>
                <a:ea typeface="+mj-ea"/>
              </a:rPr>
              <a:t>くがつ　じゅうさんにちです。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525298" y="5334001"/>
            <a:ext cx="523875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3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884" y="356988"/>
            <a:ext cx="1028700" cy="59195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7"/>
          <p:cNvSpPr/>
          <p:nvPr/>
        </p:nvSpPr>
        <p:spPr>
          <a:xfrm>
            <a:off x="4925316" y="349710"/>
            <a:ext cx="3199327" cy="17865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第</a:t>
            </a:r>
            <a:r>
              <a:rPr lang="en-US" altLang="ja-JP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1</a:t>
            </a:r>
            <a:r>
              <a:rPr lang="ja-JP" altLang="en-US" sz="7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ea"/>
                <a:ea typeface="+mj-ea"/>
              </a:rPr>
              <a:t>課</a:t>
            </a:r>
            <a:endParaRPr lang="en-US" sz="7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61085" y="2307403"/>
            <a:ext cx="7086410" cy="173119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ja-JP" sz="3000" b="1" dirty="0">
                <a:solidFill>
                  <a:schemeClr val="tx1"/>
                </a:solidFill>
                <a:latin typeface="+mj-ea"/>
                <a:ea typeface="+mj-ea"/>
              </a:rPr>
              <a:t>         </a:t>
            </a:r>
            <a:r>
              <a:rPr lang="ja-JP" altLang="en-US" sz="3000" b="1" dirty="0">
                <a:solidFill>
                  <a:schemeClr val="tx1"/>
                </a:solidFill>
                <a:latin typeface="+mj-ea"/>
                <a:ea typeface="+mj-ea"/>
              </a:rPr>
              <a:t>わたし　　しゅみ</a:t>
            </a:r>
            <a:endParaRPr lang="en-US" altLang="ja-JP" sz="3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vi-VN" altLang="ja-JP" sz="6000" b="1" dirty="0">
                <a:solidFill>
                  <a:srgbClr val="00B050"/>
                </a:solidFill>
                <a:latin typeface="+mj-ea"/>
                <a:ea typeface="+mj-ea"/>
              </a:rPr>
              <a:t>1.3 </a:t>
            </a:r>
            <a:r>
              <a:rPr lang="ja-JP" altLang="en-US" sz="6000" b="1" dirty="0">
                <a:solidFill>
                  <a:srgbClr val="00B050"/>
                </a:solidFill>
                <a:latin typeface="+mj-ea"/>
                <a:ea typeface="+mj-ea"/>
              </a:rPr>
              <a:t>私の趣味</a:t>
            </a:r>
            <a:endParaRPr lang="en-US" sz="6000" b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pic>
        <p:nvPicPr>
          <p:cNvPr id="11" name="Picture 2" descr="Logo_FPT_University_do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52400"/>
            <a:ext cx="1444942" cy="8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124199" y="43434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FF00"/>
                </a:solidFill>
              </a:rPr>
              <a:t>できること</a:t>
            </a:r>
            <a:endParaRPr lang="en-US" sz="2800" dirty="0">
              <a:solidFill>
                <a:srgbClr val="FFFF00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689778"/>
              </p:ext>
            </p:extLst>
          </p:nvPr>
        </p:nvGraphicFramePr>
        <p:xfrm>
          <a:off x="2868013" y="5029200"/>
          <a:ext cx="7418987" cy="1188720"/>
        </p:xfrm>
        <a:graphic>
          <a:graphicData uri="http://schemas.openxmlformats.org/drawingml/2006/table">
            <a:tbl>
              <a:tblPr/>
              <a:tblGrid>
                <a:gridCol w="7418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3600" b="0" i="0" dirty="0">
                          <a:solidFill>
                            <a:srgbClr val="00B050"/>
                          </a:solidFill>
                          <a:effectLst/>
                          <a:latin typeface="RyuminPro-Regular-Identity-H"/>
                        </a:rPr>
                        <a:t>趣味を言ったり 聞いたりするこ と ができる。 </a:t>
                      </a:r>
                      <a:endParaRPr lang="ja-JP" altLang="en-US" sz="36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78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64494" y="129094"/>
            <a:ext cx="27551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66839"/>
            <a:ext cx="8641396" cy="4652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75987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50639" y="1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１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77" y="1123122"/>
            <a:ext cx="6010925" cy="400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13 Track 13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39200" y="1123121"/>
            <a:ext cx="1239079" cy="123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1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50639" y="1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１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5201335"/>
            <a:ext cx="49530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：しゅみは</a:t>
            </a:r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　</a:t>
            </a:r>
            <a:r>
              <a:rPr lang="ja-JP" altLang="en-US" sz="3600" b="1" dirty="0">
                <a:solidFill>
                  <a:srgbClr val="C00000"/>
                </a:solidFill>
                <a:latin typeface="MS PMincho" pitchFamily="18" charset="-128"/>
                <a:ea typeface="MS PMincho" pitchFamily="18" charset="-128"/>
              </a:rPr>
              <a:t>なん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08020" y="6039535"/>
            <a:ext cx="4821381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：サッカーです。</a:t>
            </a:r>
            <a:endParaRPr lang="en-US" sz="36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77" y="1123122"/>
            <a:ext cx="6010925" cy="400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13 Track 13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39200" y="1123121"/>
            <a:ext cx="1239079" cy="1239079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6913419" y="5353734"/>
            <a:ext cx="228600" cy="381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　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91400" y="5221069"/>
            <a:ext cx="3276600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Sở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thích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gì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?</a:t>
            </a: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636E2706-8339-F044-8253-594C578C1C65}"/>
              </a:ext>
            </a:extLst>
          </p:cNvPr>
          <p:cNvSpPr/>
          <p:nvPr/>
        </p:nvSpPr>
        <p:spPr>
          <a:xfrm>
            <a:off x="6805448" y="3159435"/>
            <a:ext cx="3505200" cy="1524000"/>
          </a:xfrm>
          <a:prstGeom prst="cloudCallout">
            <a:avLst>
              <a:gd name="adj1" fmla="val -96591"/>
              <a:gd name="adj2" fmla="val 86308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hỏi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vật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việc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45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55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3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7812" y="4495800"/>
            <a:ext cx="4274589" cy="6858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サッカー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2050" name="Picture 2" descr="https://t.pimg.jp/006/298/532/1/629853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52400"/>
            <a:ext cx="6400800" cy="422452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895600" y="5638801"/>
            <a:ext cx="6781800" cy="76944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　サッカーです。</a:t>
            </a:r>
            <a:endParaRPr lang="en-US" sz="44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12672" y="3730598"/>
            <a:ext cx="517882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しゅみは　なんですか。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391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3834" y="4652075"/>
            <a:ext cx="5037667" cy="6096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テニス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16386" name="Picture 2" descr="http://www2.kobe-c.ed.jp/tbm-ms/?action=common_download_main&amp;upload_id=29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9526" y="6928"/>
            <a:ext cx="5521475" cy="4402259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87179" y="5638801"/>
            <a:ext cx="10320793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（わたしの）しゅみは　テニスです。</a:t>
            </a:r>
            <a:endParaRPr lang="en-US" sz="48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297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800600"/>
            <a:ext cx="4151168" cy="6858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すいえい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18434" name="Picture 2" descr="C:\Users\Thu-Tao\Desktop\boi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1" y="302860"/>
            <a:ext cx="6679263" cy="434534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590800" y="5791201"/>
            <a:ext cx="7162800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　すいえいです。</a:t>
            </a:r>
            <a:endParaRPr lang="en-US" sz="48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236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4153729"/>
            <a:ext cx="4207267" cy="7620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おんがく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19458" name="Picture 2" descr="http://www.wanpug.com/illust/illust218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52401"/>
            <a:ext cx="6705600" cy="396669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514600" y="5562601"/>
            <a:ext cx="6934200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　おんがくです。</a:t>
            </a:r>
            <a:endParaRPr lang="en-US" sz="48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638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5655" y="4572000"/>
            <a:ext cx="4557889" cy="6858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どくしょ</a:t>
            </a:r>
            <a:r>
              <a:rPr lang="en-US" altLang="ja-JP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( do </a:t>
            </a:r>
            <a:r>
              <a:rPr lang="en-US" altLang="ja-JP" dirty="0" err="1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ku</a:t>
            </a:r>
            <a:r>
              <a:rPr lang="en-US" altLang="ja-JP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 </a:t>
            </a:r>
            <a:r>
              <a:rPr lang="en-US" altLang="ja-JP" dirty="0" err="1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sho</a:t>
            </a:r>
            <a:r>
              <a:rPr lang="en-US" altLang="ja-JP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)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20486" name="Picture 6" descr="http://www.jmc.ne.jp/illustdl/images/4c-dokush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14300"/>
            <a:ext cx="5257800" cy="42291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209800" y="5638801"/>
            <a:ext cx="7239000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　どくしょです。</a:t>
            </a:r>
            <a:endParaRPr lang="en-US" sz="48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532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4388" y="4191000"/>
            <a:ext cx="3886200" cy="6858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りょこう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21506" name="Picture 2" descr="http://kids.wanpug.com/illust/illust339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9165" y="152401"/>
            <a:ext cx="2956649" cy="3733801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057400" y="5343344"/>
            <a:ext cx="7162800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　りょこうです。</a:t>
            </a:r>
            <a:endParaRPr lang="en-US" sz="48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208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4038600"/>
            <a:ext cx="3733800" cy="685800"/>
          </a:xfr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Mincho" pitchFamily="49" charset="-128"/>
                <a:ea typeface="MS Mincho" pitchFamily="49" charset="-128"/>
              </a:rPr>
              <a:t>りょうり</a:t>
            </a:r>
            <a:endParaRPr lang="en-US" dirty="0">
              <a:solidFill>
                <a:schemeClr val="tx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22530" name="Picture 2" descr="http://kids.wanpug.com/illust/illust359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1" y="228600"/>
            <a:ext cx="5279449" cy="3352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286000" y="5343344"/>
            <a:ext cx="6934200" cy="83099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　りょうりです。</a:t>
            </a:r>
            <a:endParaRPr lang="en-US" sz="4800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61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290438" y="4576834"/>
            <a:ext cx="510096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：しゅみは　なんですか。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18148" y="5373470"/>
            <a:ext cx="5073253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：（</a:t>
            </a:r>
            <a:r>
              <a:rPr lang="vi-VN" altLang="ja-JP" sz="3600" b="1" dirty="0">
                <a:latin typeface="MS PMincho" pitchFamily="18" charset="-128"/>
                <a:ea typeface="MS PMincho" pitchFamily="18" charset="-128"/>
              </a:rPr>
              <a:t>?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）です。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77" y="381001"/>
            <a:ext cx="6010925" cy="400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13 Track 13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39200" y="1123121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7366" y="6172201"/>
            <a:ext cx="509403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：そうですか。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542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55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290438" y="4576834"/>
            <a:ext cx="510096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：しゅみは　なんですか。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18148" y="5373470"/>
            <a:ext cx="5073253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：サッカーです。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77" y="381001"/>
            <a:ext cx="6010925" cy="400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13 Track 13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39200" y="1123121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7366" y="6172201"/>
            <a:ext cx="509403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：そうですか。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635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55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572491" y="-152400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２</a:t>
            </a:r>
            <a:endParaRPr lang="en-US" sz="2800" b="1" dirty="0">
              <a:solidFill>
                <a:srgbClr val="7030A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421" y="1136976"/>
            <a:ext cx="5410200" cy="362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14 Track 14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48600" y="129540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16366" y="4938099"/>
            <a:ext cx="4800600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：しゅみは なんですか。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16366" y="5762433"/>
            <a:ext cx="4800600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：＿＿＿＿＿＿＿。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174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62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1" grpId="0" animBg="1"/>
      <p:bldP spid="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572491" y="-152400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7030A0"/>
                </a:solidFill>
              </a:rPr>
              <a:t>チャレンジ　２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6858000" y="5846617"/>
            <a:ext cx="228600" cy="381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335981" y="5713952"/>
            <a:ext cx="3276600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と</a:t>
            </a:r>
            <a:r>
              <a:rPr lang="en-US" altLang="ja-JP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: </a:t>
            </a:r>
            <a:r>
              <a:rPr lang="en-US" altLang="ja-JP" sz="3600" b="1" dirty="0" err="1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Và</a:t>
            </a:r>
            <a:r>
              <a:rPr lang="en-US" altLang="ja-JP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(</a:t>
            </a:r>
            <a:r>
              <a:rPr lang="en-US" altLang="ja-JP" sz="3600" b="1" dirty="0" err="1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Trợ</a:t>
            </a:r>
            <a:r>
              <a:rPr lang="en-US" altLang="ja-JP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 </a:t>
            </a:r>
            <a:r>
              <a:rPr lang="en-US" altLang="ja-JP" sz="3600" b="1" dirty="0" err="1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từ</a:t>
            </a:r>
            <a:r>
              <a:rPr lang="en-US" altLang="ja-JP" sz="3600" b="1" dirty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)</a:t>
            </a:r>
            <a:endParaRPr lang="en-US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03" y="1136976"/>
            <a:ext cx="5410200" cy="362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14 Track 14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48600" y="129540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16366" y="4938099"/>
            <a:ext cx="4800600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：しゅみは なんですか。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44076" y="5734735"/>
            <a:ext cx="4772891" cy="6463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：りょこうと　えいがです。　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754582" y="5734735"/>
            <a:ext cx="596721" cy="646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54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62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animBg="1"/>
      <p:bldP spid="11" grpId="0" animBg="1"/>
      <p:bldP spid="14" grpId="0" animBg="1"/>
      <p:bldP spid="1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N1</a:t>
            </a:r>
            <a:r>
              <a:rPr lang="ja-JP" altLang="en-US"/>
              <a:t>は　</a:t>
            </a:r>
            <a:r>
              <a:rPr lang="en-US" dirty="0"/>
              <a:t> N2</a:t>
            </a:r>
            <a:r>
              <a:rPr lang="ja-JP" altLang="en-US"/>
              <a:t>です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Ｎ１：しゅみ</a:t>
            </a: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Ｎ２：サッカー、テニス、音楽。。。</a:t>
            </a: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わたしの　しゅみは　えいがです。</a:t>
            </a: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ja-JP" altLang="ja-JP" b="1" dirty="0">
                <a:latin typeface="MS Mincho" pitchFamily="49" charset="-128"/>
                <a:ea typeface="MS Mincho" pitchFamily="49" charset="-128"/>
              </a:rPr>
              <a:t>?</a:t>
            </a: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Ｂさんの　しゅみは　</a:t>
            </a:r>
            <a:r>
              <a:rPr lang="ja-JP" altLang="en-US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なん</a:t>
            </a: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ですか。</a:t>
            </a: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　　　　えいがです。</a:t>
            </a: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　　　　えいが</a:t>
            </a:r>
            <a:r>
              <a:rPr lang="ja-JP" altLang="en-US" b="1" dirty="0">
                <a:solidFill>
                  <a:srgbClr val="FF0000"/>
                </a:solidFill>
                <a:latin typeface="MS Mincho" pitchFamily="49" charset="-128"/>
                <a:ea typeface="MS Mincho" pitchFamily="49" charset="-128"/>
              </a:rPr>
              <a:t>と</a:t>
            </a:r>
            <a:r>
              <a:rPr lang="ja-JP" altLang="en-US" b="1" dirty="0">
                <a:latin typeface="MS Mincho" pitchFamily="49" charset="-128"/>
                <a:ea typeface="MS Mincho" pitchFamily="49" charset="-128"/>
              </a:rPr>
              <a:t>　おんがくです。</a:t>
            </a: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endParaRPr lang="en-US" altLang="ja-JP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endParaRPr lang="en-US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133600" y="3962400"/>
            <a:ext cx="685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2133600" y="4419600"/>
            <a:ext cx="685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5943600" y="5105400"/>
            <a:ext cx="3505200" cy="1524000"/>
          </a:xfrm>
          <a:prstGeom prst="cloudCallout">
            <a:avLst>
              <a:gd name="adj1" fmla="val -84070"/>
              <a:gd name="adj2" fmla="val -666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00"/>
                </a:solidFill>
              </a:rPr>
              <a:t>Trợ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từ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dùng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để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liệt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kê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danh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từ</a:t>
            </a:r>
            <a:r>
              <a:rPr lang="en-US" dirty="0">
                <a:solidFill>
                  <a:srgbClr val="FFFF00"/>
                </a:solidFill>
              </a:rPr>
              <a:t>: </a:t>
            </a:r>
            <a:r>
              <a:rPr lang="en-US" dirty="0" err="1">
                <a:solidFill>
                  <a:srgbClr val="FFFF00"/>
                </a:solidFill>
              </a:rPr>
              <a:t>Và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70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25" y="2297927"/>
            <a:ext cx="11824137" cy="2981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00" y="27710"/>
            <a:ext cx="6096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MS Mincho" pitchFamily="49" charset="-128"/>
                <a:ea typeface="MS Mincho" pitchFamily="49" charset="-128"/>
              </a:rPr>
              <a:t>練習</a:t>
            </a:r>
            <a:endParaRPr lang="en-US" sz="3600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426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8491"/>
            <a:ext cx="8763000" cy="2209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676400" y="2514601"/>
            <a:ext cx="78486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①しゅみは りょうり</a:t>
            </a:r>
            <a:r>
              <a:rPr lang="ja-JP" altLang="en-US" sz="3600" b="1">
                <a:latin typeface="MS PMincho" pitchFamily="18" charset="-128"/>
                <a:ea typeface="MS PMincho" pitchFamily="18" charset="-128"/>
              </a:rPr>
              <a:t>と　り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ょこうです。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0255" y="3429001"/>
            <a:ext cx="78486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②しゅみは すいえいと　テニスです。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4110" y="4419601"/>
            <a:ext cx="78486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③しゅみは サッカーと　おんがくです。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17965" y="5334001"/>
            <a:ext cx="78486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④しゅみは スポーツと　えいがです。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4529" y="553226"/>
            <a:ext cx="6096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MS Mincho" pitchFamily="49" charset="-128"/>
                <a:ea typeface="MS Mincho" pitchFamily="49" charset="-128"/>
              </a:rPr>
              <a:t>練習</a:t>
            </a:r>
            <a:endParaRPr lang="en-US" sz="3600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213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304800"/>
            <a:ext cx="6807399" cy="704088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ja-JP" altLang="en-US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</a:t>
            </a:r>
            <a:r>
              <a:rPr lang="ja-JP" altLang="vi-VN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　</a:t>
            </a:r>
            <a:r>
              <a:rPr lang="ja-JP" altLang="en-US" b="1" dirty="0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なんですか。</a:t>
            </a:r>
            <a:endParaRPr lang="en-US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4" name="Picture 2" descr="http://www2.kobe-c.ed.jp/tbm-ms/?action=common_download_main&amp;upload_id=29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2" y="1219201"/>
            <a:ext cx="3505199" cy="3276600"/>
          </a:xfrm>
          <a:prstGeom prst="rect">
            <a:avLst/>
          </a:prstGeom>
          <a:noFill/>
        </p:spPr>
      </p:pic>
      <p:pic>
        <p:nvPicPr>
          <p:cNvPr id="5" name="Picture 2" descr="C:\Users\Thu-Tao\Desktop\bo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1" y="1295401"/>
            <a:ext cx="4216599" cy="27432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404755" y="5257801"/>
            <a:ext cx="4772891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テニスと　すいえいです。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110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04755" y="5257801"/>
            <a:ext cx="4772891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りょこうと　りょうりです。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7" name="Picture 2" descr="http://kids.wanpug.com/illust/illust339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8495" y="1143001"/>
            <a:ext cx="2956649" cy="3733801"/>
          </a:xfrm>
          <a:prstGeom prst="rect">
            <a:avLst/>
          </a:prstGeom>
          <a:noFill/>
        </p:spPr>
      </p:pic>
      <p:pic>
        <p:nvPicPr>
          <p:cNvPr id="8" name="Picture 2" descr="http://kids.wanpug.com/illust/illust359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0418" y="1295401"/>
            <a:ext cx="4068667" cy="2583873"/>
          </a:xfrm>
          <a:prstGeom prst="rect">
            <a:avLst/>
          </a:prstGeom>
          <a:noFill/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3200400" y="304800"/>
            <a:ext cx="6807399" cy="704088"/>
          </a:xfrm>
          <a:prstGeom prst="rect">
            <a:avLst/>
          </a:prstGeom>
          <a:solidFill>
            <a:srgbClr val="00B050"/>
          </a:solidFill>
        </p:spPr>
        <p:txBody>
          <a:bodyPr vert="horz" lIns="0" rIns="0" bIns="0" anchor="b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しゅみは</a:t>
            </a:r>
            <a:r>
              <a:rPr lang="ja-JP" altLang="vi-VN" b="1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　</a:t>
            </a:r>
            <a:r>
              <a:rPr lang="ja-JP" altLang="en-US" b="1">
                <a:solidFill>
                  <a:schemeClr val="bg1"/>
                </a:solidFill>
                <a:latin typeface="MS Mincho" pitchFamily="49" charset="-128"/>
                <a:ea typeface="MS Mincho" pitchFamily="49" charset="-128"/>
              </a:rPr>
              <a:t>なんですか。</a:t>
            </a:r>
            <a:endParaRPr lang="en-US" b="1" dirty="0">
              <a:solidFill>
                <a:schemeClr val="bg1"/>
              </a:solidFill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352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50639" y="1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チャレンジ　</a:t>
            </a:r>
            <a:r>
              <a:rPr lang="en-US" altLang="ja-JP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24" y="1123121"/>
            <a:ext cx="4873877" cy="3229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15 Track 15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29600" y="14478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5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8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650639" y="1"/>
            <a:ext cx="3440906" cy="1123121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チャレンジ　</a:t>
            </a:r>
            <a:r>
              <a:rPr lang="en-US" altLang="ja-JP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0" y="4495801"/>
            <a:ext cx="52578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：しゅみは　なんですか。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72146" y="5257801"/>
            <a:ext cx="5271654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B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：りょうりです。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24" y="1123121"/>
            <a:ext cx="4873877" cy="3229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15 Track 15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29600" y="1447800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44437" y="6019801"/>
            <a:ext cx="750916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ja-JP" sz="3600" b="1" dirty="0">
                <a:latin typeface="MS PMincho" pitchFamily="18" charset="-128"/>
                <a:ea typeface="MS PMincho" pitchFamily="18" charset="-128"/>
              </a:rPr>
              <a:t>A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：へ、わたし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の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　しゅみも　りょうりです。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4" name="Oval 3"/>
          <p:cNvSpPr/>
          <p:nvPr/>
        </p:nvSpPr>
        <p:spPr>
          <a:xfrm>
            <a:off x="6553200" y="6105023"/>
            <a:ext cx="609600" cy="646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63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778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9" grpId="0" animBg="1"/>
      <p:bldP spid="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796084" y="1753821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err="1"/>
              <a:t>Bạn</a:t>
            </a:r>
            <a:r>
              <a:rPr lang="en-US" dirty="0"/>
              <a:t> Nam </a:t>
            </a:r>
            <a:r>
              <a:rPr lang="en-US" dirty="0" err="1">
                <a:solidFill>
                  <a:srgbClr val="FF0000"/>
                </a:solidFill>
              </a:rPr>
              <a:t>là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Việt</a:t>
            </a:r>
            <a:r>
              <a:rPr lang="en-US" dirty="0"/>
              <a:t> Nam.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796084" y="2995278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err="1"/>
              <a:t>Tôi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cũng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Việt</a:t>
            </a:r>
            <a:r>
              <a:rPr lang="en-US" dirty="0"/>
              <a:t> Nam.</a:t>
            </a:r>
          </a:p>
        </p:txBody>
      </p: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567484" y="2123709"/>
            <a:ext cx="6705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なむさん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ベトナムじん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7" name="TextBox 22"/>
          <p:cNvSpPr txBox="1">
            <a:spLocks noChangeArrowheads="1"/>
          </p:cNvSpPr>
          <p:nvPr/>
        </p:nvSpPr>
        <p:spPr bwMode="auto">
          <a:xfrm>
            <a:off x="186484" y="3365166"/>
            <a:ext cx="7086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わたし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ベトナムじん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8" name="TextBox 22"/>
          <p:cNvSpPr txBox="1">
            <a:spLocks noChangeArrowheads="1"/>
          </p:cNvSpPr>
          <p:nvPr/>
        </p:nvSpPr>
        <p:spPr bwMode="auto">
          <a:xfrm>
            <a:off x="1883690" y="3355694"/>
            <a:ext cx="664933" cy="6461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9" name="Oval Callout 18"/>
          <p:cNvSpPr/>
          <p:nvPr/>
        </p:nvSpPr>
        <p:spPr>
          <a:xfrm rot="21262368">
            <a:off x="5828322" y="4999193"/>
            <a:ext cx="3937776" cy="1600200"/>
          </a:xfrm>
          <a:prstGeom prst="wedgeEllipseCallout">
            <a:avLst>
              <a:gd name="adj1" fmla="val -133183"/>
              <a:gd name="adj2" fmla="val -14779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[</a:t>
            </a:r>
            <a:r>
              <a:rPr lang="ja-JP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も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thay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[</a:t>
            </a:r>
            <a:r>
              <a:rPr lang="ja-JP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は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tượng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cùng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chung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 ngữ</a:t>
            </a:r>
            <a:r>
              <a:rPr lang="ja-JP" alt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　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83690" y="3376278"/>
            <a:ext cx="609600" cy="635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0377" y="399975"/>
            <a:ext cx="10617958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S2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も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　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N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です。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 S2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cũng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là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 N</a:t>
            </a:r>
            <a:endParaRPr lang="en-US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ea typeface="NtMotoyaKyotai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0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s://hire39.com/wp-content/uploads/2020/12/38-500x3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1193800"/>
            <a:ext cx="7649519" cy="486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8298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https://hire39.com/wp-content/uploads/2020/12/42-500x3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685800"/>
            <a:ext cx="8572499" cy="548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6469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https://hire39.com/wp-content/uploads/2020/12/43-500x3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799" y="357146"/>
            <a:ext cx="8834783" cy="568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7488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600200"/>
          </a:xfrm>
        </p:spPr>
        <p:txBody>
          <a:bodyPr>
            <a:normAutofit/>
          </a:bodyPr>
          <a:lstStyle/>
          <a:p>
            <a:pPr algn="ctr"/>
            <a:r>
              <a:rPr lang="ja-JP" altLang="en-US" dirty="0">
                <a:latin typeface="MS Reference Sans Serif" panose="020B0604030504040204" pitchFamily="34" charset="0"/>
              </a:rPr>
              <a:t>  </a:t>
            </a:r>
            <a:r>
              <a:rPr lang="en-US" dirty="0">
                <a:latin typeface="MS Reference Sans Serif" panose="020B0604030504040204" pitchFamily="34" charset="0"/>
              </a:rPr>
              <a:t>N1</a:t>
            </a:r>
            <a:r>
              <a:rPr lang="vi-VN" dirty="0">
                <a:latin typeface="MS Reference Sans Serif" panose="020B0604030504040204" pitchFamily="34" charset="0"/>
              </a:rPr>
              <a:t>は</a:t>
            </a:r>
            <a:r>
              <a:rPr lang="ja-JP" altLang="en-US" dirty="0">
                <a:latin typeface="MS Reference Sans Serif" panose="020B0604030504040204" pitchFamily="34" charset="0"/>
              </a:rPr>
              <a:t>　</a:t>
            </a:r>
            <a:r>
              <a:rPr lang="en-US" dirty="0">
                <a:latin typeface="MS Reference Sans Serif" panose="020B0604030504040204" pitchFamily="34" charset="0"/>
              </a:rPr>
              <a:t> N2</a:t>
            </a:r>
            <a:r>
              <a:rPr lang="ja-JP" altLang="en-US" dirty="0">
                <a:latin typeface="MS Reference Sans Serif" panose="020B0604030504040204" pitchFamily="34" charset="0"/>
              </a:rPr>
              <a:t>です。</a:t>
            </a:r>
            <a:br>
              <a:rPr lang="vi-VN" altLang="ja-JP" dirty="0">
                <a:latin typeface="MS Reference Sans Serif" panose="020B0604030504040204" pitchFamily="34" charset="0"/>
              </a:rPr>
            </a:br>
            <a:r>
              <a:rPr lang="ja-JP" altLang="en-US" dirty="0">
                <a:latin typeface="MS Reference Sans Serif" panose="020B0604030504040204" pitchFamily="34" charset="0"/>
              </a:rPr>
              <a:t>　</a:t>
            </a:r>
            <a:r>
              <a:rPr lang="vi-VN" altLang="ja-JP" dirty="0">
                <a:latin typeface="MS Reference Sans Serif" panose="020B0604030504040204" pitchFamily="34" charset="0"/>
              </a:rPr>
              <a:t>N</a:t>
            </a:r>
            <a:r>
              <a:rPr lang="ja-JP" altLang="en-US" dirty="0">
                <a:latin typeface="MS Reference Sans Serif" panose="020B0604030504040204" pitchFamily="34" charset="0"/>
              </a:rPr>
              <a:t>３</a:t>
            </a:r>
            <a:r>
              <a:rPr lang="ja-JP" altLang="en-US" dirty="0">
                <a:solidFill>
                  <a:srgbClr val="C00000"/>
                </a:solidFill>
                <a:latin typeface="MS Reference Sans Serif" panose="020B0604030504040204" pitchFamily="34" charset="0"/>
              </a:rPr>
              <a:t>も</a:t>
            </a:r>
            <a:r>
              <a:rPr lang="ja-JP" altLang="vi-VN" dirty="0">
                <a:latin typeface="MS Reference Sans Serif" panose="020B0604030504040204" pitchFamily="34" charset="0"/>
              </a:rPr>
              <a:t>　</a:t>
            </a:r>
            <a:r>
              <a:rPr lang="ja-JP" altLang="en-US" dirty="0">
                <a:latin typeface="MS Reference Sans Serif" panose="020B0604030504040204" pitchFamily="34" charset="0"/>
              </a:rPr>
              <a:t>　</a:t>
            </a:r>
            <a:r>
              <a:rPr lang="en-US" altLang="ja-JP" dirty="0">
                <a:latin typeface="MS Reference Sans Serif" panose="020B0604030504040204" pitchFamily="34" charset="0"/>
              </a:rPr>
              <a:t>N2</a:t>
            </a:r>
            <a:r>
              <a:rPr lang="ja-JP" altLang="en-US" dirty="0">
                <a:latin typeface="MS Reference Sans Serif" panose="020B0604030504040204" pitchFamily="34" charset="0"/>
              </a:rPr>
              <a:t>です。</a:t>
            </a:r>
            <a:endParaRPr lang="en-US" dirty="0">
              <a:latin typeface="MS Reference Sans Serif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2317531"/>
            <a:ext cx="8839200" cy="2057400"/>
          </a:xfrm>
          <a:solidFill>
            <a:srgbClr val="92D050"/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altLang="ja-JP" sz="3600" b="1" dirty="0">
                <a:latin typeface="MS Mincho" pitchFamily="49" charset="-128"/>
                <a:ea typeface="MS Mincho" pitchFamily="49" charset="-128"/>
              </a:rPr>
              <a:t>N1</a:t>
            </a:r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、</a:t>
            </a:r>
            <a:r>
              <a:rPr lang="en-US" altLang="ja-JP" sz="3600" b="1" dirty="0">
                <a:latin typeface="MS Mincho" pitchFamily="49" charset="-128"/>
                <a:ea typeface="MS Mincho" pitchFamily="49" charset="-128"/>
              </a:rPr>
              <a:t>N3</a:t>
            </a:r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：しゅみ</a:t>
            </a:r>
            <a:endParaRPr lang="en-US" altLang="ja-JP" sz="3600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en-US" altLang="ja-JP" sz="3600" b="1" dirty="0">
                <a:latin typeface="MS Mincho" pitchFamily="49" charset="-128"/>
                <a:ea typeface="MS Mincho" pitchFamily="49" charset="-128"/>
              </a:rPr>
              <a:t> N2	  </a:t>
            </a:r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：サッカー、テニス、音楽</a:t>
            </a:r>
            <a:r>
              <a:rPr lang="vi-VN" altLang="ja-JP" sz="3600" b="1" dirty="0">
                <a:latin typeface="MS Mincho" pitchFamily="49" charset="-128"/>
                <a:ea typeface="MS Mincho" pitchFamily="49" charset="-128"/>
              </a:rPr>
              <a:t>...</a:t>
            </a:r>
            <a:endParaRPr lang="en-US" altLang="ja-JP" sz="3600" b="1" dirty="0">
              <a:latin typeface="MS Mincho" pitchFamily="49" charset="-128"/>
              <a:ea typeface="MS Mincho" pitchFamily="49" charset="-128"/>
            </a:endParaRPr>
          </a:p>
          <a:p>
            <a:pPr>
              <a:buNone/>
            </a:pPr>
            <a:r>
              <a:rPr lang="ja-JP" altLang="en-US" sz="3600" dirty="0">
                <a:solidFill>
                  <a:srgbClr val="C00000"/>
                </a:solidFill>
              </a:rPr>
              <a:t>「も」</a:t>
            </a:r>
            <a:r>
              <a:rPr lang="vi-VN" altLang="ja-JP" sz="3600" dirty="0">
                <a:solidFill>
                  <a:srgbClr val="C00000"/>
                </a:solidFill>
              </a:rPr>
              <a:t>	    </a:t>
            </a:r>
            <a:r>
              <a:rPr lang="ja-JP" altLang="en-US" sz="3600" b="1" dirty="0">
                <a:latin typeface="MS Mincho" pitchFamily="49" charset="-128"/>
                <a:ea typeface="MS Mincho" pitchFamily="49" charset="-128"/>
              </a:rPr>
              <a:t>：</a:t>
            </a:r>
            <a:r>
              <a:rPr lang="ja-JP" altLang="en-US" sz="3600" dirty="0">
                <a:solidFill>
                  <a:srgbClr val="C00000"/>
                </a:solidFill>
              </a:rPr>
              <a:t> </a:t>
            </a:r>
            <a:r>
              <a:rPr lang="en-US" altLang="ja-JP" sz="3600" dirty="0" err="1"/>
              <a:t>cũng</a:t>
            </a:r>
            <a:r>
              <a:rPr lang="en-US" altLang="ja-JP" sz="3600" dirty="0"/>
              <a:t> (</a:t>
            </a:r>
            <a:r>
              <a:rPr lang="en-US" altLang="ja-JP" sz="3600" dirty="0" err="1"/>
              <a:t>trợ</a:t>
            </a:r>
            <a:r>
              <a:rPr lang="en-US" altLang="ja-JP" sz="3600" dirty="0"/>
              <a:t> </a:t>
            </a:r>
            <a:r>
              <a:rPr lang="en-US" altLang="ja-JP" sz="3600" dirty="0" err="1"/>
              <a:t>từ</a:t>
            </a:r>
            <a:r>
              <a:rPr lang="en-US" altLang="ja-JP" sz="3600" dirty="0"/>
              <a:t>). </a:t>
            </a:r>
            <a:endParaRPr lang="en-US" sz="3600" b="1" dirty="0">
              <a:latin typeface="MS Mincho" pitchFamily="49" charset="-128"/>
              <a:ea typeface="MS Mincho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FBBCA-884F-8A4C-945E-E31ADD075D9C}"/>
              </a:ext>
            </a:extLst>
          </p:cNvPr>
          <p:cNvSpPr txBox="1"/>
          <p:nvPr/>
        </p:nvSpPr>
        <p:spPr>
          <a:xfrm>
            <a:off x="1981201" y="4724400"/>
            <a:ext cx="83642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* </a:t>
            </a:r>
            <a:r>
              <a:rPr lang="en-US" altLang="ja-JP" dirty="0" err="1"/>
              <a:t>Sử</a:t>
            </a:r>
            <a:r>
              <a:rPr lang="en-US" altLang="ja-JP" dirty="0"/>
              <a:t> </a:t>
            </a:r>
            <a:r>
              <a:rPr lang="en-US" altLang="ja-JP" dirty="0" err="1"/>
              <a:t>dụng</a:t>
            </a:r>
            <a:r>
              <a:rPr lang="en-US" altLang="ja-JP" dirty="0"/>
              <a:t> </a:t>
            </a:r>
            <a:r>
              <a:rPr lang="ja-JP" altLang="en-US" dirty="0">
                <a:solidFill>
                  <a:srgbClr val="C00000"/>
                </a:solidFill>
              </a:rPr>
              <a:t>「も」 </a:t>
            </a:r>
            <a:r>
              <a:rPr lang="en-US" altLang="ja-JP" dirty="0" err="1"/>
              <a:t>khi</a:t>
            </a:r>
            <a:r>
              <a:rPr lang="en-US" altLang="ja-JP" dirty="0"/>
              <a:t> </a:t>
            </a:r>
            <a:r>
              <a:rPr lang="en-US" altLang="ja-JP" dirty="0" err="1"/>
              <a:t>muốn</a:t>
            </a:r>
            <a:r>
              <a:rPr lang="en-US" altLang="ja-JP" dirty="0"/>
              <a:t> </a:t>
            </a:r>
            <a:r>
              <a:rPr lang="en-US" altLang="ja-JP" dirty="0" err="1"/>
              <a:t>nói</a:t>
            </a:r>
            <a:r>
              <a:rPr lang="en-US" altLang="ja-JP" dirty="0"/>
              <a:t> </a:t>
            </a:r>
            <a:r>
              <a:rPr lang="en-US" altLang="ja-JP" dirty="0" err="1"/>
              <a:t>rằng</a:t>
            </a:r>
            <a:r>
              <a:rPr lang="en-US" altLang="ja-JP" dirty="0"/>
              <a:t> </a:t>
            </a:r>
            <a:r>
              <a:rPr lang="en-US" altLang="ja-JP" dirty="0" err="1"/>
              <a:t>một</a:t>
            </a:r>
            <a:r>
              <a:rPr lang="en-US" altLang="ja-JP" dirty="0"/>
              <a:t> </a:t>
            </a:r>
            <a:r>
              <a:rPr lang="en-US" altLang="ja-JP" dirty="0" err="1"/>
              <a:t>chủ</a:t>
            </a:r>
            <a:r>
              <a:rPr lang="en-US" altLang="ja-JP" dirty="0"/>
              <a:t> </a:t>
            </a:r>
            <a:r>
              <a:rPr lang="en-US" altLang="ja-JP" dirty="0" err="1"/>
              <a:t>đề</a:t>
            </a:r>
            <a:r>
              <a:rPr lang="en-US" altLang="ja-JP" dirty="0"/>
              <a:t>/ </a:t>
            </a:r>
            <a:r>
              <a:rPr lang="en-US" altLang="ja-JP" dirty="0" err="1"/>
              <a:t>đối</a:t>
            </a:r>
            <a:r>
              <a:rPr lang="en-US" altLang="ja-JP" dirty="0"/>
              <a:t> </a:t>
            </a:r>
            <a:r>
              <a:rPr lang="en-US" altLang="ja-JP" dirty="0" err="1"/>
              <a:t>tượng</a:t>
            </a:r>
            <a:r>
              <a:rPr lang="en-US" altLang="ja-JP" dirty="0"/>
              <a:t> (N3) </a:t>
            </a:r>
          </a:p>
          <a:p>
            <a:r>
              <a:rPr lang="en-US" altLang="ja-JP" dirty="0" err="1"/>
              <a:t>có</a:t>
            </a:r>
            <a:r>
              <a:rPr lang="en-US" altLang="ja-JP" dirty="0"/>
              <a:t> </a:t>
            </a:r>
            <a:r>
              <a:rPr lang="en-US" altLang="ja-JP" dirty="0" err="1"/>
              <a:t>nội</a:t>
            </a:r>
            <a:r>
              <a:rPr lang="en-US" altLang="ja-JP" dirty="0"/>
              <a:t> dung/ </a:t>
            </a:r>
            <a:r>
              <a:rPr lang="en-US" altLang="ja-JP" dirty="0" err="1"/>
              <a:t>đặc</a:t>
            </a:r>
            <a:r>
              <a:rPr lang="en-US" altLang="ja-JP" dirty="0"/>
              <a:t> </a:t>
            </a:r>
            <a:r>
              <a:rPr lang="en-US" altLang="ja-JP" dirty="0" err="1"/>
              <a:t>điểm</a:t>
            </a:r>
            <a:r>
              <a:rPr lang="en-US" altLang="ja-JP" dirty="0"/>
              <a:t> (N2) </a:t>
            </a:r>
            <a:r>
              <a:rPr lang="en-US" altLang="ja-JP" dirty="0" err="1"/>
              <a:t>giống</a:t>
            </a:r>
            <a:r>
              <a:rPr lang="en-US" altLang="ja-JP" dirty="0"/>
              <a:t> </a:t>
            </a:r>
            <a:r>
              <a:rPr lang="en-US" altLang="ja-JP" dirty="0" err="1"/>
              <a:t>như</a:t>
            </a:r>
            <a:r>
              <a:rPr lang="en-US" altLang="ja-JP" dirty="0"/>
              <a:t> </a:t>
            </a:r>
            <a:r>
              <a:rPr lang="en-US" altLang="ja-JP" dirty="0" err="1"/>
              <a:t>chủ</a:t>
            </a:r>
            <a:r>
              <a:rPr lang="en-US" altLang="ja-JP" dirty="0"/>
              <a:t> </a:t>
            </a:r>
            <a:r>
              <a:rPr lang="en-US" altLang="ja-JP" dirty="0" err="1"/>
              <a:t>đề</a:t>
            </a:r>
            <a:r>
              <a:rPr lang="en-US" altLang="ja-JP" dirty="0"/>
              <a:t>/ </a:t>
            </a:r>
            <a:r>
              <a:rPr lang="en-US" altLang="ja-JP" dirty="0" err="1"/>
              <a:t>đối</a:t>
            </a:r>
            <a:r>
              <a:rPr lang="en-US" altLang="ja-JP" dirty="0"/>
              <a:t> </a:t>
            </a:r>
            <a:r>
              <a:rPr lang="en-US" altLang="ja-JP" dirty="0" err="1"/>
              <a:t>tượng</a:t>
            </a:r>
            <a:r>
              <a:rPr lang="en-US" altLang="ja-JP" dirty="0"/>
              <a:t> </a:t>
            </a:r>
            <a:r>
              <a:rPr lang="en-US" altLang="ja-JP" dirty="0" err="1"/>
              <a:t>trước</a:t>
            </a:r>
            <a:r>
              <a:rPr lang="en-US" altLang="ja-JP" dirty="0"/>
              <a:t> </a:t>
            </a:r>
            <a:r>
              <a:rPr lang="en-US" altLang="ja-JP" dirty="0" err="1"/>
              <a:t>đó</a:t>
            </a:r>
            <a:r>
              <a:rPr lang="en-US" altLang="ja-JP" dirty="0"/>
              <a:t> (N1).</a:t>
            </a:r>
          </a:p>
          <a:p>
            <a:endParaRPr lang="en-US" altLang="ja-JP" dirty="0"/>
          </a:p>
          <a:p>
            <a:r>
              <a:rPr lang="en-US" altLang="ja-JP" dirty="0"/>
              <a:t>* </a:t>
            </a:r>
            <a:r>
              <a:rPr lang="en-US" altLang="ja-JP" dirty="0" err="1"/>
              <a:t>Có</a:t>
            </a:r>
            <a:r>
              <a:rPr lang="en-US" altLang="ja-JP" dirty="0"/>
              <a:t> </a:t>
            </a:r>
            <a:r>
              <a:rPr lang="en-US" altLang="ja-JP" dirty="0" err="1"/>
              <a:t>thể</a:t>
            </a:r>
            <a:r>
              <a:rPr lang="en-US" altLang="ja-JP" dirty="0"/>
              <a:t> </a:t>
            </a:r>
            <a:r>
              <a:rPr lang="en-US" altLang="ja-JP" dirty="0" err="1"/>
              <a:t>sử</a:t>
            </a:r>
            <a:r>
              <a:rPr lang="en-US" altLang="ja-JP" dirty="0"/>
              <a:t> </a:t>
            </a:r>
            <a:r>
              <a:rPr lang="en-US" altLang="ja-JP" dirty="0" err="1"/>
              <a:t>dụng</a:t>
            </a:r>
            <a:r>
              <a:rPr lang="en-US" altLang="ja-JP" dirty="0"/>
              <a:t> </a:t>
            </a:r>
            <a:r>
              <a:rPr lang="ja-JP" altLang="en-US" dirty="0">
                <a:solidFill>
                  <a:srgbClr val="C00000"/>
                </a:solidFill>
              </a:rPr>
              <a:t>「も」</a:t>
            </a:r>
            <a:r>
              <a:rPr lang="en-US" altLang="ja-JP" dirty="0">
                <a:solidFill>
                  <a:srgbClr val="C00000"/>
                </a:solidFill>
              </a:rPr>
              <a:t> </a:t>
            </a:r>
            <a:r>
              <a:rPr lang="en-US" altLang="ja-JP" dirty="0" err="1"/>
              <a:t>trong</a:t>
            </a:r>
            <a:r>
              <a:rPr lang="en-US" altLang="ja-JP" dirty="0"/>
              <a:t> </a:t>
            </a:r>
            <a:r>
              <a:rPr lang="en-US" altLang="ja-JP" dirty="0" err="1"/>
              <a:t>nhiều</a:t>
            </a:r>
            <a:r>
              <a:rPr lang="en-US" altLang="ja-JP" dirty="0"/>
              <a:t> </a:t>
            </a:r>
            <a:r>
              <a:rPr lang="en-US" altLang="ja-JP" dirty="0" err="1"/>
              <a:t>câu</a:t>
            </a:r>
            <a:r>
              <a:rPr lang="en-US" altLang="ja-JP" dirty="0"/>
              <a:t> </a:t>
            </a:r>
            <a:r>
              <a:rPr lang="en-US" altLang="ja-JP" dirty="0" err="1"/>
              <a:t>với</a:t>
            </a:r>
            <a:r>
              <a:rPr lang="en-US" altLang="ja-JP" dirty="0"/>
              <a:t> </a:t>
            </a:r>
            <a:r>
              <a:rPr lang="en-US" altLang="ja-JP" dirty="0" err="1"/>
              <a:t>nội</a:t>
            </a:r>
            <a:r>
              <a:rPr lang="en-US" altLang="ja-JP" dirty="0"/>
              <a:t> dung </a:t>
            </a:r>
            <a:r>
              <a:rPr lang="en-US" altLang="ja-JP" dirty="0" err="1"/>
              <a:t>và</a:t>
            </a:r>
            <a:r>
              <a:rPr lang="en-US" altLang="ja-JP" dirty="0"/>
              <a:t> </a:t>
            </a:r>
            <a:r>
              <a:rPr lang="en-US" altLang="ja-JP" dirty="0" err="1"/>
              <a:t>cấu</a:t>
            </a:r>
            <a:r>
              <a:rPr lang="en-US" altLang="ja-JP" dirty="0"/>
              <a:t> </a:t>
            </a:r>
            <a:r>
              <a:rPr lang="en-US" altLang="ja-JP" dirty="0" err="1"/>
              <a:t>trúc</a:t>
            </a:r>
            <a:r>
              <a:rPr lang="en-US" altLang="ja-JP" dirty="0"/>
              <a:t> </a:t>
            </a:r>
            <a:r>
              <a:rPr lang="en-US" altLang="ja-JP" dirty="0" err="1"/>
              <a:t>đa</a:t>
            </a:r>
            <a:r>
              <a:rPr lang="en-US" altLang="ja-JP" dirty="0"/>
              <a:t> </a:t>
            </a:r>
            <a:r>
              <a:rPr lang="en-US" altLang="ja-JP" dirty="0" err="1"/>
              <a:t>dạng</a:t>
            </a:r>
            <a:r>
              <a:rPr lang="en-US" altLang="ja-JP" dirty="0"/>
              <a:t>.</a:t>
            </a:r>
          </a:p>
          <a:p>
            <a:r>
              <a:rPr lang="en-US" altLang="ja-JP" dirty="0" err="1"/>
              <a:t>Ở</a:t>
            </a:r>
            <a:r>
              <a:rPr lang="en-US" altLang="ja-JP" dirty="0"/>
              <a:t> </a:t>
            </a:r>
            <a:r>
              <a:rPr lang="en-US" altLang="ja-JP" dirty="0" err="1"/>
              <a:t>bài</a:t>
            </a:r>
            <a:r>
              <a:rPr lang="en-US" altLang="ja-JP" dirty="0"/>
              <a:t> </a:t>
            </a:r>
            <a:r>
              <a:rPr lang="en-US" altLang="ja-JP" dirty="0" err="1"/>
              <a:t>này</a:t>
            </a:r>
            <a:r>
              <a:rPr lang="en-US" altLang="ja-JP" dirty="0"/>
              <a:t>, </a:t>
            </a:r>
            <a:r>
              <a:rPr lang="ja-JP" altLang="en-US" dirty="0">
                <a:solidFill>
                  <a:srgbClr val="C00000"/>
                </a:solidFill>
              </a:rPr>
              <a:t>「も」</a:t>
            </a:r>
            <a:r>
              <a:rPr lang="en-US" altLang="ja-JP" dirty="0">
                <a:solidFill>
                  <a:srgbClr val="C00000"/>
                </a:solidFill>
              </a:rPr>
              <a:t> </a:t>
            </a:r>
            <a:r>
              <a:rPr lang="en-US" altLang="ja-JP" dirty="0" err="1"/>
              <a:t>được</a:t>
            </a:r>
            <a:r>
              <a:rPr lang="en-US" altLang="ja-JP" dirty="0"/>
              <a:t> </a:t>
            </a:r>
            <a:r>
              <a:rPr lang="en-US" altLang="ja-JP" dirty="0" err="1"/>
              <a:t>sử</a:t>
            </a:r>
            <a:r>
              <a:rPr lang="en-US" altLang="ja-JP" dirty="0"/>
              <a:t> </a:t>
            </a:r>
            <a:r>
              <a:rPr lang="en-US" altLang="ja-JP" dirty="0" err="1"/>
              <a:t>dụng</a:t>
            </a:r>
            <a:r>
              <a:rPr lang="en-US" altLang="ja-JP" dirty="0"/>
              <a:t> </a:t>
            </a:r>
            <a:r>
              <a:rPr lang="en-US" altLang="ja-JP" dirty="0" err="1"/>
              <a:t>để</a:t>
            </a:r>
            <a:r>
              <a:rPr lang="en-US" altLang="ja-JP" dirty="0"/>
              <a:t> </a:t>
            </a:r>
            <a:r>
              <a:rPr lang="en-US" altLang="ja-JP" dirty="0" err="1"/>
              <a:t>nói</a:t>
            </a:r>
            <a:r>
              <a:rPr lang="en-US" altLang="ja-JP" dirty="0"/>
              <a:t> </a:t>
            </a:r>
            <a:r>
              <a:rPr lang="en-US" altLang="ja-JP" dirty="0" err="1"/>
              <a:t>về</a:t>
            </a:r>
            <a:r>
              <a:rPr lang="en-US" altLang="ja-JP" dirty="0"/>
              <a:t> </a:t>
            </a:r>
            <a:r>
              <a:rPr lang="en-US" altLang="ja-JP" dirty="0" err="1"/>
              <a:t>việc</a:t>
            </a:r>
            <a:r>
              <a:rPr lang="en-US" altLang="ja-JP" dirty="0"/>
              <a:t> 2 </a:t>
            </a:r>
            <a:r>
              <a:rPr lang="en-US" altLang="ja-JP" dirty="0" err="1"/>
              <a:t>người</a:t>
            </a:r>
            <a:r>
              <a:rPr lang="en-US" altLang="ja-JP" dirty="0"/>
              <a:t> </a:t>
            </a:r>
            <a:r>
              <a:rPr lang="en-US" altLang="ja-JP" dirty="0" err="1"/>
              <a:t>nào</a:t>
            </a:r>
            <a:r>
              <a:rPr lang="en-US" altLang="ja-JP" dirty="0"/>
              <a:t> </a:t>
            </a:r>
            <a:r>
              <a:rPr lang="en-US" altLang="ja-JP" dirty="0" err="1"/>
              <a:t>đó</a:t>
            </a:r>
            <a:r>
              <a:rPr lang="en-US" altLang="ja-JP" dirty="0"/>
              <a:t> </a:t>
            </a:r>
            <a:r>
              <a:rPr lang="en-US" altLang="ja-JP" dirty="0" err="1"/>
              <a:t>có</a:t>
            </a:r>
            <a:r>
              <a:rPr lang="en-US" altLang="ja-JP" dirty="0"/>
              <a:t> </a:t>
            </a:r>
            <a:r>
              <a:rPr lang="en-US" altLang="ja-JP" dirty="0" err="1"/>
              <a:t>sở</a:t>
            </a:r>
            <a:r>
              <a:rPr lang="en-US" altLang="ja-JP" dirty="0"/>
              <a:t> </a:t>
            </a:r>
            <a:r>
              <a:rPr lang="en-US" altLang="ja-JP" dirty="0" err="1"/>
              <a:t>thích</a:t>
            </a:r>
            <a:r>
              <a:rPr lang="en-US" altLang="ja-JP" dirty="0"/>
              <a:t> </a:t>
            </a:r>
            <a:r>
              <a:rPr lang="en-US" altLang="ja-JP" dirty="0" err="1"/>
              <a:t>giống</a:t>
            </a:r>
            <a:r>
              <a:rPr lang="en-US" altLang="ja-JP" dirty="0"/>
              <a:t> </a:t>
            </a:r>
            <a:r>
              <a:rPr lang="en-US" altLang="ja-JP" dirty="0" err="1"/>
              <a:t>nhau</a:t>
            </a:r>
            <a:r>
              <a:rPr lang="en-US" altLang="ja-JP" dirty="0">
                <a:solidFill>
                  <a:srgbClr val="C00000"/>
                </a:solidFill>
              </a:rPr>
              <a:t>.</a:t>
            </a:r>
            <a:endParaRPr lang="en-US" altLang="ja-JP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87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740"/>
            <a:ext cx="9144000" cy="1874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4" y="1923184"/>
            <a:ext cx="9026236" cy="1658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79420" y="36872"/>
            <a:ext cx="630381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MS Mincho" pitchFamily="49" charset="-128"/>
                <a:ea typeface="MS Mincho" pitchFamily="49" charset="-128"/>
              </a:rPr>
              <a:t>練習</a:t>
            </a:r>
            <a:endParaRPr lang="en-US" sz="3600" dirty="0">
              <a:latin typeface="MS Mincho" pitchFamily="49" charset="-128"/>
              <a:ea typeface="MS Mincho" pitchFamily="49" charset="-128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4" y="3599584"/>
            <a:ext cx="8730916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455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740"/>
            <a:ext cx="9144000" cy="1874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4" y="1923184"/>
            <a:ext cx="9026236" cy="1658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11038" y="3588328"/>
            <a:ext cx="7848600" cy="12003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①アンナさんの　しゅみは　どくしょです。マリヤムさんの　しゅみも　どくしょです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45674" y="5105401"/>
            <a:ext cx="8617526" cy="12003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②カルロスさんの　しゅみは　おんがくです。にしかわさんの　しゅみも　おんがくです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9420" y="36872"/>
            <a:ext cx="630381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MS Mincho" pitchFamily="49" charset="-128"/>
                <a:ea typeface="MS Mincho" pitchFamily="49" charset="-128"/>
              </a:rPr>
              <a:t>練習</a:t>
            </a:r>
            <a:endParaRPr lang="en-US" sz="3600" dirty="0">
              <a:latin typeface="MS Mincho" pitchFamily="49" charset="-128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560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76200"/>
            <a:ext cx="8730916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11038" y="2988163"/>
            <a:ext cx="8652162" cy="12003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③ダニエル</a:t>
            </a:r>
            <a:r>
              <a:rPr lang="ja-JP" altLang="en-US" sz="3600" b="1" dirty="0">
                <a:highlight>
                  <a:srgbClr val="FFFF00"/>
                </a:highlight>
                <a:latin typeface="MS PMincho" pitchFamily="18" charset="-128"/>
                <a:ea typeface="MS PMincho" pitchFamily="18" charset="-128"/>
              </a:rPr>
              <a:t>さん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の　</a:t>
            </a:r>
            <a:r>
              <a:rPr lang="ja-JP" altLang="en-US" sz="3600" b="1" dirty="0">
                <a:highlight>
                  <a:srgbClr val="FFFF00"/>
                </a:highlight>
                <a:latin typeface="MS PMincho" pitchFamily="18" charset="-128"/>
                <a:ea typeface="MS PMincho" pitchFamily="18" charset="-128"/>
              </a:rPr>
              <a:t>しゅみは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　</a:t>
            </a:r>
            <a:r>
              <a:rPr lang="ja-JP" altLang="en-US" sz="3600" b="1" dirty="0">
                <a:highlight>
                  <a:srgbClr val="FFFF00"/>
                </a:highlight>
                <a:latin typeface="MS PMincho" pitchFamily="18" charset="-128"/>
                <a:ea typeface="MS PMincho" pitchFamily="18" charset="-128"/>
              </a:rPr>
              <a:t>サッカ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ーです。マルコさんの　</a:t>
            </a:r>
            <a:r>
              <a:rPr lang="ja-JP" altLang="en-US" sz="3600" b="1" dirty="0">
                <a:highlight>
                  <a:srgbClr val="FFFF00"/>
                </a:highlight>
                <a:latin typeface="MS PMincho" pitchFamily="18" charset="-128"/>
                <a:ea typeface="MS PMincho" pitchFamily="18" charset="-128"/>
              </a:rPr>
              <a:t>しゅみ</a:t>
            </a:r>
            <a:r>
              <a:rPr lang="ja-JP" altLang="en-US" sz="3600" b="1" dirty="0">
                <a:solidFill>
                  <a:srgbClr val="FF0000"/>
                </a:solidFill>
                <a:latin typeface="MS PMincho" pitchFamily="18" charset="-128"/>
                <a:ea typeface="MS PMincho" pitchFamily="18" charset="-128"/>
              </a:rPr>
              <a:t>も</a:t>
            </a:r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　サッカーです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45674" y="5105401"/>
            <a:ext cx="8617526" cy="12003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④パクさんの　しゅみは　えいがです。</a:t>
            </a:r>
            <a:endParaRPr lang="en-US" altLang="ja-JP" sz="3600" b="1" dirty="0">
              <a:latin typeface="MS PMincho" pitchFamily="18" charset="-128"/>
              <a:ea typeface="MS PMincho" pitchFamily="18" charset="-128"/>
            </a:endParaRPr>
          </a:p>
          <a:p>
            <a:r>
              <a:rPr lang="ja-JP" altLang="en-US" sz="3600" b="1" dirty="0">
                <a:latin typeface="MS PMincho" pitchFamily="18" charset="-128"/>
                <a:ea typeface="MS PMincho" pitchFamily="18" charset="-128"/>
              </a:rPr>
              <a:t>きむらさんの　しゅみも　えいがです。</a:t>
            </a:r>
            <a:endParaRPr lang="en-US" sz="3600" b="1" dirty="0">
              <a:latin typeface="MS PMincho" pitchFamily="18" charset="-128"/>
              <a:ea typeface="MS PMincho" pitchFamily="18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E85FD-24B8-279D-EA2F-833FB825D920}"/>
              </a:ext>
            </a:extLst>
          </p:cNvPr>
          <p:cNvSpPr txBox="1"/>
          <p:nvPr/>
        </p:nvSpPr>
        <p:spPr>
          <a:xfrm>
            <a:off x="5052060" y="4262374"/>
            <a:ext cx="509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403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7C3E36C-6330-4B50-A325-2675348E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E350589-1865-4D5E-A1F2-D59539F8E2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6667" t="12945" r="18333" b="23320"/>
          <a:stretch/>
        </p:blipFill>
        <p:spPr>
          <a:xfrm>
            <a:off x="1508760" y="548640"/>
            <a:ext cx="8915400" cy="6156960"/>
          </a:xfrm>
          <a:prstGeom prst="rect">
            <a:avLst/>
          </a:prstGeom>
        </p:spPr>
      </p:pic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ABE96816-E989-4CA3-AAA5-EF3F3302CD0E}"/>
              </a:ext>
            </a:extLst>
          </p:cNvPr>
          <p:cNvSpPr/>
          <p:nvPr/>
        </p:nvSpPr>
        <p:spPr>
          <a:xfrm>
            <a:off x="1524001" y="0"/>
            <a:ext cx="914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1:NHÌN TRANH RỒI VIẾT CÂU THEO MẪU</a:t>
            </a:r>
          </a:p>
        </p:txBody>
      </p:sp>
    </p:spTree>
    <p:extLst>
      <p:ext uri="{BB962C8B-B14F-4D97-AF65-F5344CB8AC3E}">
        <p14:creationId xmlns:p14="http://schemas.microsoft.com/office/powerpoint/2010/main" val="26817021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5EA2F7-0A32-4BA6-BEDF-2A659512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704088"/>
            <a:ext cx="8458200" cy="1143000"/>
          </a:xfrm>
        </p:spPr>
        <p:txBody>
          <a:bodyPr>
            <a:noAutofit/>
          </a:bodyPr>
          <a:lstStyle/>
          <a:p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ja-JP" altLang="en-US" sz="2800" dirty="0"/>
              <a:t>ワンさんは学生ですか。</a:t>
            </a:r>
            <a:br>
              <a:rPr lang="en-US" altLang="ja-JP" sz="2800" dirty="0"/>
            </a:br>
            <a:r>
              <a:rPr lang="ja-JP" altLang="en-US" sz="2800" dirty="0"/>
              <a:t>はい、学生です。／いいえ、学生</a:t>
            </a:r>
            <a:r>
              <a:rPr lang="ja-JP" altLang="en-US" sz="2800" dirty="0">
                <a:highlight>
                  <a:srgbClr val="FFFF00"/>
                </a:highlight>
              </a:rPr>
              <a:t>じゃありません</a:t>
            </a:r>
            <a:r>
              <a:rPr lang="ja-JP" altLang="en-US" sz="2800" dirty="0"/>
              <a:t>。</a:t>
            </a:r>
            <a:endParaRPr lang="en-US" sz="2800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4C5D7DA-C9A9-4BCD-9BCD-A029E7C3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2438400"/>
            <a:ext cx="8458200" cy="3886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ja-JP" altLang="en-US" sz="3200" dirty="0"/>
              <a:t>①</a:t>
            </a:r>
            <a:r>
              <a:rPr lang="en-US" altLang="ja-JP" sz="3200" dirty="0"/>
              <a:t>A</a:t>
            </a:r>
            <a:r>
              <a:rPr lang="ja-JP" altLang="en-US" sz="3200" dirty="0"/>
              <a:t>：</a:t>
            </a:r>
            <a:r>
              <a:rPr lang="ja-JP" altLang="en-US" sz="3200" dirty="0">
                <a:highlight>
                  <a:srgbClr val="FFFF00"/>
                </a:highlight>
              </a:rPr>
              <a:t>さとう</a:t>
            </a:r>
            <a:r>
              <a:rPr lang="ja-JP" altLang="en-US" sz="3200" dirty="0">
                <a:solidFill>
                  <a:srgbClr val="FF0000"/>
                </a:solidFill>
              </a:rPr>
              <a:t>さん</a:t>
            </a:r>
            <a:r>
              <a:rPr lang="ja-JP" altLang="en-US" sz="3200" dirty="0"/>
              <a:t>は　せんせいですか。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いいえ、＿＿せんせい </a:t>
            </a:r>
            <a:r>
              <a:rPr lang="en-US" altLang="ja-JP" sz="3200" dirty="0"/>
              <a:t>ja </a:t>
            </a:r>
            <a:r>
              <a:rPr lang="en-US" altLang="ja-JP" sz="3200" dirty="0" err="1"/>
              <a:t>arimasen</a:t>
            </a:r>
            <a:r>
              <a:rPr lang="ja-JP" altLang="en-US" sz="3200" dirty="0"/>
              <a:t>＿＿＿＿＿＿＿＿＿＿＿＿＿。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②</a:t>
            </a:r>
            <a:r>
              <a:rPr lang="en-US" altLang="ja-JP" sz="3200" dirty="0"/>
              <a:t>A:</a:t>
            </a:r>
            <a:r>
              <a:rPr lang="ja-JP" altLang="en-US" sz="3200" dirty="0"/>
              <a:t>パクさんは　かんこくじんですか。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はい、 </a:t>
            </a:r>
            <a:r>
              <a:rPr lang="en-US" altLang="ja-JP" sz="3200" dirty="0" err="1"/>
              <a:t>vâng</a:t>
            </a:r>
            <a:r>
              <a:rPr lang="en-US" altLang="ja-JP" sz="3200" dirty="0"/>
              <a:t> </a:t>
            </a:r>
            <a:r>
              <a:rPr lang="en-US" altLang="ja-JP" sz="3200" dirty="0" err="1"/>
              <a:t>thì</a:t>
            </a:r>
            <a:r>
              <a:rPr lang="en-US" altLang="ja-JP" sz="3200" dirty="0"/>
              <a:t> </a:t>
            </a:r>
            <a:r>
              <a:rPr lang="ja-JP" altLang="en-US" sz="3200" dirty="0"/>
              <a:t>＿かんこくじん</a:t>
            </a:r>
            <a:r>
              <a:rPr lang="en-US" altLang="ja-JP" sz="3200" dirty="0"/>
              <a:t> </a:t>
            </a:r>
            <a:r>
              <a:rPr lang="en-US" altLang="ja-JP" sz="3200" dirty="0" err="1"/>
              <a:t>desu</a:t>
            </a:r>
            <a:r>
              <a:rPr lang="ja-JP" altLang="en-US" sz="3200" dirty="0"/>
              <a:t>＿＿＿＿＿＿＿＿＿＿＿＿＿＿。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③</a:t>
            </a:r>
            <a:r>
              <a:rPr lang="en-US" altLang="ja-JP" sz="3200" dirty="0"/>
              <a:t>A:</a:t>
            </a:r>
            <a:r>
              <a:rPr lang="ja-JP" altLang="en-US" sz="3200" dirty="0"/>
              <a:t>ダニエルさんは　アメリカ人ですか。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いいえ、＿アメリカ人</a:t>
            </a:r>
            <a:r>
              <a:rPr lang="en-US" altLang="ja-JP" sz="3200" dirty="0"/>
              <a:t>ja </a:t>
            </a:r>
            <a:r>
              <a:rPr lang="en-US" altLang="ja-JP" sz="3200" dirty="0" err="1"/>
              <a:t>arimasen</a:t>
            </a:r>
            <a:r>
              <a:rPr lang="ja-JP" altLang="en-US" sz="3200" dirty="0"/>
              <a:t>＿＿＿＿＿＿＿＿＿＿＿＿＿＿。</a:t>
            </a:r>
            <a:endParaRPr lang="en-US" altLang="ja-JP" sz="32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A9217E8D-F37C-4349-AE58-F85C2F06E0F3}"/>
              </a:ext>
            </a:extLst>
          </p:cNvPr>
          <p:cNvSpPr/>
          <p:nvPr/>
        </p:nvSpPr>
        <p:spPr>
          <a:xfrm>
            <a:off x="1524001" y="0"/>
            <a:ext cx="914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２</a:t>
            </a:r>
            <a:r>
              <a:rPr lang="en-US" sz="2000" b="1" dirty="0"/>
              <a:t>:HOÀN THÀNH CÂU THEO MẪU</a:t>
            </a:r>
          </a:p>
        </p:txBody>
      </p:sp>
    </p:spTree>
    <p:extLst>
      <p:ext uri="{BB962C8B-B14F-4D97-AF65-F5344CB8AC3E}">
        <p14:creationId xmlns:p14="http://schemas.microsoft.com/office/powerpoint/2010/main" val="38547351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5EA2F7-0A32-4BA6-BEDF-2A659512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ja-JP" altLang="en-US" sz="2800" dirty="0"/>
              <a:t>ワンさんは学生ですか。</a:t>
            </a:r>
            <a:br>
              <a:rPr lang="en-US" altLang="ja-JP" sz="2800" dirty="0"/>
            </a:br>
            <a:r>
              <a:rPr lang="ja-JP" altLang="en-US" sz="2800" dirty="0"/>
              <a:t>はい、学生です。／いいえ、学生じゃありません。</a:t>
            </a:r>
            <a:endParaRPr lang="en-US" sz="2800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4C5D7DA-C9A9-4BCD-9BCD-A029E7C3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2438400"/>
            <a:ext cx="84582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④</a:t>
            </a:r>
            <a:r>
              <a:rPr lang="en-US" altLang="ja-JP" sz="3200" dirty="0"/>
              <a:t>A</a:t>
            </a:r>
            <a:r>
              <a:rPr lang="ja-JP" altLang="en-US" sz="3200" dirty="0"/>
              <a:t>：＿＿＿＿＿＿＿＿＿＿＿＿＿＿＿。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はい、学生す。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⑤</a:t>
            </a:r>
            <a:r>
              <a:rPr lang="en-US" altLang="ja-JP" sz="3200" dirty="0"/>
              <a:t>A</a:t>
            </a:r>
            <a:r>
              <a:rPr lang="ja-JP" altLang="en-US" sz="3200" dirty="0"/>
              <a:t> ： ＿＿＿で＿＿＿＿＿＿＿＿＿＿＿＿。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いいえ、かいしゃいん　じゃありません。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⑥</a:t>
            </a:r>
            <a:r>
              <a:rPr lang="en-US" altLang="ja-JP" sz="3200" dirty="0"/>
              <a:t>A:_</a:t>
            </a:r>
            <a:r>
              <a:rPr lang="ja-JP" altLang="en-US" sz="3200" dirty="0"/>
              <a:t>＿＿＿＿＿＿＿＿＿＿＿＿＿＿＿。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はい、日本人です。</a:t>
            </a:r>
            <a:endParaRPr lang="en-US" altLang="ja-JP" sz="32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A9217E8D-F37C-4349-AE58-F85C2F06E0F3}"/>
              </a:ext>
            </a:extLst>
          </p:cNvPr>
          <p:cNvSpPr/>
          <p:nvPr/>
        </p:nvSpPr>
        <p:spPr>
          <a:xfrm>
            <a:off x="1524001" y="0"/>
            <a:ext cx="914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２</a:t>
            </a:r>
            <a:r>
              <a:rPr lang="en-US" sz="2000" b="1" dirty="0"/>
              <a:t>:HOÀN THÀNH CÂU THEO MẪU</a:t>
            </a:r>
          </a:p>
        </p:txBody>
      </p:sp>
    </p:spTree>
    <p:extLst>
      <p:ext uri="{BB962C8B-B14F-4D97-AF65-F5344CB8AC3E}">
        <p14:creationId xmlns:p14="http://schemas.microsoft.com/office/powerpoint/2010/main" val="60500226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7C3E36C-6330-4B50-A325-2675348E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ABE96816-E989-4CA3-AAA5-EF3F3302CD0E}"/>
              </a:ext>
            </a:extLst>
          </p:cNvPr>
          <p:cNvSpPr/>
          <p:nvPr/>
        </p:nvSpPr>
        <p:spPr>
          <a:xfrm>
            <a:off x="1524001" y="0"/>
            <a:ext cx="914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３</a:t>
            </a:r>
            <a:r>
              <a:rPr lang="en-US" sz="2000" b="1" dirty="0"/>
              <a:t>:NHÌN TRANH RỒI VIẾT CÂU THEO MẪU</a:t>
            </a: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DEC69C3E-EDDB-49AF-9DEF-1C96FEF208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2500" t="18875" r="21667" b="17391"/>
          <a:stretch/>
        </p:blipFill>
        <p:spPr>
          <a:xfrm>
            <a:off x="1548633" y="685800"/>
            <a:ext cx="909473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22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4C5D7DA-C9A9-4BCD-9BCD-A029E7C3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447800"/>
            <a:ext cx="84582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①</a:t>
            </a:r>
            <a:r>
              <a:rPr lang="en-US" altLang="ja-JP" sz="3200" dirty="0"/>
              <a:t>A</a:t>
            </a:r>
            <a:r>
              <a:rPr lang="ja-JP" altLang="en-US" sz="3200" dirty="0"/>
              <a:t>：はじめまして。カルロスです。かいしゃいんです。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イレナです。私も＿＿＿＿＿＿。よろしく　おねがいします。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②</a:t>
            </a:r>
            <a:r>
              <a:rPr lang="en-US" altLang="ja-JP" sz="3200" dirty="0"/>
              <a:t>A:</a:t>
            </a:r>
            <a:r>
              <a:rPr lang="ja-JP" altLang="en-US" sz="3200" dirty="0"/>
              <a:t>あのう、すみません。おしごとは？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B:</a:t>
            </a:r>
            <a:r>
              <a:rPr lang="ja-JP" altLang="en-US" sz="3200" dirty="0"/>
              <a:t>こうこうの　きょうしです。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A:</a:t>
            </a:r>
            <a:r>
              <a:rPr lang="ja-JP" altLang="en-US" sz="3200" dirty="0"/>
              <a:t>あ、私も＿＿＿＿＿＿＿＿＿＿＿＿。さくら　こうこうの　きょうしです。</a:t>
            </a:r>
            <a:endParaRPr lang="en-US" altLang="ja-JP" sz="32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A9217E8D-F37C-4349-AE58-F85C2F06E0F3}"/>
              </a:ext>
            </a:extLst>
          </p:cNvPr>
          <p:cNvSpPr/>
          <p:nvPr/>
        </p:nvSpPr>
        <p:spPr>
          <a:xfrm>
            <a:off x="1524001" y="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４</a:t>
            </a:r>
            <a:r>
              <a:rPr lang="en-US" sz="2000" b="1" dirty="0"/>
              <a:t>:HOÀN THÀNH CÂU	</a:t>
            </a:r>
          </a:p>
        </p:txBody>
      </p:sp>
    </p:spTree>
    <p:extLst>
      <p:ext uri="{BB962C8B-B14F-4D97-AF65-F5344CB8AC3E}">
        <p14:creationId xmlns:p14="http://schemas.microsoft.com/office/powerpoint/2010/main" val="412247634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4C5D7DA-C9A9-4BCD-9BCD-A029E7C3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0" y="1752600"/>
            <a:ext cx="8763000" cy="3200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4000" dirty="0"/>
              <a:t>①</a:t>
            </a:r>
            <a:r>
              <a:rPr lang="en-US" altLang="ja-JP" sz="4000" dirty="0"/>
              <a:t>A</a:t>
            </a:r>
            <a:r>
              <a:rPr lang="ja-JP" altLang="en-US" sz="4000" dirty="0"/>
              <a:t>：たんじょうびは　＿</a:t>
            </a:r>
            <a:r>
              <a:rPr lang="en-US" altLang="ja-JP" sz="4000" dirty="0" err="1"/>
              <a:t>i</a:t>
            </a:r>
            <a:r>
              <a:rPr lang="en-US" altLang="ja-JP" sz="4000" dirty="0"/>
              <a:t> </a:t>
            </a:r>
            <a:r>
              <a:rPr lang="en-US" altLang="ja-JP" sz="4000" dirty="0" err="1"/>
              <a:t>su</a:t>
            </a:r>
            <a:r>
              <a:rPr lang="ja-JP" altLang="en-US" sz="4000" dirty="0"/>
              <a:t>＿＿＿＿ですか。</a:t>
            </a:r>
            <a:endParaRPr lang="en-US" altLang="ja-JP" sz="4000" dirty="0"/>
          </a:p>
          <a:p>
            <a:pPr marL="0" indent="0">
              <a:buNone/>
            </a:pPr>
            <a:r>
              <a:rPr lang="en-US" altLang="ja-JP" sz="4000" dirty="0"/>
              <a:t>B:</a:t>
            </a:r>
            <a:r>
              <a:rPr lang="ja-JP" altLang="en-US" sz="4000" dirty="0"/>
              <a:t>５がつ　１５にちです。</a:t>
            </a:r>
            <a:endParaRPr lang="en-US" altLang="ja-JP" sz="4000" dirty="0"/>
          </a:p>
          <a:p>
            <a:pPr marL="0" indent="0">
              <a:buNone/>
            </a:pPr>
            <a:r>
              <a:rPr lang="en-US" altLang="ja-JP" sz="4000" dirty="0"/>
              <a:t>A:</a:t>
            </a:r>
            <a:r>
              <a:rPr lang="ja-JP" altLang="en-US" sz="4000" dirty="0"/>
              <a:t>５がつですか。＿＿</a:t>
            </a:r>
            <a:r>
              <a:rPr lang="ja-JP" altLang="en-US" sz="4000" dirty="0">
                <a:highlight>
                  <a:srgbClr val="FFFF00"/>
                </a:highlight>
              </a:rPr>
              <a:t>＿＿＿＿＿＿</a:t>
            </a:r>
            <a:r>
              <a:rPr lang="ja-JP" altLang="en-US" sz="4000" dirty="0"/>
              <a:t>＿＿。おなじですね。</a:t>
            </a:r>
            <a:endParaRPr lang="en-US" altLang="ja-JP" sz="40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A9217E8D-F37C-4349-AE58-F85C2F06E0F3}"/>
              </a:ext>
            </a:extLst>
          </p:cNvPr>
          <p:cNvSpPr/>
          <p:nvPr/>
        </p:nvSpPr>
        <p:spPr>
          <a:xfrm>
            <a:off x="1524000" y="45720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４</a:t>
            </a:r>
            <a:r>
              <a:rPr lang="en-US" sz="2000" b="1" dirty="0"/>
              <a:t>:HOÀN THÀNH CÂU	</a:t>
            </a:r>
          </a:p>
        </p:txBody>
      </p:sp>
    </p:spTree>
    <p:extLst>
      <p:ext uri="{BB962C8B-B14F-4D97-AF65-F5344CB8AC3E}">
        <p14:creationId xmlns:p14="http://schemas.microsoft.com/office/powerpoint/2010/main" val="77269991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022786-0314-4AE7-BB01-94714483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8DB9F73-C1B2-4D07-9BAB-3A124F632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13F7C142-D6FB-4BA7-B9AF-0ED66171E5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0833" t="45553" r="20000" b="15910"/>
          <a:stretch/>
        </p:blipFill>
        <p:spPr>
          <a:xfrm>
            <a:off x="1153668" y="838200"/>
            <a:ext cx="9144000" cy="5486400"/>
          </a:xfrm>
          <a:prstGeom prst="rect">
            <a:avLst/>
          </a:prstGeom>
        </p:spPr>
      </p:pic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2C7F8EA0-79E2-4266-A7C0-418DF7FFDF2C}"/>
              </a:ext>
            </a:extLst>
          </p:cNvPr>
          <p:cNvSpPr/>
          <p:nvPr/>
        </p:nvSpPr>
        <p:spPr>
          <a:xfrm>
            <a:off x="1524001" y="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５：</a:t>
            </a:r>
            <a:r>
              <a:rPr lang="en-US" sz="2000" b="1" dirty="0"/>
              <a:t>CHỌN CÂU TRONG HỘP ĐIỀN VÀO CHỖ TRỐNG	</a:t>
            </a:r>
          </a:p>
        </p:txBody>
      </p:sp>
    </p:spTree>
    <p:extLst>
      <p:ext uri="{BB962C8B-B14F-4D97-AF65-F5344CB8AC3E}">
        <p14:creationId xmlns:p14="http://schemas.microsoft.com/office/powerpoint/2010/main" val="384715896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99C6516-EB11-423E-84CA-366B1C72F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-JP" altLang="en-US" sz="2800" dirty="0"/>
              <a:t>①</a:t>
            </a:r>
            <a:r>
              <a:rPr lang="en-US" altLang="ja-JP" sz="2800" dirty="0"/>
              <a:t>【</a:t>
            </a:r>
            <a:r>
              <a:rPr lang="ja-JP" altLang="en-US" sz="2800" dirty="0"/>
              <a:t>私／です／は／マリヤム</a:t>
            </a:r>
            <a:r>
              <a:rPr lang="en-US" altLang="ja-JP" sz="2800" dirty="0"/>
              <a:t>】</a:t>
            </a:r>
            <a:br>
              <a:rPr lang="en-US" altLang="ja-JP" sz="2800" dirty="0"/>
            </a:b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br>
              <a:rPr lang="en-US" altLang="ja-JP" sz="2800" dirty="0"/>
            </a:br>
            <a:r>
              <a:rPr lang="ja-JP" altLang="en-US" sz="2800" dirty="0"/>
              <a:t>②</a:t>
            </a:r>
            <a:r>
              <a:rPr lang="en-US" altLang="ja-JP" sz="2800" dirty="0"/>
              <a:t>【</a:t>
            </a:r>
            <a:r>
              <a:rPr lang="ja-JP" altLang="en-US" sz="2800" dirty="0"/>
              <a:t>じゃありません／私／かいしゃいん／は</a:t>
            </a:r>
            <a:r>
              <a:rPr lang="en-US" altLang="ja-JP" sz="2800" dirty="0"/>
              <a:t>】</a:t>
            </a:r>
            <a:br>
              <a:rPr lang="en-US" altLang="ja-JP" sz="2800" dirty="0"/>
            </a:b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br>
              <a:rPr lang="en-US" altLang="ja-JP" sz="2800" dirty="0"/>
            </a:br>
            <a:r>
              <a:rPr lang="ja-JP" altLang="en-US" sz="2800" dirty="0"/>
              <a:t>③</a:t>
            </a:r>
            <a:r>
              <a:rPr lang="en-US" altLang="ja-JP" sz="2800" dirty="0"/>
              <a:t>【</a:t>
            </a:r>
            <a:r>
              <a:rPr lang="ja-JP" altLang="en-US" sz="2800" dirty="0"/>
              <a:t>さとうさん／です／は／学生／の／ふじみ大学</a:t>
            </a:r>
            <a:r>
              <a:rPr lang="en-US" altLang="ja-JP" sz="2800" dirty="0"/>
              <a:t>】</a:t>
            </a:r>
            <a:br>
              <a:rPr lang="en-US" altLang="ja-JP" sz="2800" dirty="0"/>
            </a:b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endParaRPr lang="en-US" sz="28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51AB5B3F-31AC-4672-97A6-7E50F0B05175}"/>
              </a:ext>
            </a:extLst>
          </p:cNvPr>
          <p:cNvSpPr/>
          <p:nvPr/>
        </p:nvSpPr>
        <p:spPr>
          <a:xfrm>
            <a:off x="1524001" y="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６：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trật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56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C634780-A737-4ACD-8B2D-A41C4DF62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029200"/>
          </a:xfrm>
        </p:spPr>
        <p:txBody>
          <a:bodyPr>
            <a:normAutofit/>
          </a:bodyPr>
          <a:lstStyle/>
          <a:p>
            <a:endParaRPr lang="en-US" sz="2800" b="1" dirty="0"/>
          </a:p>
          <a:p>
            <a:pPr marL="0" indent="0">
              <a:buNone/>
            </a:pPr>
            <a:r>
              <a:rPr lang="ja-JP" altLang="en-US" sz="2800" dirty="0"/>
              <a:t>①</a:t>
            </a:r>
            <a:r>
              <a:rPr lang="en-US" sz="2800" dirty="0" err="1"/>
              <a:t>Tôi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Lan. </a:t>
            </a:r>
          </a:p>
          <a:p>
            <a:pPr marL="0" indent="0">
              <a:buNone/>
            </a:pP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endParaRPr lang="en-US" sz="2800" dirty="0"/>
          </a:p>
          <a:p>
            <a:pPr marL="0" indent="0">
              <a:buNone/>
            </a:pPr>
            <a:r>
              <a:rPr lang="ja-JP" altLang="en-US" sz="2800" dirty="0"/>
              <a:t>②</a:t>
            </a:r>
            <a:r>
              <a:rPr lang="en-US" sz="2800" dirty="0" err="1"/>
              <a:t>Tôi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tr</a:t>
            </a:r>
            <a:r>
              <a:rPr lang="vi-VN" sz="2800" dirty="0"/>
              <a:t>ư</a:t>
            </a:r>
            <a:r>
              <a:rPr lang="en-US" sz="2800" dirty="0" err="1"/>
              <a:t>ờng</a:t>
            </a:r>
            <a:r>
              <a:rPr lang="en-US" sz="2800" dirty="0"/>
              <a:t> </a:t>
            </a:r>
            <a:r>
              <a:rPr lang="en-US" sz="2800" dirty="0" err="1"/>
              <a:t>Đại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 FPT. </a:t>
            </a:r>
          </a:p>
          <a:p>
            <a:pPr marL="0" indent="0">
              <a:buNone/>
            </a:pP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endParaRPr lang="en-US" sz="2800" dirty="0"/>
          </a:p>
          <a:p>
            <a:pPr marL="0" indent="0">
              <a:buNone/>
            </a:pPr>
            <a:r>
              <a:rPr lang="ja-JP" altLang="en-US" sz="2800" dirty="0"/>
              <a:t>③</a:t>
            </a:r>
            <a:r>
              <a:rPr lang="en-US" sz="2800" dirty="0" err="1"/>
              <a:t>Rất</a:t>
            </a:r>
            <a:r>
              <a:rPr lang="en-US" sz="2800" dirty="0"/>
              <a:t> </a:t>
            </a:r>
            <a:r>
              <a:rPr lang="en-US" sz="2800" dirty="0" err="1"/>
              <a:t>mong</a:t>
            </a:r>
            <a:r>
              <a:rPr lang="en-US" sz="2800" dirty="0"/>
              <a:t> </a:t>
            </a:r>
            <a:r>
              <a:rPr lang="en-US" sz="2800" dirty="0" err="1"/>
              <a:t>nhận</a:t>
            </a:r>
            <a:r>
              <a:rPr lang="en-US" sz="2800" dirty="0"/>
              <a:t> đ</a:t>
            </a:r>
            <a:r>
              <a:rPr lang="vi-VN" sz="2800" dirty="0"/>
              <a:t>ư</a:t>
            </a:r>
            <a:r>
              <a:rPr lang="en-US" sz="2800" dirty="0" err="1"/>
              <a:t>ợc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giúp</a:t>
            </a:r>
            <a:r>
              <a:rPr lang="en-US" sz="2800" dirty="0"/>
              <a:t> </a:t>
            </a:r>
            <a:r>
              <a:rPr lang="en-US" sz="2800" dirty="0" err="1"/>
              <a:t>đỡ</a:t>
            </a:r>
            <a:r>
              <a:rPr lang="ja-JP" altLang="en-US" sz="2800" dirty="0"/>
              <a:t>　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④</a:t>
            </a:r>
            <a:r>
              <a:rPr lang="en-US" sz="2800" dirty="0" err="1"/>
              <a:t>Cô</a:t>
            </a:r>
            <a:r>
              <a:rPr lang="en-US" sz="2800" dirty="0"/>
              <a:t> </a:t>
            </a:r>
            <a:r>
              <a:rPr lang="en-US" sz="2800" dirty="0" err="1"/>
              <a:t>Hà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giáo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</a:t>
            </a:r>
            <a:r>
              <a:rPr lang="en-US" sz="2800" dirty="0" err="1"/>
              <a:t>tiếng</a:t>
            </a:r>
            <a:r>
              <a:rPr lang="en-US" sz="2800" dirty="0"/>
              <a:t> </a:t>
            </a:r>
            <a:r>
              <a:rPr lang="en-US" sz="2800" dirty="0" err="1"/>
              <a:t>Nhật</a:t>
            </a:r>
            <a:r>
              <a:rPr lang="en-US" sz="2800" dirty="0"/>
              <a:t>.</a:t>
            </a:r>
            <a:r>
              <a:rPr lang="ja-JP" altLang="en-US" sz="2800" dirty="0"/>
              <a:t>　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/>
              <a:t>→</a:t>
            </a:r>
            <a:r>
              <a:rPr lang="en-US" altLang="ja-JP" sz="2800" dirty="0"/>
              <a:t>________________________________________</a:t>
            </a:r>
            <a:r>
              <a:rPr lang="ja-JP" altLang="en-US" sz="2800" dirty="0"/>
              <a:t>。</a:t>
            </a:r>
            <a:endParaRPr lang="en-US" sz="2800" dirty="0"/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DBAE66CC-BCF1-4474-A9CA-0F491E3A3FFC}"/>
              </a:ext>
            </a:extLst>
          </p:cNvPr>
          <p:cNvSpPr/>
          <p:nvPr/>
        </p:nvSpPr>
        <p:spPr>
          <a:xfrm>
            <a:off x="1524000" y="45720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5:DỊCH CÁC CÂU SAU SANG TIẾNG NHẬT	</a:t>
            </a:r>
          </a:p>
        </p:txBody>
      </p:sp>
    </p:spTree>
    <p:extLst>
      <p:ext uri="{BB962C8B-B14F-4D97-AF65-F5344CB8AC3E}">
        <p14:creationId xmlns:p14="http://schemas.microsoft.com/office/powerpoint/2010/main" val="270936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8263DCE-0986-4568-8860-098B2DDD6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3CEBAD50-FDEC-4D70-AF01-57C2C91919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833" t="21456" r="35833" b="35178"/>
          <a:stretch/>
        </p:blipFill>
        <p:spPr>
          <a:xfrm>
            <a:off x="1755077" y="1143000"/>
            <a:ext cx="8681846" cy="5486400"/>
          </a:xfrm>
          <a:prstGeom prst="rect">
            <a:avLst/>
          </a:prstGeom>
        </p:spPr>
      </p:pic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259A9082-9485-4DF6-B8B8-DB3E803F3DF3}"/>
              </a:ext>
            </a:extLst>
          </p:cNvPr>
          <p:cNvSpPr/>
          <p:nvPr/>
        </p:nvSpPr>
        <p:spPr>
          <a:xfrm>
            <a:off x="1514856" y="11430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６</a:t>
            </a:r>
            <a:r>
              <a:rPr lang="en-US" sz="2000" b="1" dirty="0"/>
              <a:t>:CHỌN PH</a:t>
            </a:r>
            <a:r>
              <a:rPr lang="vi-VN" sz="2000" b="1" dirty="0"/>
              <a:t>Ư</a:t>
            </a:r>
            <a:r>
              <a:rPr lang="en-US" sz="2000" b="1" dirty="0"/>
              <a:t>ƠNG ÁN ĐÚNG	</a:t>
            </a:r>
          </a:p>
        </p:txBody>
      </p:sp>
    </p:spTree>
    <p:extLst>
      <p:ext uri="{BB962C8B-B14F-4D97-AF65-F5344CB8AC3E}">
        <p14:creationId xmlns:p14="http://schemas.microsoft.com/office/powerpoint/2010/main" val="305510195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A5367527-2F41-4484-9F1B-1D0CD7F4B2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833" t="64822" r="10000" b="8498"/>
          <a:stretch/>
        </p:blipFill>
        <p:spPr>
          <a:xfrm>
            <a:off x="1600200" y="1828802"/>
            <a:ext cx="8915400" cy="3200399"/>
          </a:xfrm>
          <a:prstGeom prst="rect">
            <a:avLst/>
          </a:prstGeom>
        </p:spPr>
      </p:pic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C2D99852-A72A-4E30-80AD-F153C03347F9}"/>
              </a:ext>
            </a:extLst>
          </p:cNvPr>
          <p:cNvSpPr/>
          <p:nvPr/>
        </p:nvSpPr>
        <p:spPr>
          <a:xfrm>
            <a:off x="1514856" y="114300"/>
            <a:ext cx="9144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BÀI </a:t>
            </a:r>
            <a:r>
              <a:rPr lang="ja-JP" altLang="en-US" sz="2000" b="1" dirty="0"/>
              <a:t>６</a:t>
            </a:r>
            <a:r>
              <a:rPr lang="en-US" sz="2000" b="1" dirty="0"/>
              <a:t>:CHỌN PH</a:t>
            </a:r>
            <a:r>
              <a:rPr lang="vi-VN" sz="2000" b="1" dirty="0"/>
              <a:t>Ư</a:t>
            </a:r>
            <a:r>
              <a:rPr lang="en-US" sz="2000" b="1" dirty="0"/>
              <a:t>ƠNG ÁN ĐÚNG	</a:t>
            </a:r>
          </a:p>
        </p:txBody>
      </p:sp>
    </p:spTree>
    <p:extLst>
      <p:ext uri="{BB962C8B-B14F-4D97-AF65-F5344CB8AC3E}">
        <p14:creationId xmlns:p14="http://schemas.microsoft.com/office/powerpoint/2010/main" val="14209613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0377" y="399975"/>
            <a:ext cx="10617958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S2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も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　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N</a:t>
            </a:r>
            <a:r>
              <a:rPr lang="ja-JP" alt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です。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 S2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cũng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 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là</a:t>
            </a:r>
            <a:r>
              <a:rPr lang="vi-VN" altLang="ja-JP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NtMotoyaKyotai" pitchFamily="18" charset="-128"/>
                <a:cs typeface="Times New Roman" panose="02020603050405020304" pitchFamily="18" charset="0"/>
              </a:rPr>
              <a:t> N</a:t>
            </a:r>
            <a:endParaRPr lang="en-US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ea typeface="NtMotoyaKyotai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23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15470" y="1077853"/>
            <a:ext cx="4484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/>
              <a:t>Bạn</a:t>
            </a:r>
            <a:r>
              <a:rPr lang="en-US" sz="2000" i="1" dirty="0"/>
              <a:t> Lan </a:t>
            </a:r>
            <a:r>
              <a:rPr lang="en-US" sz="2000" i="1" dirty="0" err="1"/>
              <a:t>có</a:t>
            </a:r>
            <a:r>
              <a:rPr lang="en-US" sz="2000" i="1" dirty="0"/>
              <a:t> </a:t>
            </a:r>
            <a:r>
              <a:rPr lang="en-US" sz="2000" i="1" dirty="0" err="1"/>
              <a:t>phải</a:t>
            </a:r>
            <a:r>
              <a:rPr lang="en-US" sz="2000" i="1" dirty="0"/>
              <a:t> </a:t>
            </a:r>
            <a:r>
              <a:rPr lang="en-US" sz="2000" i="1" dirty="0" err="1"/>
              <a:t>là</a:t>
            </a:r>
            <a:r>
              <a:rPr lang="en-US" sz="2000" i="1" dirty="0"/>
              <a:t> </a:t>
            </a:r>
            <a:r>
              <a:rPr lang="en-US" sz="2000" i="1" dirty="0" err="1"/>
              <a:t>học</a:t>
            </a:r>
            <a:r>
              <a:rPr lang="en-US" sz="2000" i="1" dirty="0"/>
              <a:t> sinh </a:t>
            </a:r>
            <a:r>
              <a:rPr lang="en-US" sz="2000" i="1" dirty="0" err="1"/>
              <a:t>không</a:t>
            </a:r>
            <a:r>
              <a:rPr lang="en-US" sz="2000" i="1" dirty="0"/>
              <a:t>?.</a:t>
            </a:r>
          </a:p>
        </p:txBody>
      </p:sp>
      <p:sp>
        <p:nvSpPr>
          <p:cNvPr id="3" name="TextBox 21"/>
          <p:cNvSpPr txBox="1">
            <a:spLocks noChangeArrowheads="1"/>
          </p:cNvSpPr>
          <p:nvPr/>
        </p:nvSpPr>
        <p:spPr bwMode="auto">
          <a:xfrm>
            <a:off x="1117600" y="328920"/>
            <a:ext cx="75270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Lan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さんは　がくせい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722705" y="2522227"/>
            <a:ext cx="4484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/>
              <a:t>Vâng</a:t>
            </a:r>
            <a:r>
              <a:rPr lang="en-US" sz="2000" i="1" dirty="0"/>
              <a:t>, (</a:t>
            </a:r>
            <a:r>
              <a:rPr lang="en-US" sz="2000" i="1" dirty="0" err="1"/>
              <a:t>bạn</a:t>
            </a:r>
            <a:r>
              <a:rPr lang="en-US" sz="2000" i="1" dirty="0"/>
              <a:t> Lan) </a:t>
            </a:r>
            <a:r>
              <a:rPr lang="en-US" sz="2000" i="1" dirty="0" err="1"/>
              <a:t>là</a:t>
            </a:r>
            <a:r>
              <a:rPr lang="en-US" sz="2000" i="1" dirty="0"/>
              <a:t> </a:t>
            </a:r>
            <a:r>
              <a:rPr lang="en-US" sz="2000" i="1" dirty="0" err="1"/>
              <a:t>học</a:t>
            </a:r>
            <a:r>
              <a:rPr lang="en-US" sz="2000" i="1" dirty="0"/>
              <a:t> sinh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644762" y="3095022"/>
            <a:ext cx="44840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/>
              <a:t>Vâng</a:t>
            </a:r>
            <a:r>
              <a:rPr lang="en-US" sz="2000" i="1" dirty="0"/>
              <a:t>, </a:t>
            </a:r>
            <a:r>
              <a:rPr lang="vi-VN" sz="2000" i="1" dirty="0">
                <a:solidFill>
                  <a:srgbClr val="FF0000"/>
                </a:solidFill>
              </a:rPr>
              <a:t>đúng vậy</a:t>
            </a:r>
            <a:r>
              <a:rPr lang="vi-VN" sz="2000" i="1" dirty="0"/>
              <a:t>.</a:t>
            </a:r>
            <a:endParaRPr lang="en-US" sz="2000" i="1" dirty="0"/>
          </a:p>
        </p:txBody>
      </p:sp>
      <p:sp>
        <p:nvSpPr>
          <p:cNvPr id="12" name="TextBox 21"/>
          <p:cNvSpPr txBox="1">
            <a:spLocks noChangeArrowheads="1"/>
          </p:cNvSpPr>
          <p:nvPr/>
        </p:nvSpPr>
        <p:spPr bwMode="auto">
          <a:xfrm>
            <a:off x="1241235" y="2922337"/>
            <a:ext cx="47239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はい、</a:t>
            </a:r>
            <a:r>
              <a:rPr lang="ja-JP" altLang="en-US" sz="3600" b="1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8" name="Picture 2" descr="疑問・質問を考える可愛い女性のイラスト | 無料フリーイラスト素材集【Frame illust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386" y="1813982"/>
            <a:ext cx="1867673" cy="249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220856" y="5758002"/>
            <a:ext cx="49787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/>
              <a:t>Không</a:t>
            </a:r>
            <a:r>
              <a:rPr lang="en-US" sz="2000" i="1" dirty="0"/>
              <a:t>, </a:t>
            </a:r>
            <a:r>
              <a:rPr lang="vi-VN" sz="2000" i="1" dirty="0"/>
              <a:t>sai rồi</a:t>
            </a:r>
            <a:endParaRPr lang="en-US" sz="2000" i="1" dirty="0"/>
          </a:p>
        </p:txBody>
      </p:sp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1294243" y="5592169"/>
            <a:ext cx="4843834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いいえ、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ちがいます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320794" y="5075731"/>
            <a:ext cx="49787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/>
              <a:t>Không</a:t>
            </a:r>
            <a:r>
              <a:rPr lang="en-US" sz="2000" i="1" dirty="0"/>
              <a:t>, (</a:t>
            </a:r>
            <a:r>
              <a:rPr lang="en-US" sz="2000" i="1" dirty="0" err="1"/>
              <a:t>bạn</a:t>
            </a:r>
            <a:r>
              <a:rPr lang="en-US" sz="2000" i="1" dirty="0"/>
              <a:t> Lan) </a:t>
            </a:r>
            <a:r>
              <a:rPr lang="en-US" sz="2000" i="1" dirty="0" err="1"/>
              <a:t>không</a:t>
            </a:r>
            <a:r>
              <a:rPr lang="en-US" sz="2000" i="1" dirty="0"/>
              <a:t> </a:t>
            </a:r>
            <a:r>
              <a:rPr lang="en-US" sz="2000" i="1" dirty="0" err="1"/>
              <a:t>phải</a:t>
            </a:r>
            <a:r>
              <a:rPr lang="en-US" sz="2000" i="1" dirty="0"/>
              <a:t> </a:t>
            </a:r>
            <a:r>
              <a:rPr lang="en-US" sz="2000" i="1" dirty="0" err="1"/>
              <a:t>là</a:t>
            </a:r>
            <a:r>
              <a:rPr lang="en-US" sz="2000" i="1" dirty="0"/>
              <a:t> </a:t>
            </a:r>
            <a:r>
              <a:rPr lang="en-US" sz="2000" i="1" dirty="0" err="1"/>
              <a:t>học</a:t>
            </a:r>
            <a:r>
              <a:rPr lang="en-US" sz="2000" i="1" dirty="0"/>
              <a:t> sinh</a:t>
            </a:r>
          </a:p>
        </p:txBody>
      </p:sp>
      <p:sp>
        <p:nvSpPr>
          <p:cNvPr id="14" name="TextBox 21"/>
          <p:cNvSpPr txBox="1">
            <a:spLocks noChangeArrowheads="1"/>
          </p:cNvSpPr>
          <p:nvPr/>
        </p:nvSpPr>
        <p:spPr bwMode="auto">
          <a:xfrm>
            <a:off x="1233550" y="4335049"/>
            <a:ext cx="104951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いいえ、（</a:t>
            </a:r>
            <a:r>
              <a:rPr lang="en-US" altLang="ja-JP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Lan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さんは）がくせい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じゃありません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1300" y="109175"/>
            <a:ext cx="876300" cy="9271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271033" y="1588978"/>
            <a:ext cx="876300" cy="9271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B</a:t>
            </a:r>
            <a:r>
              <a:rPr lang="en-US" altLang="ja-JP" sz="4000" dirty="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1241235" y="1711971"/>
            <a:ext cx="893615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はい、（</a:t>
            </a:r>
            <a:r>
              <a:rPr lang="en-US" altLang="ja-JP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Lan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さんは）がくせい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1033" y="2755254"/>
            <a:ext cx="876300" cy="92710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B</a:t>
            </a:r>
            <a:r>
              <a:rPr lang="en-US" altLang="ja-JP" sz="4400" dirty="0"/>
              <a:t>2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285567" y="4148631"/>
            <a:ext cx="876300" cy="9271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>
                <a:solidFill>
                  <a:schemeClr val="tx1"/>
                </a:solidFill>
              </a:rPr>
              <a:t>B3</a:t>
            </a:r>
            <a:endParaRPr lang="vi-VN" altLang="ja-JP" sz="440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5164" y="5345634"/>
            <a:ext cx="876300" cy="9271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B4</a:t>
            </a:r>
            <a:endParaRPr lang="vi-VN" altLang="ja-JP" sz="4400" dirty="0"/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251064" y="6328575"/>
            <a:ext cx="117740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sz="20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※</a:t>
            </a:r>
            <a:r>
              <a:rPr lang="ja-JP" altLang="en-US" sz="20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　ちがいます</a:t>
            </a:r>
            <a:r>
              <a:rPr lang="vi-VN" altLang="ja-JP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=</a:t>
            </a:r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そうではありません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17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1" grpId="0"/>
      <p:bldP spid="12" grpId="0"/>
      <p:bldP spid="9" grpId="0"/>
      <p:bldP spid="10" grpId="0"/>
      <p:bldP spid="13" grpId="0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3820A-AB2C-0007-4C5E-9E0BA3590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08" y="308113"/>
            <a:ext cx="10631384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1131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882A3-41D3-E69E-17B1-3A73AD4C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87" y="8569"/>
            <a:ext cx="1039322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00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9.0&quot;&gt;&lt;object type=&quot;1&quot; unique_id=&quot;10001&quot;&gt;&lt;object type=&quot;8&quot; unique_id=&quot;15230&quot;&gt;&lt;/object&gt;&lt;object type=&quot;2&quot; unique_id=&quot;15231&quot;&gt;&lt;object type=&quot;3&quot; unique_id=&quot;15232&quot;&gt;&lt;property id=&quot;20148&quot; value=&quot;5&quot;/&gt;&lt;property id=&quot;20300&quot; value=&quot;Slide 1&quot;/&gt;&lt;property id=&quot;20307&quot; value=&quot;256&quot;/&gt;&lt;/object&gt;&lt;object type=&quot;3&quot; unique_id=&quot;15233&quot;&gt;&lt;property id=&quot;20148&quot; value=&quot;5&quot;/&gt;&lt;property id=&quot;20300&quot; value=&quot;Slide 2&quot;/&gt;&lt;property id=&quot;20307&quot; value=&quot;257&quot;/&gt;&lt;/object&gt;&lt;object type=&quot;3&quot; unique_id=&quot;15234&quot;&gt;&lt;property id=&quot;20148&quot; value=&quot;5&quot;/&gt;&lt;property id=&quot;20300&quot; value=&quot;Slide 3&quot;/&gt;&lt;property id=&quot;20307&quot; value=&quot;258&quot;/&gt;&lt;/object&gt;&lt;object type=&quot;3&quot; unique_id=&quot;15235&quot;&gt;&lt;property id=&quot;20148&quot; value=&quot;5&quot;/&gt;&lt;property id=&quot;20300&quot; value=&quot;Slide 5 - &amp;quot;新しい言葉 NEW WORDS&amp;quot;&quot;/&gt;&lt;property id=&quot;20307&quot; value=&quot;259&quot;/&gt;&lt;/object&gt;&lt;object type=&quot;3&quot; unique_id=&quot;15236&quot;&gt;&lt;property id=&quot;20148&quot; value=&quot;5&quot;/&gt;&lt;property id=&quot;20300&quot; value=&quot;Slide 6&quot;/&gt;&lt;property id=&quot;20307&quot; value=&quot;260&quot;/&gt;&lt;/object&gt;&lt;object type=&quot;3&quot; unique_id=&quot;15237&quot;&gt;&lt;property id=&quot;20148&quot; value=&quot;5&quot;/&gt;&lt;property id=&quot;20300&quot; value=&quot;Slide 7&quot;/&gt;&lt;property id=&quot;20307&quot; value=&quot;261&quot;/&gt;&lt;/object&gt;&lt;object type=&quot;3&quot; unique_id=&quot;15371&quot;&gt;&lt;property id=&quot;20148&quot; value=&quot;5&quot;/&gt;&lt;property id=&quot;20300&quot; value=&quot;Slide 12&quot;/&gt;&lt;property id=&quot;20307&quot; value=&quot;262&quot;/&gt;&lt;/object&gt;&lt;object type=&quot;3&quot; unique_id=&quot;15426&quot;&gt;&lt;property id=&quot;20148&quot; value=&quot;5&quot;/&gt;&lt;property id=&quot;20300&quot; value=&quot;Slide 13&quot;/&gt;&lt;property id=&quot;20307&quot; value=&quot;263&quot;/&gt;&lt;/object&gt;&lt;object type=&quot;3&quot; unique_id=&quot;15427&quot;&gt;&lt;property id=&quot;20148&quot; value=&quot;5&quot;/&gt;&lt;property id=&quot;20300&quot; value=&quot;Slide 8&quot;/&gt;&lt;property id=&quot;20307&quot; value=&quot;264&quot;/&gt;&lt;/object&gt;&lt;object type=&quot;3&quot; unique_id=&quot;15428&quot;&gt;&lt;property id=&quot;20148&quot; value=&quot;5&quot;/&gt;&lt;property id=&quot;20300&quot; value=&quot;Slide 15&quot;/&gt;&lt;property id=&quot;20307&quot; value=&quot;265&quot;/&gt;&lt;/object&gt;&lt;object type=&quot;3&quot; unique_id=&quot;15429&quot;&gt;&lt;property id=&quot;20148&quot; value=&quot;5&quot;/&gt;&lt;property id=&quot;20300&quot; value=&quot;Slide 18&quot;/&gt;&lt;property id=&quot;20307&quot; value=&quot;266&quot;/&gt;&lt;/object&gt;&lt;object type=&quot;3&quot; unique_id=&quot;15521&quot;&gt;&lt;property id=&quot;20148&quot; value=&quot;5&quot;/&gt;&lt;property id=&quot;20300&quot; value=&quot;Slide 14&quot;/&gt;&lt;property id=&quot;20307&quot; value=&quot;267&quot;/&gt;&lt;/object&gt;&lt;object type=&quot;3&quot; unique_id=&quot;15634&quot;&gt;&lt;property id=&quot;20148&quot; value=&quot;5&quot;/&gt;&lt;property id=&quot;20300&quot; value=&quot;Slide 16&quot;/&gt;&lt;property id=&quot;20307&quot; value=&quot;268&quot;/&gt;&lt;/object&gt;&lt;object type=&quot;3&quot; unique_id=&quot;15740&quot;&gt;&lt;property id=&quot;20148&quot; value=&quot;5&quot;/&gt;&lt;property id=&quot;20300&quot; value=&quot;Slide 19&quot;/&gt;&lt;property id=&quot;20307&quot; value=&quot;269&quot;/&gt;&lt;/object&gt;&lt;object type=&quot;3&quot; unique_id=&quot;15851&quot;&gt;&lt;property id=&quot;20148&quot; value=&quot;5&quot;/&gt;&lt;property id=&quot;20300&quot; value=&quot;Slide 9&quot;/&gt;&lt;property id=&quot;20307&quot; value=&quot;273&quot;/&gt;&lt;/object&gt;&lt;object type=&quot;3&quot; unique_id=&quot;15852&quot;&gt;&lt;property id=&quot;20148&quot; value=&quot;5&quot;/&gt;&lt;property id=&quot;20300&quot; value=&quot;Slide 10&quot;/&gt;&lt;property id=&quot;20307&quot; value=&quot;274&quot;/&gt;&lt;/object&gt;&lt;object type=&quot;3&quot; unique_id=&quot;15853&quot;&gt;&lt;property id=&quot;20148&quot; value=&quot;5&quot;/&gt;&lt;property id=&quot;20300&quot; value=&quot;Slide 11&quot;/&gt;&lt;property id=&quot;20307&quot; value=&quot;275&quot;/&gt;&lt;/object&gt;&lt;object type=&quot;3&quot; unique_id=&quot;15854&quot;&gt;&lt;property id=&quot;20148&quot; value=&quot;5&quot;/&gt;&lt;property id=&quot;20300&quot; value=&quot;Slide 17&quot;/&gt;&lt;property id=&quot;20307&quot; value=&quot;272&quot;/&gt;&lt;/object&gt;&lt;object type=&quot;3&quot; unique_id=&quot;15987&quot;&gt;&lt;property id=&quot;20148&quot; value=&quot;5&quot;/&gt;&lt;property id=&quot;20300&quot; value=&quot;Slide 4&quot;/&gt;&lt;property id=&quot;20307&quot; value=&quot;276&quot;/&gt;&lt;/object&gt;&lt;object type=&quot;3&quot; unique_id=&quot;18359&quot;&gt;&lt;property id=&quot;20148&quot; value=&quot;5&quot;/&gt;&lt;property id=&quot;20300&quot; value=&quot;Slide 21&quot;/&gt;&lt;property id=&quot;20307&quot; value=&quot;278&quot;/&gt;&lt;/object&gt;&lt;object type=&quot;3&quot; unique_id=&quot;18360&quot;&gt;&lt;property id=&quot;20148&quot; value=&quot;5&quot;/&gt;&lt;property id=&quot;20300&quot; value=&quot;Slide 22&quot;/&gt;&lt;property id=&quot;20307&quot; value=&quot;279&quot;/&gt;&lt;/object&gt;&lt;object type=&quot;3&quot; unique_id=&quot;18361&quot;&gt;&lt;property id=&quot;20148&quot; value=&quot;5&quot;/&gt;&lt;property id=&quot;20300&quot; value=&quot;Slide 23&quot;/&gt;&lt;property id=&quot;20307&quot; value=&quot;280&quot;/&gt;&lt;/object&gt;&lt;object type=&quot;3&quot; unique_id=&quot;18362&quot;&gt;&lt;property id=&quot;20148&quot; value=&quot;5&quot;/&gt;&lt;property id=&quot;20300&quot; value=&quot;Slide 20&quot;/&gt;&lt;property id=&quot;20307&quot; value=&quot;281&quot;/&gt;&lt;/object&gt;&lt;object type=&quot;3&quot; unique_id=&quot;18363&quot;&gt;&lt;property id=&quot;20148&quot; value=&quot;5&quot;/&gt;&lt;property id=&quot;20300&quot; value=&quot;Slide 24&quot;/&gt;&lt;property id=&quot;20307&quot; value=&quot;282&quot;/&gt;&lt;/object&gt;&lt;object type=&quot;3&quot; unique_id=&quot;18364&quot;&gt;&lt;property id=&quot;20148&quot; value=&quot;5&quot;/&gt;&lt;property id=&quot;20300&quot; value=&quot;Slide 25&quot;/&gt;&lt;property id=&quot;20307&quot; value=&quot;283&quot;/&gt;&lt;/object&gt;&lt;object type=&quot;3&quot; unique_id=&quot;18365&quot;&gt;&lt;property id=&quot;20148&quot; value=&quot;5&quot;/&gt;&lt;property id=&quot;20300&quot; value=&quot;Slide 26&quot;/&gt;&lt;property id=&quot;20307&quot; value=&quot;284&quot;/&gt;&lt;/object&gt;&lt;object type=&quot;3&quot; unique_id=&quot;18366&quot;&gt;&lt;property id=&quot;20148&quot; value=&quot;5&quot;/&gt;&lt;property id=&quot;20300&quot; value=&quot;Slide 27&quot;/&gt;&lt;property id=&quot;20307&quot; value=&quot;285&quot;/&gt;&lt;/object&gt;&lt;object type=&quot;3&quot; unique_id=&quot;18367&quot;&gt;&lt;property id=&quot;20148&quot; value=&quot;5&quot;/&gt;&lt;property id=&quot;20300&quot; value=&quot;Slide 28&quot;/&gt;&lt;property id=&quot;20307&quot; value=&quot;286&quot;/&gt;&lt;/object&gt;&lt;object type=&quot;3&quot; unique_id=&quot;18369&quot;&gt;&lt;property id=&quot;20148&quot; value=&quot;5&quot;/&gt;&lt;property id=&quot;20300&quot; value=&quot;Slide 30&quot;/&gt;&lt;property id=&quot;20307&quot; value=&quot;288&quot;/&gt;&lt;/object&gt;&lt;object type=&quot;3&quot; unique_id=&quot;18370&quot;&gt;&lt;property id=&quot;20148&quot; value=&quot;5&quot;/&gt;&lt;property id=&quot;20300&quot; value=&quot;Slide 29&quot;/&gt;&lt;property id=&quot;20307&quot; value=&quot;289&quot;/&gt;&lt;/object&gt;&lt;object type=&quot;3&quot; unique_id=&quot;18371&quot;&gt;&lt;property id=&quot;20148&quot; value=&quot;5&quot;/&gt;&lt;property id=&quot;20300&quot; value=&quot;Slide 31&quot;/&gt;&lt;property id=&quot;20307&quot; value=&quot;290&quot;/&gt;&lt;/object&gt;&lt;object type=&quot;3&quot; unique_id=&quot;18372&quot;&gt;&lt;property id=&quot;20148&quot; value=&quot;5&quot;/&gt;&lt;property id=&quot;20300&quot; value=&quot;Slide 32&quot;/&gt;&lt;property id=&quot;20307&quot; value=&quot;291&quot;/&gt;&lt;/object&gt;&lt;object type=&quot;3&quot; unique_id=&quot;18373&quot;&gt;&lt;property id=&quot;20148&quot; value=&quot;5&quot;/&gt;&lt;property id=&quot;20300&quot; value=&quot;Slide 33&quot;/&gt;&lt;property id=&quot;20307&quot; value=&quot;292&quot;/&gt;&lt;/object&gt;&lt;object type=&quot;3&quot; unique_id=&quot;18374&quot;&gt;&lt;property id=&quot;20148&quot; value=&quot;5&quot;/&gt;&lt;property id=&quot;20300&quot; value=&quot;Slide 34&quot;/&gt;&lt;property id=&quot;20307&quot; value=&quot;293&quot;/&gt;&lt;/object&gt;&lt;object type=&quot;3&quot; unique_id=&quot;18375&quot;&gt;&lt;property id=&quot;20148&quot; value=&quot;5&quot;/&gt;&lt;property id=&quot;20300&quot; value=&quot;Slide 35&quot;/&gt;&lt;property id=&quot;20307&quot; value=&quot;294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6465</TotalTime>
  <Words>5954</Words>
  <Application>Microsoft Office PowerPoint</Application>
  <PresentationFormat>Widescreen</PresentationFormat>
  <Paragraphs>758</Paragraphs>
  <Slides>122</Slides>
  <Notes>44</Notes>
  <HiddenSlides>0</HiddenSlides>
  <MMClips>27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42" baseType="lpstr">
      <vt:lpstr>メイリオ</vt:lpstr>
      <vt:lpstr>MS Mincho</vt:lpstr>
      <vt:lpstr>MS Mincho</vt:lpstr>
      <vt:lpstr>MS PMincho</vt:lpstr>
      <vt:lpstr>游ゴシック</vt:lpstr>
      <vt:lpstr>Arial</vt:lpstr>
      <vt:lpstr>Calibri</vt:lpstr>
      <vt:lpstr>EPSON 教科書体Ｍ</vt:lpstr>
      <vt:lpstr>inherit</vt:lpstr>
      <vt:lpstr>MS Reference Sans Serif</vt:lpstr>
      <vt:lpstr>Noto Sans JP</vt:lpstr>
      <vt:lpstr>NtMotoyaKyotai</vt:lpstr>
      <vt:lpstr>RyuminPro-Regular-Identity-H</vt:lpstr>
      <vt:lpstr>Tahoma</vt:lpstr>
      <vt:lpstr>Times New Roman</vt:lpstr>
      <vt:lpstr>Tw Cen MT</vt:lpstr>
      <vt:lpstr>Tw Cen MT Condensed</vt:lpstr>
      <vt:lpstr>Wingdings 2</vt:lpstr>
      <vt:lpstr>Wingdings 3</vt:lpstr>
      <vt:lpstr>Integral</vt:lpstr>
      <vt:lpstr>PowerPoint Presentation</vt:lpstr>
      <vt:lpstr>Lưu ý trước khi học</vt:lpstr>
      <vt:lpstr>Lưu ý trước khi học</vt:lpstr>
      <vt:lpstr>PowerPoint Presentation</vt:lpstr>
      <vt:lpstr>Cách xưng hô trong tiếng Nhật①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だい１か_文法まとめ Tổng hợp NP bài 1</vt:lpstr>
      <vt:lpstr>だい１か_文法まとめ Tổng hợp NP bài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N1は　N2ですか。N1 có phải N2 không? はい、N2です。 いいえ、N2じゃありません。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Sは～さいです。</vt:lpstr>
      <vt:lpstr>～は～さいです。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たんじょうびは　いつですか。 Hoi sinh nhat cua ban khi nao</vt:lpstr>
      <vt:lpstr>PowerPoint Presentation</vt:lpstr>
      <vt:lpstr>PowerPoint Presentation</vt:lpstr>
      <vt:lpstr>PowerPoint Presentation</vt:lpstr>
      <vt:lpstr>PowerPoint Presentation</vt:lpstr>
      <vt:lpstr>サッカー</vt:lpstr>
      <vt:lpstr>テニス</vt:lpstr>
      <vt:lpstr>すいえい</vt:lpstr>
      <vt:lpstr>おんがく</vt:lpstr>
      <vt:lpstr>どくしょ( do ku sho)</vt:lpstr>
      <vt:lpstr>りょこう</vt:lpstr>
      <vt:lpstr>りょうり</vt:lpstr>
      <vt:lpstr>PowerPoint Presentation</vt:lpstr>
      <vt:lpstr>PowerPoint Presentation</vt:lpstr>
      <vt:lpstr>PowerPoint Presentation</vt:lpstr>
      <vt:lpstr>PowerPoint Presentation</vt:lpstr>
      <vt:lpstr>N1は　 N2です</vt:lpstr>
      <vt:lpstr>PowerPoint Presentation</vt:lpstr>
      <vt:lpstr>PowerPoint Presentation</vt:lpstr>
      <vt:lpstr>しゅみは　なんですか。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N1は　 N2です。 　N３も　　N2です。</vt:lpstr>
      <vt:lpstr>PowerPoint Presentation</vt:lpstr>
      <vt:lpstr>PowerPoint Presentation</vt:lpstr>
      <vt:lpstr>PowerPoint Presentation</vt:lpstr>
      <vt:lpstr>PowerPoint Presentation</vt:lpstr>
      <vt:lpstr>Ví dụ:  ワンさんは学生ですか。 はい、学生です。／いいえ、学生じゃありません。</vt:lpstr>
      <vt:lpstr>Ví dụ:  ワンさんは学生ですか。 はい、学生です。／いいえ、学生じゃありません。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Cuong</dc:creator>
  <cp:lastModifiedBy>ASUS</cp:lastModifiedBy>
  <cp:revision>378</cp:revision>
  <dcterms:created xsi:type="dcterms:W3CDTF">2014-09-30T04:42:34Z</dcterms:created>
  <dcterms:modified xsi:type="dcterms:W3CDTF">2023-07-24T06:19:02Z</dcterms:modified>
</cp:coreProperties>
</file>