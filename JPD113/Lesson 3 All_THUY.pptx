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a" ContentType="audio/x-ms-wma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71" r:id="rId2"/>
  </p:sldMasterIdLst>
  <p:notesMasterIdLst>
    <p:notesMasterId r:id="rId85"/>
  </p:notesMasterIdLst>
  <p:handoutMasterIdLst>
    <p:handoutMasterId r:id="rId86"/>
  </p:handoutMasterIdLst>
  <p:sldIdLst>
    <p:sldId id="257" r:id="rId3"/>
    <p:sldId id="258" r:id="rId4"/>
    <p:sldId id="303" r:id="rId5"/>
    <p:sldId id="308" r:id="rId6"/>
    <p:sldId id="309" r:id="rId7"/>
    <p:sldId id="311" r:id="rId8"/>
    <p:sldId id="312" r:id="rId9"/>
    <p:sldId id="313" r:id="rId10"/>
    <p:sldId id="306" r:id="rId11"/>
    <p:sldId id="307" r:id="rId12"/>
    <p:sldId id="314" r:id="rId13"/>
    <p:sldId id="315" r:id="rId14"/>
    <p:sldId id="302" r:id="rId15"/>
    <p:sldId id="316" r:id="rId16"/>
    <p:sldId id="330" r:id="rId17"/>
    <p:sldId id="319" r:id="rId18"/>
    <p:sldId id="322" r:id="rId19"/>
    <p:sldId id="323" r:id="rId20"/>
    <p:sldId id="270" r:id="rId21"/>
    <p:sldId id="320" r:id="rId22"/>
    <p:sldId id="321" r:id="rId23"/>
    <p:sldId id="324" r:id="rId24"/>
    <p:sldId id="331" r:id="rId25"/>
    <p:sldId id="332" r:id="rId26"/>
    <p:sldId id="272" r:id="rId27"/>
    <p:sldId id="280" r:id="rId28"/>
    <p:sldId id="285" r:id="rId29"/>
    <p:sldId id="325" r:id="rId30"/>
    <p:sldId id="354" r:id="rId31"/>
    <p:sldId id="329" r:id="rId32"/>
    <p:sldId id="334" r:id="rId33"/>
    <p:sldId id="350" r:id="rId34"/>
    <p:sldId id="351" r:id="rId35"/>
    <p:sldId id="333" r:id="rId36"/>
    <p:sldId id="357" r:id="rId37"/>
    <p:sldId id="358" r:id="rId38"/>
    <p:sldId id="359" r:id="rId39"/>
    <p:sldId id="335" r:id="rId40"/>
    <p:sldId id="337" r:id="rId41"/>
    <p:sldId id="336" r:id="rId42"/>
    <p:sldId id="338" r:id="rId43"/>
    <p:sldId id="283" r:id="rId44"/>
    <p:sldId id="339" r:id="rId45"/>
    <p:sldId id="340" r:id="rId46"/>
    <p:sldId id="341" r:id="rId47"/>
    <p:sldId id="345" r:id="rId48"/>
    <p:sldId id="346" r:id="rId49"/>
    <p:sldId id="348" r:id="rId50"/>
    <p:sldId id="361" r:id="rId51"/>
    <p:sldId id="271" r:id="rId52"/>
    <p:sldId id="360" r:id="rId53"/>
    <p:sldId id="363" r:id="rId54"/>
    <p:sldId id="364" r:id="rId55"/>
    <p:sldId id="365" r:id="rId56"/>
    <p:sldId id="371" r:id="rId57"/>
    <p:sldId id="372" r:id="rId58"/>
    <p:sldId id="370" r:id="rId59"/>
    <p:sldId id="373" r:id="rId60"/>
    <p:sldId id="376" r:id="rId61"/>
    <p:sldId id="367" r:id="rId62"/>
    <p:sldId id="377" r:id="rId63"/>
    <p:sldId id="374" r:id="rId64"/>
    <p:sldId id="375" r:id="rId65"/>
    <p:sldId id="366" r:id="rId66"/>
    <p:sldId id="368" r:id="rId67"/>
    <p:sldId id="379" r:id="rId68"/>
    <p:sldId id="289" r:id="rId69"/>
    <p:sldId id="378" r:id="rId70"/>
    <p:sldId id="380" r:id="rId71"/>
    <p:sldId id="381" r:id="rId72"/>
    <p:sldId id="382" r:id="rId73"/>
    <p:sldId id="383" r:id="rId74"/>
    <p:sldId id="384" r:id="rId75"/>
    <p:sldId id="385" r:id="rId76"/>
    <p:sldId id="386" r:id="rId77"/>
    <p:sldId id="387" r:id="rId78"/>
    <p:sldId id="388" r:id="rId79"/>
    <p:sldId id="389" r:id="rId80"/>
    <p:sldId id="390" r:id="rId81"/>
    <p:sldId id="391" r:id="rId82"/>
    <p:sldId id="392" r:id="rId83"/>
    <p:sldId id="393" r:id="rId84"/>
  </p:sldIdLst>
  <p:sldSz cx="12192000" cy="6858000"/>
  <p:notesSz cx="6858000" cy="9144000"/>
  <p:custDataLst>
    <p:tags r:id="rId8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51" autoAdjust="0"/>
    <p:restoredTop sz="94660"/>
  </p:normalViewPr>
  <p:slideViewPr>
    <p:cSldViewPr>
      <p:cViewPr varScale="1">
        <p:scale>
          <a:sx n="116" d="100"/>
          <a:sy n="116" d="100"/>
        </p:scale>
        <p:origin x="696" y="9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gs" Target="tags/tag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7-20T10:32:26.721" idx="1">
    <p:pos x="5542" y="1614"/>
    <p:text>nanj KARA , NANJI MADE DESUKA</p:text>
    <p:extLst>
      <p:ext uri="{C676402C-5697-4E1C-873F-D02D1690AC5C}">
        <p15:threadingInfo xmlns:p15="http://schemas.microsoft.com/office/powerpoint/2012/main" timeZoneBias="-420"/>
      </p:ext>
    </p:extLst>
  </p:cm>
  <p:cm authorId="2" dt="2023-07-21T09:50:01.132" idx="3">
    <p:pos x="1588" y="2994"/>
    <p:text>thứ 2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7-20T14:40:24.319" idx="2">
    <p:pos x="4784" y="1287"/>
    <p:text>AT HOME</p:text>
    <p:extLst>
      <p:ext uri="{C676402C-5697-4E1C-873F-D02D1690AC5C}">
        <p15:threadingInfo xmlns:p15="http://schemas.microsoft.com/office/powerpoint/2012/main" timeZoneBias="-4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E2AAA-2CC7-4F9C-A8C6-8B9F2A3E9EF0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AD62A-9EE1-43E3-A7E5-D268F71D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48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7ADBA-1AC7-4CD6-8AFF-4E8087BA5487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4C2EF-8A97-4DAF-B099-E56788364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BD159-BDB8-4A99-8994-41018BDF554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82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BD159-BDB8-4A99-8994-41018BDF554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4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BD159-BDB8-4A99-8994-41018BDF554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3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BD159-BDB8-4A99-8994-41018BDF554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29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BD159-BDB8-4A99-8994-41018BDF554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2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2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24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8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8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1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8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1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5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5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593D-7C47-471E-A8DF-97AC4FFD13F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71E3-7D81-4C24-B9D8-6B108755C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6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8593D-7C47-471E-A8DF-97AC4FFD13F5}" type="datetimeFigureOut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D71E3-7D81-4C24-B9D8-6B108755C64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" t="511" r="525" b="2999"/>
          <a:stretch/>
        </p:blipFill>
        <p:spPr>
          <a:xfrm>
            <a:off x="0" y="0"/>
            <a:ext cx="12188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1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10" Type="http://schemas.openxmlformats.org/officeDocument/2006/relationships/image" Target="../media/image19.jpg"/><Relationship Id="rId4" Type="http://schemas.openxmlformats.org/officeDocument/2006/relationships/image" Target="../media/image13.jpg"/><Relationship Id="rId9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07/relationships/media" Target="../media/media3.wma"/><Relationship Id="rId7" Type="http://schemas.openxmlformats.org/officeDocument/2006/relationships/image" Target="../media/image23.png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6" Type="http://schemas.openxmlformats.org/officeDocument/2006/relationships/image" Target="../media/image22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.wma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media" Target="../media/media2.wma"/><Relationship Id="rId7" Type="http://schemas.openxmlformats.org/officeDocument/2006/relationships/image" Target="../media/image24.png"/><Relationship Id="rId2" Type="http://schemas.openxmlformats.org/officeDocument/2006/relationships/audio" Target="../media/media3.wma"/><Relationship Id="rId1" Type="http://schemas.microsoft.com/office/2007/relationships/media" Target="../media/media3.wma"/><Relationship Id="rId6" Type="http://schemas.openxmlformats.org/officeDocument/2006/relationships/image" Target="../media/image22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wma"/><Relationship Id="rId9" Type="http://schemas.openxmlformats.org/officeDocument/2006/relationships/comments" Target="../comments/commen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ma"/><Relationship Id="rId1" Type="http://schemas.microsoft.com/office/2007/relationships/media" Target="../media/media4.wma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ma"/><Relationship Id="rId1" Type="http://schemas.microsoft.com/office/2007/relationships/media" Target="../media/media5.wma"/><Relationship Id="rId5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ma"/><Relationship Id="rId1" Type="http://schemas.microsoft.com/office/2007/relationships/media" Target="../media/media6.wma"/><Relationship Id="rId5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wma"/><Relationship Id="rId1" Type="http://schemas.microsoft.com/office/2007/relationships/media" Target="../media/media7.wma"/><Relationship Id="rId5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9.wma"/><Relationship Id="rId7" Type="http://schemas.openxmlformats.org/officeDocument/2006/relationships/image" Target="../media/image61.png"/><Relationship Id="rId2" Type="http://schemas.openxmlformats.org/officeDocument/2006/relationships/audio" Target="../media/media8.wma"/><Relationship Id="rId1" Type="http://schemas.microsoft.com/office/2007/relationships/media" Target="../media/media8.wma"/><Relationship Id="rId6" Type="http://schemas.openxmlformats.org/officeDocument/2006/relationships/image" Target="../media/image60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9.wma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wma"/><Relationship Id="rId1" Type="http://schemas.microsoft.com/office/2007/relationships/media" Target="../media/media9.wma"/><Relationship Id="rId5" Type="http://schemas.openxmlformats.org/officeDocument/2006/relationships/image" Target="../media/image4.png"/><Relationship Id="rId4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wma"/><Relationship Id="rId1" Type="http://schemas.microsoft.com/office/2007/relationships/media" Target="../media/media10.wma"/><Relationship Id="rId5" Type="http://schemas.openxmlformats.org/officeDocument/2006/relationships/image" Target="../media/image4.png"/><Relationship Id="rId4" Type="http://schemas.openxmlformats.org/officeDocument/2006/relationships/image" Target="../media/image6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8305800" cy="6191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181600" y="5422992"/>
            <a:ext cx="6934200" cy="142109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8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スケジュール</a:t>
            </a:r>
            <a:endParaRPr lang="en-US" sz="8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 rot="709668">
            <a:off x="7421501" y="4378838"/>
            <a:ext cx="2692400" cy="11203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第３課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04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048000" y="331387"/>
            <a:ext cx="6169718" cy="115486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HGSoeiKakupoptai" panose="040B0A09000000000000" pitchFamily="49" charset="-128"/>
                <a:ea typeface="HGSoeiKakupoptai" panose="040B0A09000000000000" pitchFamily="49" charset="-128"/>
              </a:rPr>
              <a:t>第３課</a:t>
            </a:r>
            <a:endParaRPr lang="en-US" sz="4800" dirty="0">
              <a:latin typeface="HGSoeiKakupoptai" panose="040B0A09000000000000" pitchFamily="49" charset="-128"/>
              <a:ea typeface="HGSoeiKakupoptai" panose="040B0A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8200" y="2286000"/>
            <a:ext cx="11051482" cy="31949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5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何時</a:t>
            </a:r>
            <a:r>
              <a:rPr lang="ja-JP" altLang="en-US" sz="11500" dirty="0">
                <a:solidFill>
                  <a:srgbClr val="FF0000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まで</a:t>
            </a:r>
            <a:r>
              <a:rPr lang="ja-JP" altLang="en-US" sz="115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です</a:t>
            </a:r>
            <a:r>
              <a:rPr lang="ja-JP" altLang="en-US" sz="11500" dirty="0">
                <a:solidFill>
                  <a:srgbClr val="FF0000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か</a:t>
            </a:r>
            <a:endParaRPr lang="en-US" sz="5400" dirty="0">
              <a:solidFill>
                <a:srgbClr val="FF0000"/>
              </a:solidFill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 rot="721955">
            <a:off x="8373741" y="975725"/>
            <a:ext cx="2562832" cy="12700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600" dirty="0"/>
              <a:t>パート</a:t>
            </a:r>
            <a:endParaRPr lang="en-US" sz="3600" dirty="0"/>
          </a:p>
          <a:p>
            <a:r>
              <a:rPr lang="en-US" sz="3600" dirty="0"/>
              <a:t>PART </a:t>
            </a:r>
          </a:p>
        </p:txBody>
      </p:sp>
      <p:sp>
        <p:nvSpPr>
          <p:cNvPr id="9" name="Rounded Rectangle 8"/>
          <p:cNvSpPr/>
          <p:nvPr/>
        </p:nvSpPr>
        <p:spPr>
          <a:xfrm rot="829033">
            <a:off x="9743122" y="1235365"/>
            <a:ext cx="838200" cy="838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600" dirty="0"/>
              <a:t>１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68434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685800"/>
            <a:ext cx="6982385" cy="5390202"/>
          </a:xfrm>
          <a:prstGeom prst="rect">
            <a:avLst/>
          </a:prstGeom>
        </p:spPr>
      </p:pic>
      <p:pic>
        <p:nvPicPr>
          <p:cNvPr id="2" name="33 Track 3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26692" y="838200"/>
            <a:ext cx="965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4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400" y="260794"/>
            <a:ext cx="11582400" cy="1104900"/>
          </a:xfr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vi-VN" sz="3733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vi-VN" sz="3733" dirty="0">
                <a:latin typeface="Times New Roman" pitchFamily="18" charset="0"/>
                <a:cs typeface="Times New Roman" pitchFamily="18" charset="0"/>
              </a:rPr>
            </a:br>
            <a:r>
              <a:rPr lang="ja-JP" altLang="en-US" sz="5333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①</a:t>
            </a:r>
            <a:r>
              <a:rPr lang="vi-VN" altLang="ja-JP" sz="5333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Cách đọc giờ : </a:t>
            </a:r>
            <a:r>
              <a:rPr lang="ja-JP" altLang="en-US" sz="5333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～じ➡なんじ？</a:t>
            </a:r>
            <a:endParaRPr lang="en-US" sz="5333" b="1" dirty="0">
              <a:solidFill>
                <a:srgbClr val="FF0000"/>
              </a:solidFill>
              <a:latin typeface="Times New Roman" pitchFamily="18" charset="0"/>
              <a:ea typeface="EPSON 教科書体Ｍ"/>
              <a:cs typeface="Times New Roman" pitchFamily="18" charset="0"/>
            </a:endParaRPr>
          </a:p>
        </p:txBody>
      </p:sp>
      <p:sp>
        <p:nvSpPr>
          <p:cNvPr id="4" name="AutoShape 2" descr="1時から12時の時間を学ぶ時計の無料イラスト素材｜イラストイメージ"/>
          <p:cNvSpPr>
            <a:spLocks noChangeAspect="1" noChangeArrowheads="1"/>
          </p:cNvSpPr>
          <p:nvPr/>
        </p:nvSpPr>
        <p:spPr bwMode="auto">
          <a:xfrm>
            <a:off x="207434" y="-1117600"/>
            <a:ext cx="34925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2006600"/>
            <a:ext cx="5425577" cy="3610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34" y="1524000"/>
            <a:ext cx="6898313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5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401" y="260794"/>
            <a:ext cx="11724777" cy="1104900"/>
          </a:xfr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l"/>
            <a:r>
              <a:rPr lang="ja-JP" altLang="en-US" sz="4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② </a:t>
            </a:r>
            <a:r>
              <a:rPr lang="vi-VN" altLang="ja-JP" sz="4667" dirty="0">
                <a:latin typeface="Times New Roman" pitchFamily="18" charset="0"/>
                <a:cs typeface="Times New Roman" pitchFamily="18" charset="0"/>
              </a:rPr>
              <a:t>đọc số Phút : </a:t>
            </a:r>
            <a:r>
              <a:rPr lang="ja-JP" altLang="en-US" sz="4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～ふん／ぷん</a:t>
            </a:r>
            <a:r>
              <a:rPr lang="ja-JP" altLang="en-US" sz="4667" dirty="0">
                <a:latin typeface="Times New Roman" pitchFamily="18" charset="0"/>
                <a:cs typeface="Times New Roman" pitchFamily="18" charset="0"/>
              </a:rPr>
              <a:t>➡</a:t>
            </a:r>
            <a:r>
              <a:rPr lang="ja-JP" altLang="en-US" sz="4667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なんぷん？</a:t>
            </a:r>
            <a:endParaRPr lang="en-US" sz="4667" b="1" dirty="0">
              <a:solidFill>
                <a:srgbClr val="FF0000"/>
              </a:solidFill>
              <a:latin typeface="Times New Roman" pitchFamily="18" charset="0"/>
              <a:ea typeface="EPSON 教科書体Ｍ"/>
              <a:cs typeface="Times New Roman" pitchFamily="18" charset="0"/>
            </a:endParaRPr>
          </a:p>
        </p:txBody>
      </p:sp>
      <p:sp>
        <p:nvSpPr>
          <p:cNvPr id="4" name="AutoShape 2" descr="1時から12時の時間を学ぶ時計の無料イラスト素材｜イラストイメージ"/>
          <p:cNvSpPr>
            <a:spLocks noChangeAspect="1" noChangeArrowheads="1"/>
          </p:cNvSpPr>
          <p:nvPr/>
        </p:nvSpPr>
        <p:spPr bwMode="auto">
          <a:xfrm>
            <a:off x="207434" y="-1117600"/>
            <a:ext cx="34925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ja-JP" altLang="en-US" sz="2400"/>
          </a:p>
        </p:txBody>
      </p:sp>
      <p:pic>
        <p:nvPicPr>
          <p:cNvPr id="2050" name="Picture 2" descr="時刻・時間の勉強カード「分」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1660358"/>
            <a:ext cx="5605114" cy="396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1" y="1600200"/>
            <a:ext cx="5689599" cy="40227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058400" y="5257800"/>
            <a:ext cx="1524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41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000250"/>
            <a:ext cx="3352800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464128"/>
            <a:ext cx="650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/>
              <a:t>じゅう</a:t>
            </a:r>
            <a:r>
              <a:rPr lang="ja-JP" alt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じ</a:t>
            </a:r>
            <a:r>
              <a:rPr lang="ja-JP" altLang="en-US" sz="4000" b="1" dirty="0">
                <a:highlight>
                  <a:srgbClr val="FFFF00"/>
                </a:highlight>
              </a:rPr>
              <a:t>　</a:t>
            </a:r>
            <a:r>
              <a:rPr lang="en-US" altLang="ja-JP" sz="4000" b="1" dirty="0"/>
              <a:t>-</a:t>
            </a:r>
            <a:r>
              <a:rPr lang="ja-JP" altLang="en-US" sz="4000" b="1" dirty="0"/>
              <a:t>じゅっ</a:t>
            </a:r>
            <a:r>
              <a:rPr lang="ja-JP" alt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ぷん</a:t>
            </a:r>
            <a:r>
              <a:rPr lang="ja-JP" altLang="en-US" sz="4000" b="1" dirty="0"/>
              <a:t>。</a:t>
            </a:r>
            <a:endParaRPr lang="en-US" sz="4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721600" y="2619514"/>
            <a:ext cx="416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</a:rPr>
              <a:t>ごぜん</a:t>
            </a:r>
            <a:r>
              <a:rPr lang="ja-JP" altLang="en-US" sz="4000" b="1" dirty="0"/>
              <a:t>く</a:t>
            </a:r>
            <a:r>
              <a:rPr lang="ja-JP" altLang="en-US" sz="4000" b="1" dirty="0">
                <a:solidFill>
                  <a:srgbClr val="FF0000"/>
                </a:solidFill>
              </a:rPr>
              <a:t>じ</a:t>
            </a:r>
            <a:endParaRPr lang="en-US" sz="4000" b="1" dirty="0"/>
          </a:p>
        </p:txBody>
      </p:sp>
      <p:pic>
        <p:nvPicPr>
          <p:cNvPr id="8" name="Picture 7" descr="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3327400"/>
            <a:ext cx="39624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9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77800"/>
            <a:ext cx="2340864" cy="16550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84727"/>
            <a:ext cx="2340864" cy="16550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825"/>
            <a:ext cx="2340864" cy="16550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989195"/>
            <a:ext cx="2340864" cy="16550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649" y="3879000"/>
            <a:ext cx="2340864" cy="16550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613" y="2034438"/>
            <a:ext cx="2340864" cy="16550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16754"/>
            <a:ext cx="2340864" cy="16550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99492"/>
            <a:ext cx="2340864" cy="16550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124" y="3851299"/>
            <a:ext cx="2340864" cy="1655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36813" y="228600"/>
            <a:ext cx="4102766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ja-JP" sz="2800" i="1" dirty="0">
                <a:latin typeface="+mj-lt"/>
                <a:ea typeface="ＭＳ 明朝" pitchFamily="17" charset="-128"/>
              </a:rPr>
              <a:t>※</a:t>
            </a:r>
            <a:r>
              <a:rPr lang="vi-VN" altLang="ja-JP" sz="2800" i="1" dirty="0">
                <a:latin typeface="+mj-lt"/>
                <a:ea typeface="ＭＳ 明朝" pitchFamily="17" charset="-128"/>
              </a:rPr>
              <a:t>GIỜ (4,7,9):</a:t>
            </a:r>
            <a:r>
              <a:rPr lang="ja-JP" altLang="en-US" sz="2800" i="1" dirty="0">
                <a:solidFill>
                  <a:srgbClr val="FF0000"/>
                </a:solidFill>
                <a:latin typeface="+mj-lt"/>
                <a:ea typeface="ＭＳ 明朝" pitchFamily="17" charset="-128"/>
              </a:rPr>
              <a:t>じ</a:t>
            </a:r>
            <a:endParaRPr lang="vi-VN" altLang="ja-JP" sz="2800" i="1" dirty="0">
              <a:solidFill>
                <a:srgbClr val="FF0000"/>
              </a:solidFill>
              <a:latin typeface="+mj-lt"/>
              <a:ea typeface="ＭＳ 明朝" pitchFamily="17" charset="-128"/>
            </a:endParaRPr>
          </a:p>
          <a:p>
            <a:pPr algn="r">
              <a:defRPr/>
            </a:pPr>
            <a:r>
              <a:rPr lang="en-US" sz="2800" i="1" dirty="0" err="1">
                <a:highlight>
                  <a:srgbClr val="FFFF00"/>
                </a:highlight>
                <a:latin typeface="+mj-lt"/>
                <a:ea typeface="ＭＳ 明朝" pitchFamily="17" charset="-128"/>
              </a:rPr>
              <a:t>Yo-shichi-ku</a:t>
            </a:r>
            <a:endParaRPr lang="vi-VN" sz="2800" i="1" dirty="0">
              <a:highlight>
                <a:srgbClr val="FFFF00"/>
              </a:highlight>
              <a:latin typeface="+mj-lt"/>
              <a:ea typeface="ＭＳ 明朝" pitchFamily="17" charset="-128"/>
            </a:endParaRPr>
          </a:p>
          <a:p>
            <a:pPr algn="r">
              <a:defRPr/>
            </a:pPr>
            <a:r>
              <a:rPr lang="en-US" altLang="ja-JP" sz="2800" i="1" dirty="0">
                <a:latin typeface="+mj-lt"/>
                <a:ea typeface="ＭＳ 明朝" pitchFamily="17" charset="-128"/>
              </a:rPr>
              <a:t>※</a:t>
            </a:r>
            <a:r>
              <a:rPr lang="vi-VN" altLang="ja-JP" sz="2800" i="1" dirty="0">
                <a:latin typeface="+mj-lt"/>
                <a:ea typeface="ＭＳ 明朝" pitchFamily="17" charset="-128"/>
              </a:rPr>
              <a:t>PHÚT</a:t>
            </a:r>
            <a:endParaRPr lang="en-US" sz="2800" i="1" dirty="0">
              <a:latin typeface="+mj-lt"/>
              <a:ea typeface="ＭＳ 明朝" pitchFamily="17" charset="-128"/>
            </a:endParaRPr>
          </a:p>
          <a:p>
            <a:pPr algn="r">
              <a:defRPr/>
            </a:pPr>
            <a:r>
              <a:rPr lang="vi-VN" sz="2800" i="1" dirty="0">
                <a:latin typeface="+mj-lt"/>
                <a:ea typeface="ＭＳ 明朝" pitchFamily="17" charset="-128"/>
              </a:rPr>
              <a:t>2,5,7,9: </a:t>
            </a:r>
            <a:r>
              <a:rPr lang="ja-JP" altLang="en-US" sz="2800" i="1" dirty="0">
                <a:solidFill>
                  <a:srgbClr val="FF0000"/>
                </a:solidFill>
                <a:latin typeface="+mj-lt"/>
                <a:ea typeface="ＭＳ 明朝" pitchFamily="17" charset="-128"/>
              </a:rPr>
              <a:t>ふ</a:t>
            </a:r>
            <a:r>
              <a:rPr lang="ja-JP" altLang="en-US" sz="2800" i="1" dirty="0">
                <a:latin typeface="+mj-lt"/>
                <a:ea typeface="ＭＳ 明朝" pitchFamily="17" charset="-128"/>
              </a:rPr>
              <a:t>ん</a:t>
            </a:r>
            <a:endParaRPr lang="en-US" altLang="ja-JP" sz="2800" i="1" dirty="0">
              <a:latin typeface="+mj-lt"/>
              <a:ea typeface="ＭＳ 明朝" pitchFamily="17" charset="-128"/>
            </a:endParaRPr>
          </a:p>
          <a:p>
            <a:pPr algn="r">
              <a:defRPr/>
            </a:pPr>
            <a:r>
              <a:rPr lang="en-US" altLang="ja-JP" sz="2800" i="1" dirty="0">
                <a:latin typeface="+mj-lt"/>
                <a:ea typeface="ＭＳ 明朝" pitchFamily="17" charset="-128"/>
              </a:rPr>
              <a:t>Con</a:t>
            </a:r>
            <a:r>
              <a:rPr lang="ja-JP" altLang="en-US" sz="2800" i="1" dirty="0">
                <a:latin typeface="+mj-lt"/>
                <a:ea typeface="ＭＳ 明朝" pitchFamily="17" charset="-128"/>
              </a:rPr>
              <a:t> </a:t>
            </a:r>
            <a:r>
              <a:rPr lang="en-US" altLang="ja-JP" sz="2800" i="1" dirty="0" err="1">
                <a:latin typeface="+mj-lt"/>
                <a:ea typeface="ＭＳ 明朝" pitchFamily="17" charset="-128"/>
              </a:rPr>
              <a:t>lai</a:t>
            </a:r>
            <a:r>
              <a:rPr lang="en-US" altLang="ja-JP" sz="2800" i="1" dirty="0">
                <a:latin typeface="+mj-lt"/>
                <a:ea typeface="ＭＳ 明朝" pitchFamily="17" charset="-128"/>
              </a:rPr>
              <a:t>:</a:t>
            </a:r>
            <a:r>
              <a:rPr lang="ja-JP" altLang="en-US" sz="2800" i="1" dirty="0">
                <a:latin typeface="+mj-lt"/>
                <a:ea typeface="ＭＳ 明朝" pitchFamily="17" charset="-128"/>
              </a:rPr>
              <a:t> </a:t>
            </a:r>
            <a:r>
              <a:rPr lang="en-US" altLang="ja-JP" sz="2800" i="1" dirty="0">
                <a:latin typeface="+mj-lt"/>
                <a:ea typeface="ＭＳ 明朝" pitchFamily="17" charset="-128"/>
              </a:rPr>
              <a:t>1,3,4,6,8,0:</a:t>
            </a:r>
            <a:r>
              <a:rPr lang="ja-JP" altLang="en-US" sz="2800" i="1" dirty="0">
                <a:solidFill>
                  <a:srgbClr val="FF0000"/>
                </a:solidFill>
                <a:latin typeface="+mj-lt"/>
                <a:ea typeface="ＭＳ 明朝" pitchFamily="17" charset="-128"/>
              </a:rPr>
              <a:t>ぷ</a:t>
            </a:r>
            <a:r>
              <a:rPr lang="ja-JP" altLang="en-US" sz="2800" i="1" dirty="0">
                <a:latin typeface="+mj-lt"/>
                <a:ea typeface="ＭＳ 明朝" pitchFamily="17" charset="-128"/>
              </a:rPr>
              <a:t>ん</a:t>
            </a:r>
            <a:endParaRPr lang="en-US" altLang="ja-JP" sz="2800" i="1" dirty="0">
              <a:latin typeface="+mj-lt"/>
              <a:ea typeface="ＭＳ 明朝" pitchFamily="17" charset="-128"/>
            </a:endParaRPr>
          </a:p>
          <a:p>
            <a:pPr algn="r">
              <a:defRPr/>
            </a:pPr>
            <a:r>
              <a:rPr lang="en-US" altLang="ja-JP" sz="2800" i="1" dirty="0">
                <a:ea typeface="ＭＳ 明朝" pitchFamily="17" charset="-128"/>
              </a:rPr>
              <a:t>1,6,8,0:</a:t>
            </a:r>
            <a:r>
              <a:rPr lang="ja-JP" altLang="en-US" sz="2800" i="1" dirty="0">
                <a:solidFill>
                  <a:srgbClr val="FF0000"/>
                </a:solidFill>
                <a:ea typeface="ＭＳ 明朝" pitchFamily="17" charset="-128"/>
              </a:rPr>
              <a:t>っ</a:t>
            </a:r>
            <a:r>
              <a:rPr lang="ja-JP" altLang="en-US" sz="2800" i="1" dirty="0">
                <a:ea typeface="ＭＳ 明朝" pitchFamily="17" charset="-128"/>
              </a:rPr>
              <a:t>ぷん</a:t>
            </a:r>
            <a:endParaRPr lang="en-US" altLang="ja-JP" sz="2800" i="1" dirty="0">
              <a:ea typeface="ＭＳ 明朝" pitchFamily="17" charset="-128"/>
            </a:endParaRPr>
          </a:p>
          <a:p>
            <a:pPr algn="r">
              <a:defRPr/>
            </a:pPr>
            <a:r>
              <a:rPr lang="en-US" altLang="ja-JP" sz="2800" i="1" dirty="0">
                <a:latin typeface="+mj-lt"/>
                <a:ea typeface="ＭＳ 明朝" pitchFamily="17" charset="-128"/>
              </a:rPr>
              <a:t>30</a:t>
            </a:r>
            <a:r>
              <a:rPr lang="ja-JP" altLang="en-US" sz="2800" i="1" dirty="0">
                <a:latin typeface="+mj-lt"/>
                <a:ea typeface="ＭＳ 明朝" pitchFamily="17" charset="-128"/>
              </a:rPr>
              <a:t>分＝半（</a:t>
            </a:r>
            <a:r>
              <a:rPr lang="ja-JP" altLang="en-US" sz="2800" i="1" dirty="0">
                <a:solidFill>
                  <a:srgbClr val="FF0000"/>
                </a:solidFill>
                <a:latin typeface="+mj-lt"/>
                <a:ea typeface="ＭＳ 明朝" pitchFamily="17" charset="-128"/>
              </a:rPr>
              <a:t>はん</a:t>
            </a:r>
            <a:r>
              <a:rPr lang="ja-JP" altLang="en-US" sz="2800" i="1" dirty="0">
                <a:latin typeface="+mj-lt"/>
                <a:ea typeface="ＭＳ 明朝" pitchFamily="17" charset="-128"/>
              </a:rPr>
              <a:t>）</a:t>
            </a:r>
            <a:endParaRPr lang="en-US" sz="2800" i="1" dirty="0">
              <a:latin typeface="+mj-lt"/>
              <a:ea typeface="ＭＳ 明朝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090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" y="3327400"/>
            <a:ext cx="11379200" cy="2921000"/>
          </a:xfr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609585" indent="-609585" algn="l">
              <a:buFont typeface="+mj-lt"/>
              <a:buAutoNum type="arabicPeriod"/>
            </a:pPr>
            <a:r>
              <a:rPr lang="ja-JP" altLang="en-US" sz="3333" b="1" dirty="0">
                <a:solidFill>
                  <a:srgbClr val="FF0000"/>
                </a:solidFill>
                <a:cs typeface="Times New Roman" pitchFamily="18" charset="0"/>
              </a:rPr>
              <a:t>午前（</a:t>
            </a:r>
            <a:r>
              <a:rPr lang="ja-JP" altLang="en-US" sz="3333" b="1" dirty="0">
                <a:solidFill>
                  <a:srgbClr val="FF0000"/>
                </a:solidFill>
                <a:highlight>
                  <a:srgbClr val="FFFF00"/>
                </a:highlight>
                <a:cs typeface="Times New Roman" pitchFamily="18" charset="0"/>
              </a:rPr>
              <a:t>ごぜん</a:t>
            </a:r>
            <a:r>
              <a:rPr lang="ja-JP" altLang="en-US" sz="3333" b="1" dirty="0">
                <a:solidFill>
                  <a:srgbClr val="FF0000"/>
                </a:solidFill>
                <a:cs typeface="Times New Roman" pitchFamily="18" charset="0"/>
              </a:rPr>
              <a:t>）</a:t>
            </a:r>
            <a:r>
              <a:rPr lang="en-US" altLang="ja-JP" sz="3333" b="1" dirty="0">
                <a:solidFill>
                  <a:srgbClr val="FF0000"/>
                </a:solidFill>
                <a:cs typeface="Times New Roman" pitchFamily="18" charset="0"/>
              </a:rPr>
              <a:t>AM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12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khuya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12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trưa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609585" indent="-609585" algn="l">
              <a:buFont typeface="+mj-lt"/>
              <a:buAutoNum type="arabicPeriod"/>
            </a:pPr>
            <a:r>
              <a:rPr lang="ja-JP" altLang="en-US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午後</a:t>
            </a:r>
            <a:r>
              <a:rPr lang="en-US" altLang="ja-JP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ja-JP" altLang="en-US" sz="3333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ごご</a:t>
            </a:r>
            <a:r>
              <a:rPr lang="en-US" altLang="ja-JP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ja-JP" altLang="en-US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ja-JP" sz="3333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PM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12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trưa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12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khuya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609585" indent="-609585" algn="l">
              <a:buFont typeface="+mj-lt"/>
              <a:buAutoNum type="arabicPeriod"/>
            </a:pPr>
            <a:r>
              <a:rPr lang="ja-JP" altLang="en-US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夕方</a:t>
            </a:r>
            <a:r>
              <a:rPr lang="en-US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ja-JP" altLang="en-US" sz="3333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ゆうがた</a:t>
            </a:r>
            <a:r>
              <a:rPr lang="en-US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5h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7h), </a:t>
            </a:r>
          </a:p>
          <a:p>
            <a:pPr marL="609585" indent="-609585" algn="l">
              <a:buFont typeface="+mj-lt"/>
              <a:buAutoNum type="arabicPeriod"/>
            </a:pPr>
            <a:r>
              <a:rPr lang="ja-JP" altLang="en-US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夜</a:t>
            </a:r>
            <a:r>
              <a:rPr lang="en-US" altLang="ja-JP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ja-JP" altLang="en-US" sz="3333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よる</a:t>
            </a:r>
            <a:r>
              <a:rPr lang="en-US" altLang="ja-JP" sz="3333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7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ja-JP" alt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hôm</a:t>
            </a:r>
            <a:r>
              <a:rPr lang="en-US" sz="3333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333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ja-JP" altLang="en-US" sz="3333" b="1" dirty="0">
                <a:cs typeface="Times New Roman" pitchFamily="18" charset="0"/>
              </a:rPr>
              <a:t>　　</a:t>
            </a:r>
            <a:r>
              <a:rPr lang="en-US" altLang="ja-JP" sz="3333" b="1" dirty="0">
                <a:cs typeface="Times New Roman" pitchFamily="18" charset="0"/>
              </a:rPr>
              <a:t>(</a:t>
            </a:r>
            <a:r>
              <a:rPr lang="en-US" altLang="ja-JP" sz="3333" b="1" dirty="0" err="1">
                <a:cs typeface="Times New Roman" pitchFamily="18" charset="0"/>
              </a:rPr>
              <a:t>bắt</a:t>
            </a:r>
            <a:r>
              <a:rPr lang="en-US" altLang="ja-JP" sz="3333" b="1" dirty="0">
                <a:cs typeface="Times New Roman" pitchFamily="18" charset="0"/>
              </a:rPr>
              <a:t> </a:t>
            </a:r>
            <a:r>
              <a:rPr lang="en-US" altLang="ja-JP" sz="3333" b="1" dirty="0" err="1">
                <a:cs typeface="Times New Roman" pitchFamily="18" charset="0"/>
              </a:rPr>
              <a:t>đầu</a:t>
            </a:r>
            <a:r>
              <a:rPr lang="en-US" altLang="ja-JP" sz="3333" b="1" dirty="0">
                <a:cs typeface="Times New Roman" pitchFamily="18" charset="0"/>
              </a:rPr>
              <a:t> </a:t>
            </a:r>
            <a:r>
              <a:rPr lang="en-US" altLang="ja-JP" sz="3333" b="1" dirty="0" err="1">
                <a:cs typeface="Times New Roman" pitchFamily="18" charset="0"/>
              </a:rPr>
              <a:t>khuya</a:t>
            </a:r>
            <a:r>
              <a:rPr lang="en-US" altLang="ja-JP" sz="3333" b="1" dirty="0">
                <a:cs typeface="Times New Roman" pitchFamily="18" charset="0"/>
              </a:rPr>
              <a:t>)</a:t>
            </a:r>
            <a:endParaRPr lang="en-US" sz="3333" dirty="0"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5" y="284692"/>
            <a:ext cx="4572000" cy="2743200"/>
          </a:xfrm>
          <a:prstGeom prst="rect">
            <a:avLst/>
          </a:prstGeom>
        </p:spPr>
      </p:pic>
      <p:pic>
        <p:nvPicPr>
          <p:cNvPr id="3076" name="Picture 4" descr="昼も夜も関係ない！バイナリーオプションは時間帯の通貨ごとの特徴を知ることが成功への近道！ |  初心者の主婦でもできる！海外バイナリーオプション攻略ブログ！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93183"/>
            <a:ext cx="6862757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4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35 Track 35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3143870"/>
            <a:ext cx="609600" cy="6096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423945"/>
            <a:ext cx="7346561" cy="641140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81400"/>
            <a:ext cx="4229690" cy="308653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2800" y="356151"/>
            <a:ext cx="3982006" cy="3267531"/>
          </a:xfrm>
          <a:prstGeom prst="rect">
            <a:avLst/>
          </a:prstGeom>
        </p:spPr>
      </p:pic>
      <p:pic>
        <p:nvPicPr>
          <p:cNvPr id="7" name="34 Track 34.wma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10200" y="762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3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6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23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121317" y="1743903"/>
            <a:ext cx="3807399" cy="62874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viện Sakura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ạ.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317" y="2460250"/>
            <a:ext cx="7709996" cy="58775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Xin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lỗi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Ở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việc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mấy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mấy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ạ?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0903" y="3147612"/>
            <a:ext cx="5118098" cy="58618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9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7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ạ.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2761" y="3863613"/>
            <a:ext cx="5388756" cy="63218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à.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nghỉ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nào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ạ?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6340" y="1743903"/>
            <a:ext cx="560101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はい、さくら図書館です。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801" y="1755311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12" name="Rounded Rectangle 11"/>
          <p:cNvSpPr/>
          <p:nvPr/>
        </p:nvSpPr>
        <p:spPr>
          <a:xfrm>
            <a:off x="2128398" y="2452737"/>
            <a:ext cx="8046961" cy="71336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すみません、</a:t>
            </a:r>
            <a:r>
              <a:rPr lang="ja-JP" altLang="en-US" sz="2500" b="1" u="sng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そちら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2500" dirty="0">
                <a:solidFill>
                  <a:schemeClr val="tx1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まで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74296" y="2466255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14" name="Rounded Rectangle 13"/>
          <p:cNvSpPr/>
          <p:nvPr/>
        </p:nvSpPr>
        <p:spPr>
          <a:xfrm>
            <a:off x="2029295" y="3139141"/>
            <a:ext cx="5209706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９時から５じまでです。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66800" y="3147612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18" name="Rounded Rectangle 17"/>
          <p:cNvSpPr/>
          <p:nvPr/>
        </p:nvSpPr>
        <p:spPr>
          <a:xfrm>
            <a:off x="2011438" y="3823227"/>
            <a:ext cx="6903962" cy="7136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そうですか。休みは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いつ／なんようび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66801" y="3863613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0" name="Rounded Rectangle 19"/>
          <p:cNvSpPr/>
          <p:nvPr/>
        </p:nvSpPr>
        <p:spPr>
          <a:xfrm>
            <a:off x="2128398" y="4614803"/>
            <a:ext cx="1974120" cy="58618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ạ.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50256" y="5270844"/>
            <a:ext cx="4238261" cy="63218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à.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Cảm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ơn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rất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5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altLang="ja-JP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295" y="4614803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24" name="Rounded Rectangle 23"/>
          <p:cNvSpPr/>
          <p:nvPr/>
        </p:nvSpPr>
        <p:spPr>
          <a:xfrm>
            <a:off x="1074296" y="5270844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5" name="Rounded Rectangle 24"/>
          <p:cNvSpPr/>
          <p:nvPr/>
        </p:nvSpPr>
        <p:spPr>
          <a:xfrm>
            <a:off x="2087539" y="4625851"/>
            <a:ext cx="2840168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月曜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日です。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800663" y="1191602"/>
            <a:ext cx="2426116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としょかん</a:t>
            </a:r>
            <a:endParaRPr lang="en-US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62838" y="4669370"/>
            <a:ext cx="23375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げつ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ようび</a:t>
            </a:r>
            <a:endParaRPr lang="en-US" sz="25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17" name="34 Track 34.wm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0" y="408811"/>
            <a:ext cx="609600" cy="609600"/>
          </a:xfrm>
          <a:prstGeom prst="rect">
            <a:avLst/>
          </a:prstGeom>
        </p:spPr>
      </p:pic>
      <p:pic>
        <p:nvPicPr>
          <p:cNvPr id="23" name="35 Track 35.wma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48963" y="256491"/>
            <a:ext cx="609600" cy="609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433" y="3279169"/>
            <a:ext cx="2683933" cy="195854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268554"/>
            <a:ext cx="2446042" cy="200715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121424" y="5269569"/>
            <a:ext cx="8420624" cy="7136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そうですか。ありがとうございます。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971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0" dur="13235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10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6" dur="1356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audio>
              <p:cMediaNode vol="80000">
                <p:cTn id="10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7" grpId="0"/>
      <p:bldP spid="16" grpId="0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324758" cy="4369359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5715000" y="533400"/>
            <a:ext cx="5791200" cy="1447800"/>
          </a:xfrm>
          <a:prstGeom prst="wedgeRoundRectCallout">
            <a:avLst>
              <a:gd name="adj1" fmla="val -45713"/>
              <a:gd name="adj2" fmla="val 8929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さくら　としょかんは</a:t>
            </a:r>
            <a:endParaRPr lang="en-US" altLang="ja-JP" sz="3000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3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９時</a:t>
            </a:r>
            <a:r>
              <a:rPr lang="vi-VN" altLang="ja-JP" sz="3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3000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から</a:t>
            </a:r>
            <a:r>
              <a:rPr lang="ja-JP" altLang="en-US" sz="3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５時</a:t>
            </a:r>
            <a:r>
              <a:rPr lang="vi-VN" altLang="ja-JP" sz="3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3000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まで</a:t>
            </a:r>
            <a:r>
              <a:rPr lang="ja-JP" altLang="en-US" sz="3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です。</a:t>
            </a:r>
            <a:endParaRPr lang="en-US" altLang="ja-JP" sz="3000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2771" y="3263147"/>
            <a:ext cx="489589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500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ea typeface="NtMotoyaKyotai" panose="02020200000000000000" pitchFamily="18" charset="-128"/>
                <a:cs typeface="Times New Roman" panose="02020603050405020304" pitchFamily="18" charset="0"/>
              </a:rPr>
              <a:t>※N1</a:t>
            </a:r>
            <a:r>
              <a:rPr lang="ja-JP" altLang="en-US" sz="2500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NtMotoyaKyotai" panose="02020200000000000000" pitchFamily="18" charset="-128"/>
                <a:cs typeface="Times New Roman" panose="02020603050405020304" pitchFamily="18" charset="0"/>
              </a:rPr>
              <a:t>から</a:t>
            </a:r>
            <a:r>
              <a:rPr lang="vi-VN" altLang="ja-JP" sz="25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ea typeface="NtMotoyaKyotai" panose="02020200000000000000" pitchFamily="18" charset="-128"/>
                <a:cs typeface="Times New Roman" panose="02020603050405020304" pitchFamily="18" charset="0"/>
              </a:rPr>
              <a:t> </a:t>
            </a:r>
            <a:r>
              <a:rPr lang="en-US" altLang="ja-JP" sz="25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ea typeface="NtMotoyaKyotai" panose="02020200000000000000" pitchFamily="18" charset="-128"/>
                <a:cs typeface="Times New Roman" panose="02020603050405020304" pitchFamily="18" charset="0"/>
              </a:rPr>
              <a:t>N2</a:t>
            </a:r>
            <a:r>
              <a:rPr lang="ja-JP" altLang="en-US" sz="2500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NtMotoyaKyotai" panose="02020200000000000000" pitchFamily="18" charset="-128"/>
                <a:cs typeface="Times New Roman" panose="02020603050405020304" pitchFamily="18" charset="0"/>
              </a:rPr>
              <a:t>まで</a:t>
            </a:r>
            <a:r>
              <a:rPr lang="ja-JP" altLang="en-US" sz="2500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ea typeface="NtMotoyaKyotai" panose="02020200000000000000" pitchFamily="18" charset="-128"/>
                <a:cs typeface="Times New Roman" panose="02020603050405020304" pitchFamily="18" charset="0"/>
              </a:rPr>
              <a:t>：</a:t>
            </a:r>
            <a:r>
              <a:rPr lang="vi-VN" altLang="ja-JP" sz="2500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ea typeface="NtMotoyaKyotai" panose="02020200000000000000" pitchFamily="18" charset="-128"/>
                <a:cs typeface="Times New Roman" panose="02020603050405020304" pitchFamily="18" charset="0"/>
              </a:rPr>
              <a:t>Từ N1 đếN N2</a:t>
            </a:r>
          </a:p>
        </p:txBody>
      </p:sp>
    </p:spTree>
    <p:extLst>
      <p:ext uri="{BB962C8B-B14F-4D97-AF65-F5344CB8AC3E}">
        <p14:creationId xmlns:p14="http://schemas.microsoft.com/office/powerpoint/2010/main" val="103344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-76200"/>
            <a:ext cx="10213067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9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11785600" cy="1524000"/>
          </a:xfr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l"/>
            <a:r>
              <a:rPr lang="vi-VN" sz="3733" dirty="0"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vi-VN" altLang="ja-JP" sz="5333" dirty="0">
                <a:cs typeface="Times New Roman" pitchFamily="18" charset="0"/>
              </a:rPr>
              <a:t>hứ trong tuần</a:t>
            </a:r>
            <a:r>
              <a:rPr lang="ja-JP" altLang="en-US" sz="5333" dirty="0">
                <a:cs typeface="Times New Roman" pitchFamily="18" charset="0"/>
              </a:rPr>
              <a:t>　　</a:t>
            </a:r>
            <a:br>
              <a:rPr lang="en-US" altLang="ja-JP" sz="5333" dirty="0">
                <a:cs typeface="Times New Roman" pitchFamily="18" charset="0"/>
              </a:rPr>
            </a:br>
            <a:r>
              <a:rPr lang="ja-JP" altLang="en-US" sz="5333" dirty="0">
                <a:cs typeface="Times New Roman" pitchFamily="18" charset="0"/>
              </a:rPr>
              <a:t>～ようび</a:t>
            </a:r>
            <a:r>
              <a:rPr lang="en-US" altLang="ja-JP" sz="5333" dirty="0">
                <a:cs typeface="Times New Roman" pitchFamily="18" charset="0"/>
              </a:rPr>
              <a:t>(</a:t>
            </a:r>
            <a:r>
              <a:rPr lang="ja-JP" altLang="en-US" sz="5333" dirty="0">
                <a:cs typeface="Times New Roman" pitchFamily="18" charset="0"/>
              </a:rPr>
              <a:t>～曜日</a:t>
            </a:r>
            <a:r>
              <a:rPr lang="en-US" altLang="ja-JP" sz="5333" dirty="0">
                <a:cs typeface="Times New Roman" pitchFamily="18" charset="0"/>
              </a:rPr>
              <a:t>)</a:t>
            </a:r>
            <a:r>
              <a:rPr lang="ja-JP" altLang="en-US" sz="5333" dirty="0">
                <a:cs typeface="Times New Roman" pitchFamily="18" charset="0"/>
              </a:rPr>
              <a:t>➡</a:t>
            </a:r>
            <a:r>
              <a:rPr lang="ja-JP" altLang="en-US" sz="5333" dirty="0">
                <a:solidFill>
                  <a:srgbClr val="FF0000"/>
                </a:solidFill>
                <a:cs typeface="Times New Roman" pitchFamily="18" charset="0"/>
              </a:rPr>
              <a:t>なん</a:t>
            </a:r>
            <a:r>
              <a:rPr lang="ja-JP" altLang="en-US" sz="5333" dirty="0">
                <a:cs typeface="Times New Roman" pitchFamily="18" charset="0"/>
              </a:rPr>
              <a:t>ようび</a:t>
            </a:r>
            <a:endParaRPr lang="en-US" sz="5333" b="1" dirty="0">
              <a:solidFill>
                <a:srgbClr val="FF0000"/>
              </a:solidFill>
              <a:latin typeface="Times New Roman" pitchFamily="18" charset="0"/>
              <a:ea typeface="EPSON 教科書体Ｍ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981200"/>
            <a:ext cx="6781800" cy="4673600"/>
          </a:xfr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457189" indent="-457189" algn="l"/>
            <a:r>
              <a:rPr lang="vi-VN" altLang="ja-JP" sz="4000" b="1" dirty="0">
                <a:cs typeface="Times New Roman" pitchFamily="18" charset="0"/>
              </a:rPr>
              <a:t>2</a:t>
            </a:r>
            <a:r>
              <a:rPr lang="ja-JP" altLang="en-US" sz="4000" b="1" dirty="0">
                <a:cs typeface="Times New Roman" pitchFamily="18" charset="0"/>
              </a:rPr>
              <a:t>．</a:t>
            </a:r>
            <a:r>
              <a:rPr lang="ja-JP" altLang="en-US" sz="4000" b="1" dirty="0">
                <a:solidFill>
                  <a:srgbClr val="FF0000"/>
                </a:solidFill>
                <a:cs typeface="Times New Roman" pitchFamily="18" charset="0"/>
              </a:rPr>
              <a:t>げつ</a:t>
            </a:r>
            <a:r>
              <a:rPr lang="ja-JP" altLang="en-US" sz="4000" b="1" dirty="0">
                <a:cs typeface="Times New Roman" pitchFamily="18" charset="0"/>
              </a:rPr>
              <a:t>ようび　　月　　　　　　　　　　　　　　　　　 　　　　　　　　　　　　　</a:t>
            </a:r>
            <a:endParaRPr lang="en-US" altLang="ja-JP" sz="4000" b="1" dirty="0">
              <a:cs typeface="Times New Roman" pitchFamily="18" charset="0"/>
            </a:endParaRPr>
          </a:p>
          <a:p>
            <a:pPr marL="457189" indent="-457189" algn="l"/>
            <a:r>
              <a:rPr lang="vi-VN" altLang="ja-JP" sz="4000" b="1" dirty="0">
                <a:cs typeface="Times New Roman" pitchFamily="18" charset="0"/>
              </a:rPr>
              <a:t>3</a:t>
            </a:r>
            <a:r>
              <a:rPr lang="ja-JP" altLang="en-US" sz="4000" b="1" dirty="0">
                <a:cs typeface="Times New Roman" pitchFamily="18" charset="0"/>
              </a:rPr>
              <a:t>．</a:t>
            </a:r>
            <a:r>
              <a:rPr lang="ja-JP" altLang="en-US" sz="4000" b="1" dirty="0">
                <a:solidFill>
                  <a:srgbClr val="FF0000"/>
                </a:solidFill>
                <a:cs typeface="Times New Roman" pitchFamily="18" charset="0"/>
              </a:rPr>
              <a:t>か</a:t>
            </a:r>
            <a:r>
              <a:rPr lang="ja-JP" altLang="en-US" sz="4000" b="1" dirty="0">
                <a:cs typeface="Times New Roman" pitchFamily="18" charset="0"/>
              </a:rPr>
              <a:t>ようび　　　火　　　　　　　　　　　　　　　　　　</a:t>
            </a:r>
            <a:endParaRPr lang="en-US" altLang="ja-JP" sz="4000" b="1" dirty="0">
              <a:cs typeface="Times New Roman" pitchFamily="18" charset="0"/>
            </a:endParaRPr>
          </a:p>
          <a:p>
            <a:pPr marL="457189" indent="-457189" algn="l"/>
            <a:r>
              <a:rPr lang="vi-VN" altLang="ja-JP" sz="4000" b="1" dirty="0">
                <a:cs typeface="Times New Roman" pitchFamily="18" charset="0"/>
              </a:rPr>
              <a:t>4</a:t>
            </a:r>
            <a:r>
              <a:rPr lang="ja-JP" altLang="en-US" sz="4000" b="1" dirty="0">
                <a:cs typeface="Times New Roman" pitchFamily="18" charset="0"/>
              </a:rPr>
              <a:t>．</a:t>
            </a:r>
            <a:r>
              <a:rPr lang="ja-JP" altLang="en-US" sz="4000" b="1" dirty="0">
                <a:solidFill>
                  <a:srgbClr val="FF0000"/>
                </a:solidFill>
                <a:cs typeface="Times New Roman" pitchFamily="18" charset="0"/>
              </a:rPr>
              <a:t>すい</a:t>
            </a:r>
            <a:r>
              <a:rPr lang="ja-JP" altLang="en-US" sz="4000" b="1" dirty="0">
                <a:cs typeface="Times New Roman" pitchFamily="18" charset="0"/>
              </a:rPr>
              <a:t>ようび　　水</a:t>
            </a:r>
            <a:endParaRPr lang="en-US" altLang="ja-JP" sz="4000" b="1" dirty="0">
              <a:cs typeface="Times New Roman" pitchFamily="18" charset="0"/>
            </a:endParaRPr>
          </a:p>
          <a:p>
            <a:pPr marL="457189" indent="-457189" algn="l"/>
            <a:r>
              <a:rPr lang="vi-VN" altLang="ja-JP" sz="4000" b="1" dirty="0">
                <a:cs typeface="Times New Roman" pitchFamily="18" charset="0"/>
              </a:rPr>
              <a:t>5</a:t>
            </a:r>
            <a:r>
              <a:rPr lang="ja-JP" altLang="en-US" sz="4000" b="1" dirty="0">
                <a:cs typeface="Times New Roman" pitchFamily="18" charset="0"/>
              </a:rPr>
              <a:t>．</a:t>
            </a:r>
            <a:r>
              <a:rPr lang="ja-JP" altLang="en-US" sz="4000" b="1" dirty="0">
                <a:solidFill>
                  <a:srgbClr val="FF0000"/>
                </a:solidFill>
                <a:cs typeface="Times New Roman" pitchFamily="18" charset="0"/>
              </a:rPr>
              <a:t>もく</a:t>
            </a:r>
            <a:r>
              <a:rPr lang="ja-JP" altLang="en-US" sz="4000" b="1" dirty="0">
                <a:cs typeface="Times New Roman" pitchFamily="18" charset="0"/>
              </a:rPr>
              <a:t>ようび　　木　　　　　　　　　　　　　　　　　</a:t>
            </a:r>
            <a:endParaRPr lang="en-US" altLang="ja-JP" sz="4000" b="1" dirty="0">
              <a:cs typeface="Times New Roman" pitchFamily="18" charset="0"/>
            </a:endParaRPr>
          </a:p>
          <a:p>
            <a:pPr marL="457189" indent="-457189" algn="l"/>
            <a:r>
              <a:rPr lang="vi-VN" altLang="ja-JP" sz="4000" b="1" dirty="0">
                <a:cs typeface="Times New Roman" pitchFamily="18" charset="0"/>
              </a:rPr>
              <a:t>6</a:t>
            </a:r>
            <a:r>
              <a:rPr lang="ja-JP" altLang="en-US" sz="4000" b="1" dirty="0">
                <a:cs typeface="Times New Roman" pitchFamily="18" charset="0"/>
              </a:rPr>
              <a:t>．</a:t>
            </a:r>
            <a:r>
              <a:rPr lang="ja-JP" altLang="en-US" sz="4000" b="1" dirty="0">
                <a:solidFill>
                  <a:srgbClr val="FF0000"/>
                </a:solidFill>
                <a:cs typeface="Times New Roman" pitchFamily="18" charset="0"/>
              </a:rPr>
              <a:t>きん</a:t>
            </a:r>
            <a:r>
              <a:rPr lang="ja-JP" altLang="en-US" sz="4000" b="1" dirty="0">
                <a:cs typeface="Times New Roman" pitchFamily="18" charset="0"/>
              </a:rPr>
              <a:t>ようび　　金　　　　　　　　　　　　　　　　　　　</a:t>
            </a:r>
            <a:endParaRPr lang="en-US" sz="4000" b="1" dirty="0">
              <a:cs typeface="Times New Roman" pitchFamily="18" charset="0"/>
            </a:endParaRPr>
          </a:p>
          <a:p>
            <a:pPr marL="457189" indent="-457189" algn="l"/>
            <a:r>
              <a:rPr lang="vi-VN" altLang="ja-JP" sz="4000" b="1" dirty="0">
                <a:cs typeface="Times New Roman" pitchFamily="18" charset="0"/>
              </a:rPr>
              <a:t>7</a:t>
            </a:r>
            <a:r>
              <a:rPr lang="ja-JP" altLang="en-US" sz="4000" b="1" dirty="0">
                <a:cs typeface="Times New Roman" pitchFamily="18" charset="0"/>
              </a:rPr>
              <a:t>．</a:t>
            </a:r>
            <a:r>
              <a:rPr lang="ja-JP" altLang="en-US" sz="4000" b="1" dirty="0">
                <a:solidFill>
                  <a:srgbClr val="FF0000"/>
                </a:solidFill>
                <a:cs typeface="Times New Roman" pitchFamily="18" charset="0"/>
              </a:rPr>
              <a:t>ど</a:t>
            </a:r>
            <a:r>
              <a:rPr lang="ja-JP" altLang="en-US" sz="4000" b="1" dirty="0">
                <a:cs typeface="Times New Roman" pitchFamily="18" charset="0"/>
              </a:rPr>
              <a:t>ようび　　　土</a:t>
            </a:r>
            <a:endParaRPr lang="vi-VN" altLang="ja-JP" sz="4000" b="1" dirty="0">
              <a:cs typeface="Times New Roman" pitchFamily="18" charset="0"/>
            </a:endParaRPr>
          </a:p>
          <a:p>
            <a:pPr marL="457189" indent="-457189" algn="l"/>
            <a:r>
              <a:rPr lang="en-US" altLang="ja-JP" sz="4000" b="1" dirty="0">
                <a:cs typeface="Times New Roman" pitchFamily="18" charset="0"/>
              </a:rPr>
              <a:t>CN</a:t>
            </a:r>
            <a:r>
              <a:rPr lang="ja-JP" altLang="en-US" sz="4000" b="1" dirty="0">
                <a:cs typeface="Times New Roman" pitchFamily="18" charset="0"/>
              </a:rPr>
              <a:t>．</a:t>
            </a:r>
            <a:r>
              <a:rPr lang="ja-JP" altLang="en-US" sz="4000" b="1" dirty="0">
                <a:solidFill>
                  <a:srgbClr val="FF0000"/>
                </a:solidFill>
                <a:cs typeface="Times New Roman" pitchFamily="18" charset="0"/>
              </a:rPr>
              <a:t>にち</a:t>
            </a:r>
            <a:r>
              <a:rPr lang="ja-JP" altLang="en-US" sz="4000" b="1" dirty="0">
                <a:cs typeface="Times New Roman" pitchFamily="18" charset="0"/>
              </a:rPr>
              <a:t>ようび　</a:t>
            </a:r>
            <a:r>
              <a:rPr lang="vi-VN" altLang="ja-JP" sz="4000" b="1" dirty="0">
                <a:cs typeface="Times New Roman" pitchFamily="18" charset="0"/>
              </a:rPr>
              <a:t> </a:t>
            </a:r>
            <a:r>
              <a:rPr lang="ja-JP" altLang="en-US" sz="4000" b="1" dirty="0">
                <a:cs typeface="Times New Roman" pitchFamily="18" charset="0"/>
              </a:rPr>
              <a:t>日</a:t>
            </a:r>
            <a:endParaRPr lang="vi-VN" sz="4000" b="1" dirty="0">
              <a:cs typeface="Times New Roman" pitchFamily="18" charset="0"/>
            </a:endParaRPr>
          </a:p>
          <a:p>
            <a:pPr marL="457189" indent="-457189" algn="l"/>
            <a:endParaRPr lang="en-US" sz="4000" dirty="0"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09800"/>
            <a:ext cx="45466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1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kumimoji="1" lang="ja-JP" altLang="en-US" sz="3000" dirty="0"/>
              <a:t>〇月〇日➡〇曜日（ようび）</a:t>
            </a:r>
            <a:br>
              <a:rPr kumimoji="1" lang="vi-VN" altLang="ja-JP" sz="3000" dirty="0"/>
            </a:br>
            <a:r>
              <a:rPr lang="ja-JP" altLang="en-US" sz="3000" dirty="0"/>
              <a:t>ど７・きん６・もく５・すい４・か３・にち</a:t>
            </a:r>
            <a:r>
              <a:rPr lang="en-US" altLang="ja-JP" sz="3000" dirty="0"/>
              <a:t>CN</a:t>
            </a:r>
            <a:r>
              <a:rPr lang="ja-JP" altLang="en-US" sz="3000" dirty="0"/>
              <a:t>・げつ２</a:t>
            </a:r>
            <a:endParaRPr kumimoji="1" lang="ja-JP" altLang="en-US" sz="3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1752600"/>
            <a:ext cx="8915400" cy="505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3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2399"/>
            <a:ext cx="11658600" cy="660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4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73169" y="257407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13" name="Rounded Rectangle 12"/>
          <p:cNvSpPr/>
          <p:nvPr/>
        </p:nvSpPr>
        <p:spPr>
          <a:xfrm>
            <a:off x="180664" y="968351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4" name="Rounded Rectangle 23"/>
          <p:cNvSpPr/>
          <p:nvPr/>
        </p:nvSpPr>
        <p:spPr>
          <a:xfrm>
            <a:off x="178356" y="5077384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7" name="Rounded Rectangle 26"/>
          <p:cNvSpPr/>
          <p:nvPr/>
        </p:nvSpPr>
        <p:spPr>
          <a:xfrm>
            <a:off x="2907032" y="-305093"/>
            <a:ext cx="2426116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としょかん</a:t>
            </a:r>
            <a:endParaRPr lang="en-US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445" y="4318913"/>
            <a:ext cx="23375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げつ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ようび</a:t>
            </a:r>
            <a:endParaRPr lang="en-US" sz="25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143000" y="237939"/>
            <a:ext cx="560101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はい、さくら図書館です。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17807" y="903466"/>
            <a:ext cx="5626207" cy="92533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すみません、</a:t>
            </a:r>
            <a:endParaRPr lang="vi-VN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b="1" u="sng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そちら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2500" dirty="0">
                <a:solidFill>
                  <a:schemeClr val="tx1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まで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133355" y="1981200"/>
            <a:ext cx="5209706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９時から７じまでです。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70860" y="1989671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34" name="Rounded Rectangle 33"/>
          <p:cNvSpPr/>
          <p:nvPr/>
        </p:nvSpPr>
        <p:spPr>
          <a:xfrm>
            <a:off x="1115497" y="2895600"/>
            <a:ext cx="6192207" cy="9906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</a:t>
            </a:r>
            <a:endParaRPr lang="vi-VN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休みは　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いつ／なんようび　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ですか。⤴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70861" y="2935986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36" name="Rounded Rectangle 35"/>
          <p:cNvSpPr/>
          <p:nvPr/>
        </p:nvSpPr>
        <p:spPr>
          <a:xfrm>
            <a:off x="178355" y="4142662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37" name="Rounded Rectangle 36"/>
          <p:cNvSpPr/>
          <p:nvPr/>
        </p:nvSpPr>
        <p:spPr>
          <a:xfrm>
            <a:off x="1140693" y="4114800"/>
            <a:ext cx="2840168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月曜日です。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22836" y="5077567"/>
            <a:ext cx="5621178" cy="10946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月曜日ですか。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⤵</a:t>
            </a:r>
            <a:endParaRPr lang="vi-VN" altLang="ja-JP" sz="25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ありがとう　ございます。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12" y="304507"/>
            <a:ext cx="2330838" cy="28026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073" y="2362200"/>
            <a:ext cx="2963468" cy="375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5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24" grpId="0" animBg="1"/>
      <p:bldP spid="27" grpId="0"/>
      <p:bldP spid="16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73169" y="257407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13" name="Rounded Rectangle 12"/>
          <p:cNvSpPr/>
          <p:nvPr/>
        </p:nvSpPr>
        <p:spPr>
          <a:xfrm>
            <a:off x="180664" y="968351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4" name="Rounded Rectangle 23"/>
          <p:cNvSpPr/>
          <p:nvPr/>
        </p:nvSpPr>
        <p:spPr>
          <a:xfrm>
            <a:off x="178356" y="5077384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7" name="Rounded Rectangle 26"/>
          <p:cNvSpPr/>
          <p:nvPr/>
        </p:nvSpPr>
        <p:spPr>
          <a:xfrm>
            <a:off x="2907032" y="-305093"/>
            <a:ext cx="2426116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としょかん</a:t>
            </a:r>
            <a:endParaRPr lang="en-US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445" y="4318913"/>
            <a:ext cx="23375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げつ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ようび</a:t>
            </a:r>
            <a:endParaRPr lang="en-US" sz="25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143000" y="237939"/>
            <a:ext cx="560101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はい、さくら図書館です。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17807" y="903466"/>
            <a:ext cx="5626207" cy="92533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すみません、</a:t>
            </a:r>
            <a:endParaRPr lang="vi-VN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b="1" u="sng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そちら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2500" dirty="0">
                <a:solidFill>
                  <a:schemeClr val="tx1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まで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133355" y="1981200"/>
            <a:ext cx="5209706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９時から７じまでです。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70860" y="1989671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34" name="Rounded Rectangle 33"/>
          <p:cNvSpPr/>
          <p:nvPr/>
        </p:nvSpPr>
        <p:spPr>
          <a:xfrm>
            <a:off x="1115497" y="2895600"/>
            <a:ext cx="6192207" cy="9906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</a:t>
            </a:r>
            <a:endParaRPr lang="vi-VN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休みは　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いつ／なんようび　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ですか。⤴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70861" y="2935986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36" name="Rounded Rectangle 35"/>
          <p:cNvSpPr/>
          <p:nvPr/>
        </p:nvSpPr>
        <p:spPr>
          <a:xfrm>
            <a:off x="178355" y="4142662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37" name="Rounded Rectangle 36"/>
          <p:cNvSpPr/>
          <p:nvPr/>
        </p:nvSpPr>
        <p:spPr>
          <a:xfrm>
            <a:off x="1140693" y="4114800"/>
            <a:ext cx="2840168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月曜日です。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22836" y="5077567"/>
            <a:ext cx="5621178" cy="10946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月曜日ですか。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⤵</a:t>
            </a:r>
            <a:endParaRPr lang="vi-VN" altLang="ja-JP" sz="25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ありがとう　ございます。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76200"/>
            <a:ext cx="2330838" cy="280263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361621"/>
            <a:ext cx="3648584" cy="4391638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6985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24" grpId="0" animBg="1"/>
      <p:bldP spid="27" grpId="0"/>
      <p:bldP spid="16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73169" y="257407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13" name="Rounded Rectangle 12"/>
          <p:cNvSpPr/>
          <p:nvPr/>
        </p:nvSpPr>
        <p:spPr>
          <a:xfrm>
            <a:off x="180664" y="968351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4" name="Rounded Rectangle 23"/>
          <p:cNvSpPr/>
          <p:nvPr/>
        </p:nvSpPr>
        <p:spPr>
          <a:xfrm>
            <a:off x="178356" y="5077384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27" name="Rounded Rectangle 26"/>
          <p:cNvSpPr/>
          <p:nvPr/>
        </p:nvSpPr>
        <p:spPr>
          <a:xfrm>
            <a:off x="2907032" y="-305093"/>
            <a:ext cx="2426116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としょかん</a:t>
            </a:r>
            <a:endParaRPr lang="en-US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445" y="4318913"/>
            <a:ext cx="23375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げつ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ようび</a:t>
            </a:r>
            <a:endParaRPr lang="en-US" sz="25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143000" y="237939"/>
            <a:ext cx="560101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はい、さくら図書館です。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17807" y="903466"/>
            <a:ext cx="5626207" cy="92533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すみません、</a:t>
            </a:r>
            <a:endParaRPr lang="vi-VN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b="1" u="sng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そちら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2500" dirty="0">
                <a:solidFill>
                  <a:schemeClr val="tx1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から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何時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まで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133355" y="1981200"/>
            <a:ext cx="5209706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９時から７じまでです。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70860" y="1989671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34" name="Rounded Rectangle 33"/>
          <p:cNvSpPr/>
          <p:nvPr/>
        </p:nvSpPr>
        <p:spPr>
          <a:xfrm>
            <a:off x="1115497" y="2895600"/>
            <a:ext cx="6192207" cy="9906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</a:t>
            </a:r>
            <a:endParaRPr lang="vi-VN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休みは　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いつ／なんようび　</a:t>
            </a:r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ですか。⤴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70861" y="2935986"/>
            <a:ext cx="876300" cy="653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B</a:t>
            </a:r>
            <a:endParaRPr lang="en-US" sz="2500" dirty="0"/>
          </a:p>
        </p:txBody>
      </p:sp>
      <p:sp>
        <p:nvSpPr>
          <p:cNvPr id="36" name="Rounded Rectangle 35"/>
          <p:cNvSpPr/>
          <p:nvPr/>
        </p:nvSpPr>
        <p:spPr>
          <a:xfrm>
            <a:off x="178355" y="4142662"/>
            <a:ext cx="876301" cy="58618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500" dirty="0"/>
              <a:t>A</a:t>
            </a:r>
            <a:endParaRPr lang="en-US" sz="2500" dirty="0"/>
          </a:p>
        </p:txBody>
      </p:sp>
      <p:sp>
        <p:nvSpPr>
          <p:cNvPr id="37" name="Rounded Rectangle 36"/>
          <p:cNvSpPr/>
          <p:nvPr/>
        </p:nvSpPr>
        <p:spPr>
          <a:xfrm>
            <a:off x="1140693" y="4114800"/>
            <a:ext cx="2840168" cy="6530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月曜日です。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22836" y="5077567"/>
            <a:ext cx="5621178" cy="10946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月曜日ですか。</a:t>
            </a:r>
            <a:r>
              <a:rPr lang="ja-JP" altLang="en-US" sz="25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⤵</a:t>
            </a:r>
            <a:endParaRPr lang="vi-VN" altLang="ja-JP" sz="25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ありがとう　ございます。</a:t>
            </a:r>
            <a:endParaRPr lang="en-US" altLang="ja-JP" sz="25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76200"/>
            <a:ext cx="2330838" cy="28026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045" y="2573221"/>
            <a:ext cx="3277057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4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24" grpId="0" animBg="1"/>
      <p:bldP spid="27" grpId="0"/>
      <p:bldP spid="16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048000" y="331387"/>
            <a:ext cx="6169718" cy="115486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HGSoeiKakupoptai" panose="040B0A09000000000000" pitchFamily="49" charset="-128"/>
                <a:ea typeface="HGSoeiKakupoptai" panose="040B0A09000000000000" pitchFamily="49" charset="-128"/>
              </a:rPr>
              <a:t>第３課</a:t>
            </a:r>
            <a:endParaRPr lang="en-US" sz="4800" dirty="0">
              <a:latin typeface="HGSoeiKakupoptai" panose="040B0A09000000000000" pitchFamily="49" charset="-128"/>
              <a:ea typeface="HGSoeiKakupoptai" panose="040B0A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8600" y="2178005"/>
            <a:ext cx="11661082" cy="31949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6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私のスケジュール</a:t>
            </a:r>
            <a:endParaRPr lang="en-US" sz="48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 rot="721955">
            <a:off x="8373741" y="975725"/>
            <a:ext cx="2562832" cy="12700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600" dirty="0"/>
              <a:t>パート</a:t>
            </a:r>
            <a:endParaRPr lang="en-US" sz="3600" dirty="0"/>
          </a:p>
          <a:p>
            <a:r>
              <a:rPr lang="en-US" sz="3600" dirty="0"/>
              <a:t>PART </a:t>
            </a:r>
          </a:p>
        </p:txBody>
      </p:sp>
      <p:sp>
        <p:nvSpPr>
          <p:cNvPr id="9" name="Rounded Rectangle 8"/>
          <p:cNvSpPr/>
          <p:nvPr/>
        </p:nvSpPr>
        <p:spPr>
          <a:xfrm rot="829033">
            <a:off x="9743122" y="1235365"/>
            <a:ext cx="838200" cy="838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600" dirty="0"/>
              <a:t>2</a:t>
            </a:r>
            <a:endParaRPr lang="en-US" sz="9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A5EBB-BCB3-BF8B-29CE-9EA9C6612D06}"/>
              </a:ext>
            </a:extLst>
          </p:cNvPr>
          <p:cNvSpPr txBox="1"/>
          <p:nvPr/>
        </p:nvSpPr>
        <p:spPr>
          <a:xfrm>
            <a:off x="5334000" y="4419600"/>
            <a:ext cx="1073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Sukeju-ru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6549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-1788632"/>
            <a:ext cx="10769600" cy="84882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527" y="694038"/>
            <a:ext cx="4486901" cy="3400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005" y="3619048"/>
            <a:ext cx="4296375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7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847" y="762000"/>
            <a:ext cx="8143153" cy="6172200"/>
          </a:xfrm>
          <a:prstGeom prst="rect">
            <a:avLst/>
          </a:prstGeom>
        </p:spPr>
      </p:pic>
      <p:pic>
        <p:nvPicPr>
          <p:cNvPr id="3" name="37 Track 3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52600" y="2209800"/>
            <a:ext cx="17272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1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750" y="1026031"/>
            <a:ext cx="4933148" cy="3739138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8077200" y="76200"/>
            <a:ext cx="4038600" cy="1295400"/>
          </a:xfrm>
          <a:prstGeom prst="wedgeRoundRectCallout">
            <a:avLst>
              <a:gd name="adj1" fmla="val -32943"/>
              <a:gd name="adj2" fmla="val 12816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なに</a:t>
            </a:r>
            <a:r>
              <a:rPr kumimoji="1" lang="ja-JP" altLang="en-US" sz="3000" dirty="0">
                <a:solidFill>
                  <a:srgbClr val="FF0000"/>
                </a:solidFill>
              </a:rPr>
              <a:t>を</a:t>
            </a:r>
            <a:r>
              <a:rPr kumimoji="1" lang="ja-JP" altLang="en-US" sz="3000" dirty="0">
                <a:solidFill>
                  <a:schemeClr val="tx1"/>
                </a:solidFill>
              </a:rPr>
              <a:t>し</a:t>
            </a:r>
            <a:r>
              <a:rPr kumimoji="1" lang="ja-JP" altLang="en-US" sz="3000" dirty="0">
                <a:solidFill>
                  <a:srgbClr val="FF0000"/>
                </a:solidFill>
              </a:rPr>
              <a:t>ます</a:t>
            </a:r>
            <a:r>
              <a:rPr kumimoji="1" lang="ja-JP" altLang="en-US" sz="3000" dirty="0">
                <a:solidFill>
                  <a:schemeClr val="tx1"/>
                </a:solidFill>
              </a:rPr>
              <a:t>か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12405" y="4424938"/>
            <a:ext cx="4038600" cy="2280662"/>
          </a:xfrm>
          <a:prstGeom prst="wedgeRoundRectCallout">
            <a:avLst>
              <a:gd name="adj1" fmla="val 76315"/>
              <a:gd name="adj2" fmla="val -11447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りょうり</a:t>
            </a:r>
            <a:r>
              <a:rPr kumimoji="1" lang="ja-JP" altLang="en-US" sz="3000" dirty="0">
                <a:solidFill>
                  <a:srgbClr val="FF0000"/>
                </a:solidFill>
              </a:rPr>
              <a:t>を</a:t>
            </a:r>
            <a:r>
              <a:rPr kumimoji="1" lang="ja-JP" altLang="en-US" sz="3000" dirty="0">
                <a:solidFill>
                  <a:schemeClr val="tx1"/>
                </a:solidFill>
                <a:highlight>
                  <a:srgbClr val="FFFF00"/>
                </a:highlight>
              </a:rPr>
              <a:t>たべ</a:t>
            </a:r>
            <a:r>
              <a:rPr kumimoji="1" lang="ja-JP" altLang="en-US" sz="3000" dirty="0">
                <a:solidFill>
                  <a:srgbClr val="FF0000"/>
                </a:solidFill>
              </a:rPr>
              <a:t>ます</a:t>
            </a:r>
            <a:r>
              <a:rPr kumimoji="1" lang="ja-JP" altLang="en-US" sz="3000" dirty="0">
                <a:solidFill>
                  <a:schemeClr val="tx1"/>
                </a:solidFill>
              </a:rPr>
              <a:t>。ビール</a:t>
            </a:r>
            <a:r>
              <a:rPr kumimoji="1" lang="ja-JP" altLang="en-US" sz="3000" dirty="0">
                <a:solidFill>
                  <a:srgbClr val="FF0000"/>
                </a:solidFill>
              </a:rPr>
              <a:t>を</a:t>
            </a:r>
            <a:r>
              <a:rPr kumimoji="1" lang="ja-JP" altLang="en-US" sz="3000" dirty="0">
                <a:solidFill>
                  <a:schemeClr val="tx1"/>
                </a:solidFill>
                <a:highlight>
                  <a:srgbClr val="FFFF00"/>
                </a:highlight>
              </a:rPr>
              <a:t>のみ</a:t>
            </a:r>
            <a:r>
              <a:rPr kumimoji="1" lang="ja-JP" altLang="en-US" sz="3000" dirty="0">
                <a:solidFill>
                  <a:srgbClr val="FF0000"/>
                </a:solidFill>
              </a:rPr>
              <a:t>ます</a:t>
            </a:r>
            <a:r>
              <a:rPr kumimoji="1" lang="ja-JP" altLang="en-US" sz="30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540949" y="771435"/>
            <a:ext cx="2209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vi-VN" altLang="ja-JP" dirty="0"/>
              <a:t>Sẽ làm gì?</a:t>
            </a:r>
            <a:endParaRPr kumimoji="1" lang="en-US" altLang="ja-JP" dirty="0"/>
          </a:p>
          <a:p>
            <a:pPr algn="l" rtl="0"/>
            <a:r>
              <a:rPr lang="en-US" b="0" i="0" dirty="0">
                <a:solidFill>
                  <a:srgbClr val="5F6368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Nani o </a:t>
            </a:r>
            <a:r>
              <a:rPr lang="en-US" b="0" i="0" dirty="0" err="1">
                <a:solidFill>
                  <a:srgbClr val="5F6368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shimasu</a:t>
            </a:r>
            <a:r>
              <a:rPr lang="en-US" b="0" i="0" dirty="0">
                <a:solidFill>
                  <a:srgbClr val="5F6368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 ka</a:t>
            </a:r>
          </a:p>
          <a:p>
            <a:br>
              <a:rPr lang="en-US" b="0" i="0" dirty="0">
                <a:effectLst/>
                <a:latin typeface="Roboto" panose="02000000000000000000" pitchFamily="2" charset="0"/>
              </a:rPr>
            </a:br>
            <a:endParaRPr lang="ja-JP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343400" y="5195937"/>
            <a:ext cx="20601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altLang="ja-JP" dirty="0"/>
              <a:t>Ăn đồ ăn.</a:t>
            </a:r>
            <a:r>
              <a:rPr lang="en-US" altLang="ja-JP" dirty="0"/>
              <a:t> =&gt; ta-be</a:t>
            </a:r>
            <a:endParaRPr lang="vi-VN" altLang="ja-JP" dirty="0"/>
          </a:p>
          <a:p>
            <a:r>
              <a:rPr lang="vi-VN" altLang="ja-JP" dirty="0"/>
              <a:t>Uống bia.</a:t>
            </a:r>
            <a:r>
              <a:rPr lang="en-US" altLang="ja-JP" dirty="0"/>
              <a:t> </a:t>
            </a:r>
            <a:r>
              <a:rPr lang="en-US" altLang="ja-JP"/>
              <a:t>=&gt; no-mi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3606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240" y="762000"/>
            <a:ext cx="7782935" cy="5867400"/>
          </a:xfrm>
          <a:prstGeom prst="rect">
            <a:avLst/>
          </a:prstGeom>
        </p:spPr>
      </p:pic>
      <p:pic>
        <p:nvPicPr>
          <p:cNvPr id="3" name="38 Track 3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57400" y="129540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66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5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905000"/>
            <a:ext cx="4677375" cy="3526180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7924800" y="244253"/>
            <a:ext cx="4038600" cy="1295400"/>
          </a:xfrm>
          <a:prstGeom prst="wedgeRoundRectCallout">
            <a:avLst>
              <a:gd name="adj1" fmla="val -32943"/>
              <a:gd name="adj2" fmla="val 12816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ふじさん</a:t>
            </a:r>
            <a:r>
              <a:rPr kumimoji="1" lang="ja-JP" altLang="en-US" sz="3000" dirty="0">
                <a:solidFill>
                  <a:srgbClr val="FF0000"/>
                </a:solidFill>
              </a:rPr>
              <a:t>へ</a:t>
            </a:r>
            <a:r>
              <a:rPr kumimoji="1" lang="ja-JP" altLang="en-US" sz="3000" dirty="0">
                <a:solidFill>
                  <a:schemeClr val="tx1"/>
                </a:solidFill>
              </a:rPr>
              <a:t>いきます。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12405" y="4424938"/>
            <a:ext cx="4038600" cy="2280662"/>
          </a:xfrm>
          <a:prstGeom prst="wedgeRoundRectCallout">
            <a:avLst>
              <a:gd name="adj1" fmla="val 76315"/>
              <a:gd name="adj2" fmla="val -11447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rgbClr val="FF0000"/>
                </a:solidFill>
              </a:rPr>
              <a:t>どこへ</a:t>
            </a:r>
            <a:r>
              <a:rPr kumimoji="1" lang="ja-JP" altLang="en-US" sz="3000" dirty="0">
                <a:solidFill>
                  <a:schemeClr val="tx1"/>
                </a:solidFill>
              </a:rPr>
              <a:t>いきますか</a:t>
            </a:r>
          </a:p>
        </p:txBody>
      </p:sp>
    </p:spTree>
    <p:extLst>
      <p:ext uri="{BB962C8B-B14F-4D97-AF65-F5344CB8AC3E}">
        <p14:creationId xmlns:p14="http://schemas.microsoft.com/office/powerpoint/2010/main" val="85256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1104">
            <a:off x="262883" y="146316"/>
            <a:ext cx="3325597" cy="2020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005262" y="686784"/>
            <a:ext cx="36401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48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いきます</a:t>
            </a:r>
            <a:endParaRPr lang="en-US" sz="48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05262" y="1499584"/>
            <a:ext cx="36401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48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きます</a:t>
            </a:r>
            <a:endParaRPr lang="en-US" sz="48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038600" y="2320322"/>
            <a:ext cx="44370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48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のみます</a:t>
            </a:r>
            <a:endParaRPr lang="en-US" sz="48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038600" y="3141059"/>
            <a:ext cx="44370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48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みます</a:t>
            </a:r>
            <a:endParaRPr lang="en-US" sz="48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8" name="Rounded Rectangle 7"/>
          <p:cNvSpPr>
            <a:spLocks noChangeArrowheads="1"/>
          </p:cNvSpPr>
          <p:nvPr/>
        </p:nvSpPr>
        <p:spPr bwMode="auto">
          <a:xfrm>
            <a:off x="5265737" y="770922"/>
            <a:ext cx="1304925" cy="7112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dirty="0"/>
          </a:p>
        </p:txBody>
      </p:sp>
      <p:sp>
        <p:nvSpPr>
          <p:cNvPr id="9" name="Rounded Rectangle 8"/>
          <p:cNvSpPr>
            <a:spLocks noChangeArrowheads="1"/>
          </p:cNvSpPr>
          <p:nvPr/>
        </p:nvSpPr>
        <p:spPr bwMode="auto">
          <a:xfrm>
            <a:off x="4699792" y="1552765"/>
            <a:ext cx="1303338" cy="7112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dirty="0"/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5265736" y="2396522"/>
            <a:ext cx="1304925" cy="7112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dirty="0"/>
          </a:p>
        </p:txBody>
      </p:sp>
      <p:sp>
        <p:nvSpPr>
          <p:cNvPr id="11" name="Rounded Rectangle 10"/>
          <p:cNvSpPr>
            <a:spLocks noChangeArrowheads="1"/>
          </p:cNvSpPr>
          <p:nvPr/>
        </p:nvSpPr>
        <p:spPr bwMode="auto">
          <a:xfrm>
            <a:off x="4699792" y="3224593"/>
            <a:ext cx="1304925" cy="7112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97448" y="1447800"/>
            <a:ext cx="3590925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masu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5347" y="2070080"/>
            <a:ext cx="3589338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lịch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nhiều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hội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thoại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khẳng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987800" y="3969734"/>
            <a:ext cx="44370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ja-JP" altLang="en-US" sz="48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おきます</a:t>
            </a:r>
            <a:endParaRPr lang="en-US" sz="48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9" name="Rounded Rectangle 18"/>
          <p:cNvSpPr>
            <a:spLocks noChangeArrowheads="1"/>
          </p:cNvSpPr>
          <p:nvPr/>
        </p:nvSpPr>
        <p:spPr bwMode="auto">
          <a:xfrm>
            <a:off x="5307271" y="4088443"/>
            <a:ext cx="1304925" cy="7112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321211" y="-30292"/>
            <a:ext cx="4343400" cy="13597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6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Ⅴ</a:t>
            </a:r>
            <a:r>
              <a:rPr lang="ja-JP" altLang="en-US" sz="80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ます</a:t>
            </a:r>
            <a:endParaRPr lang="en-US" sz="80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031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8" grpId="0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74622" y="1960301"/>
            <a:ext cx="91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uống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95295" y="5922701"/>
            <a:ext cx="159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giáo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97686" y="3968532"/>
            <a:ext cx="1297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63908" y="1431366"/>
            <a:ext cx="15502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105070" y="1444640"/>
            <a:ext cx="2704475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飲みます。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5638" y="3365669"/>
            <a:ext cx="36576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アンナさんは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0875" y="3336366"/>
            <a:ext cx="2704475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行きます。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76035" y="5336457"/>
            <a:ext cx="2051831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先生は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202223" y="5364463"/>
            <a:ext cx="2704475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41203" y="1979756"/>
            <a:ext cx="157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 mai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24800" y="3962400"/>
            <a:ext cx="157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Mùa xuân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81075" y="5921224"/>
            <a:ext cx="157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 nay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20153" y="1422506"/>
            <a:ext cx="15502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明日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7475" y="3336366"/>
            <a:ext cx="73042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春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-19364" y="5317566"/>
            <a:ext cx="130284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今晩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942475" y="6117348"/>
            <a:ext cx="375873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今晩　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0366" y="5083778"/>
            <a:ext cx="132907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こんばん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3675" y="3031566"/>
            <a:ext cx="831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はる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1240" y="1278966"/>
            <a:ext cx="103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あした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20216" y="196476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173775" y="1117706"/>
            <a:ext cx="103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の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503763" y="3969270"/>
            <a:ext cx="1641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4312" y="5921223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chơi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15795" y="3107766"/>
            <a:ext cx="831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い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505200" y="4373863"/>
            <a:ext cx="3542675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春　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行きます。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586640" y="2184506"/>
            <a:ext cx="42672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明日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飲みます。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13675" y="2155093"/>
            <a:ext cx="15502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-152400" y="4344560"/>
            <a:ext cx="36576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アンナさんは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940" y="6051040"/>
            <a:ext cx="2051831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先生は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83152" y="62138"/>
            <a:ext cx="11627848" cy="9983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ja-JP" sz="6000" dirty="0">
                <a:solidFill>
                  <a:schemeClr val="tx1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S</a:t>
            </a:r>
            <a:r>
              <a:rPr lang="ja-JP" altLang="en-US" sz="6000" dirty="0">
                <a:solidFill>
                  <a:srgbClr val="FF0000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は</a:t>
            </a:r>
            <a:r>
              <a:rPr lang="ja-JP" altLang="en-US" sz="6000" dirty="0">
                <a:solidFill>
                  <a:schemeClr val="tx1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～</a:t>
            </a:r>
            <a:r>
              <a:rPr lang="en-US" altLang="ja-JP" sz="6000" dirty="0">
                <a:solidFill>
                  <a:srgbClr val="FF0000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Ⅴ</a:t>
            </a:r>
            <a:r>
              <a:rPr lang="ja-JP" altLang="en-US" sz="6000" dirty="0">
                <a:solidFill>
                  <a:srgbClr val="FF0000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ます</a:t>
            </a:r>
            <a:r>
              <a:rPr lang="ja-JP" altLang="en-US" sz="6000" dirty="0">
                <a:solidFill>
                  <a:schemeClr val="tx1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。</a:t>
            </a:r>
            <a:r>
              <a:rPr lang="vi-VN" altLang="ja-JP" sz="6000" dirty="0">
                <a:solidFill>
                  <a:schemeClr val="tx1"/>
                </a:solidFill>
                <a:latin typeface="HGMaruGothicMPRO" panose="020F0609000000000000" pitchFamily="49" charset="-128"/>
                <a:ea typeface="HGMaruGothicMPRO" panose="020F0609000000000000" pitchFamily="49" charset="-128"/>
              </a:rPr>
              <a:t>S làm V</a:t>
            </a:r>
            <a:endParaRPr lang="vi-VN" altLang="ja-JP" sz="6000" dirty="0">
              <a:solidFill>
                <a:schemeClr val="tx1"/>
              </a:solidFill>
              <a:latin typeface="Times New Roman" panose="02020603050405020304" pitchFamily="18" charset="0"/>
              <a:ea typeface="HGMaruGothicMPRO" panose="020F0609000000000000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43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24" grpId="0"/>
      <p:bldP spid="1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42" grpId="0" animBg="1"/>
      <p:bldP spid="22" grpId="0" animBg="1"/>
      <p:bldP spid="22" grpId="1" animBg="1"/>
      <p:bldP spid="36" grpId="0"/>
      <p:bldP spid="36" grpId="1"/>
      <p:bldP spid="37" grpId="0"/>
      <p:bldP spid="37" grpId="1"/>
      <p:bldP spid="43" grpId="0"/>
      <p:bldP spid="44" grpId="0"/>
      <p:bldP spid="45" grpId="0"/>
      <p:bldP spid="47" grpId="0"/>
      <p:bldP spid="46" grpId="0"/>
      <p:bldP spid="41" grpId="0" animBg="1"/>
      <p:bldP spid="40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9975" y="527685"/>
            <a:ext cx="157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uống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9632" y="4541562"/>
            <a:ext cx="3321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AnhYamada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chơi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41548" y="2733364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Anna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4859" y="1059727"/>
            <a:ext cx="15502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77433" y="1063545"/>
            <a:ext cx="2704475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飲みます。→</a:t>
            </a:r>
            <a:endParaRPr lang="en-US" sz="25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28600" y="3135144"/>
            <a:ext cx="11582400" cy="12807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アンナさん</a:t>
            </a:r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いきます。 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(ANME ĐI ĐÂU)</a:t>
            </a:r>
          </a:p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アンナさんは日本</a:t>
            </a:r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へ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ひこうき✈</a:t>
            </a:r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で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いき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ます。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Ở </a:t>
            </a:r>
            <a:r>
              <a:rPr lang="en-US" altLang="ja-JP" sz="25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đây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en-US" altLang="ja-JP" sz="25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có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en-US" altLang="ja-JP" sz="25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trợ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en-US" altLang="ja-JP" sz="25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từ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de  </a:t>
            </a:r>
            <a:r>
              <a:rPr lang="en-US" altLang="ja-JP" sz="25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là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=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5128900"/>
            <a:ext cx="66294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やまださん</a:t>
            </a:r>
            <a:r>
              <a:rPr lang="ja-JP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は</a:t>
            </a:r>
            <a:r>
              <a:rPr lang="ja-JP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会社</a:t>
            </a:r>
            <a:r>
              <a:rPr lang="ja-JP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で</a:t>
            </a:r>
            <a:r>
              <a:rPr lang="ja-JP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サッカー</a:t>
            </a:r>
            <a:r>
              <a:rPr lang="ja-JP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を</a:t>
            </a:r>
            <a:endParaRPr lang="en-US" sz="3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877362" y="5043054"/>
            <a:ext cx="2094875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NtMotoyaKyotai" panose="02020200000000000000" pitchFamily="18" charset="-128"/>
                <a:ea typeface="NtMotoyaKyotai" panose="02020200000000000000" pitchFamily="18" charset="-128"/>
              </a:rPr>
              <a:t>しま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7923" y="2733364"/>
            <a:ext cx="1841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Nhật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50856" y="4581389"/>
            <a:ext cx="1841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bóng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58200" y="1911451"/>
            <a:ext cx="1571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8187" y="2748340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556908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4953000"/>
            <a:ext cx="1348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かいしゃ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601200" y="584467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uống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bia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696774" y="1086952"/>
            <a:ext cx="15502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289348" y="1090770"/>
            <a:ext cx="4607252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ビール</a:t>
            </a:r>
            <a:r>
              <a:rPr lang="ja-JP" altLang="en-US" sz="3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を</a:t>
            </a:r>
            <a:r>
              <a:rPr lang="ja-JP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飲みます。</a:t>
            </a:r>
            <a:endParaRPr lang="en-US" sz="3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800600" y="1905000"/>
            <a:ext cx="15502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329024" y="1897408"/>
            <a:ext cx="5597852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うち</a:t>
            </a:r>
            <a:r>
              <a:rPr lang="ja-JP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で</a:t>
            </a:r>
            <a:r>
              <a:rPr lang="ja-JP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ビール</a:t>
            </a:r>
            <a:r>
              <a:rPr lang="ja-JP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を</a:t>
            </a:r>
            <a:r>
              <a:rPr lang="ja-JP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飲みます。</a:t>
            </a:r>
            <a:endParaRPr lang="en-US" sz="3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45685" y="2191300"/>
            <a:ext cx="2826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uống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bia ở nhà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49CD6-3ADA-F571-F4FD-0478CD1313F3}"/>
              </a:ext>
            </a:extLst>
          </p:cNvPr>
          <p:cNvSpPr txBox="1"/>
          <p:nvPr/>
        </p:nvSpPr>
        <p:spPr>
          <a:xfrm>
            <a:off x="7315200" y="6096000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02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21485 0.0030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42" y="139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25469 -0.00347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34" y="-18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21485 0.00301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4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21485 0.00301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4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24" grpId="0"/>
      <p:bldP spid="12" grpId="0" animBg="1"/>
      <p:bldP spid="25" grpId="0" animBg="1"/>
      <p:bldP spid="25" grpId="1" animBg="1"/>
      <p:bldP spid="26" grpId="0" animBg="1"/>
      <p:bldP spid="28" grpId="0" animBg="1"/>
      <p:bldP spid="29" grpId="0" animBg="1"/>
      <p:bldP spid="29" grpId="1" animBg="1"/>
      <p:bldP spid="37" grpId="0"/>
      <p:bldP spid="37" grpId="1"/>
      <p:bldP spid="38" grpId="0"/>
      <p:bldP spid="38" grpId="1"/>
      <p:bldP spid="41" grpId="0"/>
      <p:bldP spid="50" grpId="0"/>
      <p:bldP spid="42" grpId="0"/>
      <p:bldP spid="52" grpId="0"/>
      <p:bldP spid="60" grpId="0"/>
      <p:bldP spid="61" grpId="0" animBg="1"/>
      <p:bldP spid="62" grpId="0" animBg="1"/>
      <p:bldP spid="62" grpId="1" animBg="1"/>
      <p:bldP spid="63" grpId="0" animBg="1"/>
      <p:bldP spid="64" grpId="0" animBg="1"/>
      <p:bldP spid="64" grpId="1" animBg="1"/>
      <p:bldP spid="6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ched Right Arrow 3"/>
          <p:cNvSpPr/>
          <p:nvPr/>
        </p:nvSpPr>
        <p:spPr>
          <a:xfrm>
            <a:off x="9374261" y="-63712"/>
            <a:ext cx="1330377" cy="965862"/>
          </a:xfrm>
          <a:prstGeom prst="notch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gì</a:t>
            </a:r>
            <a:endParaRPr lang="en-US" dirty="0"/>
          </a:p>
        </p:txBody>
      </p:sp>
      <p:sp>
        <p:nvSpPr>
          <p:cNvPr id="27" name="Notched Right Arrow 26"/>
          <p:cNvSpPr/>
          <p:nvPr/>
        </p:nvSpPr>
        <p:spPr>
          <a:xfrm>
            <a:off x="9337623" y="1752600"/>
            <a:ext cx="1330377" cy="965862"/>
          </a:xfrm>
          <a:prstGeom prst="notched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đâu</a:t>
            </a:r>
            <a:endParaRPr lang="en-US" dirty="0"/>
          </a:p>
        </p:txBody>
      </p:sp>
      <p:sp>
        <p:nvSpPr>
          <p:cNvPr id="30" name="Notched Right Arrow 29"/>
          <p:cNvSpPr/>
          <p:nvPr/>
        </p:nvSpPr>
        <p:spPr>
          <a:xfrm rot="833993">
            <a:off x="9331149" y="5428405"/>
            <a:ext cx="1454904" cy="965862"/>
          </a:xfrm>
          <a:prstGeom prst="notched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gì</a:t>
            </a:r>
            <a:endParaRPr lang="en-US" dirty="0"/>
          </a:p>
        </p:txBody>
      </p:sp>
      <p:sp>
        <p:nvSpPr>
          <p:cNvPr id="31" name="Notched Right Arrow 30"/>
          <p:cNvSpPr/>
          <p:nvPr/>
        </p:nvSpPr>
        <p:spPr>
          <a:xfrm rot="19787496">
            <a:off x="9249597" y="3891829"/>
            <a:ext cx="1454904" cy="965862"/>
          </a:xfrm>
          <a:prstGeom prst="notched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/>
              <a:t>Làm ở</a:t>
            </a:r>
            <a:r>
              <a:rPr lang="en-US"/>
              <a:t> </a:t>
            </a:r>
            <a:r>
              <a:rPr lang="en-US" dirty="0" err="1"/>
              <a:t>đâu</a:t>
            </a:r>
            <a:endParaRPr lang="en-US" dirty="0"/>
          </a:p>
        </p:txBody>
      </p:sp>
      <p:sp>
        <p:nvSpPr>
          <p:cNvPr id="39" name="Left Arrow 38"/>
          <p:cNvSpPr/>
          <p:nvPr/>
        </p:nvSpPr>
        <p:spPr>
          <a:xfrm>
            <a:off x="945072" y="2419537"/>
            <a:ext cx="8153400" cy="1361162"/>
          </a:xfrm>
          <a:prstGeom prst="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hướng</a:t>
            </a:r>
            <a:r>
              <a:rPr lang="en-US" dirty="0"/>
              <a:t> di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. </a:t>
            </a:r>
            <a:r>
              <a:rPr lang="vi-VN" dirty="0"/>
              <a:t> Hướng đến </a:t>
            </a:r>
            <a:r>
              <a:rPr lang="vi-VN" dirty="0">
                <a:solidFill>
                  <a:srgbClr val="FF0000"/>
                </a:solidFill>
              </a:rPr>
              <a:t>N chỉ nơi chốn</a:t>
            </a:r>
            <a:r>
              <a:rPr lang="vi-VN" dirty="0"/>
              <a:t> để di chuyển. V thường gặp: </a:t>
            </a:r>
            <a:r>
              <a:rPr lang="ja-JP" altLang="en-US" dirty="0"/>
              <a:t>いきます、きます、かえります。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2" name="Left Arrow 41"/>
          <p:cNvSpPr/>
          <p:nvPr/>
        </p:nvSpPr>
        <p:spPr>
          <a:xfrm>
            <a:off x="901522" y="3962400"/>
            <a:ext cx="8366981" cy="2992046"/>
          </a:xfrm>
          <a:prstGeom prst="leftArrow">
            <a:avLst>
              <a:gd name="adj1" fmla="val 50000"/>
              <a:gd name="adj2" fmla="val 23452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(1) </a:t>
            </a:r>
            <a:r>
              <a:rPr lang="en-US" dirty="0" err="1">
                <a:solidFill>
                  <a:srgbClr val="FF0000"/>
                </a:solidFill>
              </a:rPr>
              <a:t>Địa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điểm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vi-VN" dirty="0"/>
              <a:t>. N là nơi chốn. V là động tác. Làm </a:t>
            </a:r>
            <a:r>
              <a:rPr lang="vi-VN" b="1" dirty="0">
                <a:solidFill>
                  <a:srgbClr val="FF0000"/>
                </a:solidFill>
              </a:rPr>
              <a:t>tại</a:t>
            </a:r>
            <a:r>
              <a:rPr lang="vi-VN" dirty="0"/>
              <a:t> NC</a:t>
            </a:r>
          </a:p>
          <a:p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(2)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Phương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tiện</a:t>
            </a:r>
            <a:r>
              <a:rPr lang="en-US" dirty="0">
                <a:sym typeface="Wingdings" panose="05000000000000000000" pitchFamily="2" charset="2"/>
              </a:rPr>
              <a:t> di </a:t>
            </a:r>
            <a:r>
              <a:rPr lang="en-US" dirty="0" err="1">
                <a:sym typeface="Wingdings" panose="05000000000000000000" pitchFamily="2" charset="2"/>
              </a:rPr>
              <a:t>chuyển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đối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vi-VN" dirty="0">
                <a:sym typeface="Wingdings" panose="05000000000000000000" pitchFamily="2" charset="2"/>
              </a:rPr>
              <a:t>tượng. N là Phương tiện giao thông. Làm </a:t>
            </a:r>
            <a:r>
              <a:rPr lang="vi-VN" dirty="0">
                <a:solidFill>
                  <a:srgbClr val="FF0000"/>
                </a:solidFill>
                <a:sym typeface="Wingdings" panose="05000000000000000000" pitchFamily="2" charset="2"/>
              </a:rPr>
              <a:t>bằng</a:t>
            </a:r>
            <a:r>
              <a:rPr lang="vi-VN" dirty="0">
                <a:sym typeface="Wingdings" panose="05000000000000000000" pitchFamily="2" charset="2"/>
              </a:rPr>
              <a:t> N</a:t>
            </a:r>
            <a:endParaRPr lang="en-US" dirty="0"/>
          </a:p>
        </p:txBody>
      </p:sp>
      <p:sp>
        <p:nvSpPr>
          <p:cNvPr id="45" name="Left Arrow 44"/>
          <p:cNvSpPr/>
          <p:nvPr/>
        </p:nvSpPr>
        <p:spPr>
          <a:xfrm>
            <a:off x="945072" y="538141"/>
            <a:ext cx="8153400" cy="1361162"/>
          </a:xfrm>
          <a:prstGeom prst="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đối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tượng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  <a:r>
              <a:rPr lang="vi-VN" dirty="0"/>
              <a:t> Làm việc~. </a:t>
            </a:r>
            <a:r>
              <a:rPr lang="vi-VN" dirty="0">
                <a:solidFill>
                  <a:srgbClr val="FF0000"/>
                </a:solidFill>
              </a:rPr>
              <a:t>N thường là vật, việc</a:t>
            </a:r>
            <a:r>
              <a:rPr lang="vi-VN" dirty="0"/>
              <a:t>.</a:t>
            </a:r>
            <a:endParaRPr lang="en-US" dirty="0"/>
          </a:p>
          <a:p>
            <a:pPr algn="ctr"/>
            <a:r>
              <a:rPr lang="en-US" altLang="ja-JP" dirty="0"/>
              <a:t>V</a:t>
            </a:r>
            <a:r>
              <a:rPr lang="ja-JP" altLang="en-US" dirty="0"/>
              <a:t> </a:t>
            </a:r>
            <a:r>
              <a:rPr lang="vi-VN" altLang="ja-JP" dirty="0"/>
              <a:t>là hành động tác dụng lên đồ vật N: </a:t>
            </a:r>
            <a:r>
              <a:rPr lang="ja-JP" altLang="en-US" dirty="0"/>
              <a:t>たべます、のみます、</a:t>
            </a:r>
            <a:r>
              <a:rPr lang="ja-JP" altLang="en-US" b="1" dirty="0"/>
              <a:t>みま</a:t>
            </a:r>
            <a:r>
              <a:rPr lang="ja-JP" altLang="en-US" dirty="0"/>
              <a:t>す。。。</a:t>
            </a:r>
            <a:endParaRPr lang="en-US" dirty="0"/>
          </a:p>
        </p:txBody>
      </p:sp>
      <p:sp>
        <p:nvSpPr>
          <p:cNvPr id="60" name="Rounded Rectangle 59"/>
          <p:cNvSpPr/>
          <p:nvPr/>
        </p:nvSpPr>
        <p:spPr>
          <a:xfrm>
            <a:off x="9268503" y="2708898"/>
            <a:ext cx="1878341" cy="10167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N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へ</a:t>
            </a:r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</a:p>
          <a:p>
            <a:pPr algn="ctr"/>
            <a:r>
              <a:rPr lang="ja-JP" altLang="en-US" sz="1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へ</a:t>
            </a:r>
            <a:r>
              <a:rPr lang="vi-VN" altLang="ja-JP" sz="1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đọc là ê</a:t>
            </a:r>
            <a:endParaRPr lang="en-US" altLang="ja-JP" sz="15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233999" y="900501"/>
            <a:ext cx="2681527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N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を</a:t>
            </a:r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23507" y="4760920"/>
            <a:ext cx="2392019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N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で</a:t>
            </a:r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EF9704-4F1D-B4B2-8C63-98FC02412513}"/>
              </a:ext>
            </a:extLst>
          </p:cNvPr>
          <p:cNvSpPr txBox="1"/>
          <p:nvPr/>
        </p:nvSpPr>
        <p:spPr>
          <a:xfrm>
            <a:off x="4572000" y="359139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</a:t>
            </a:r>
          </a:p>
        </p:txBody>
      </p:sp>
    </p:spTree>
    <p:extLst>
      <p:ext uri="{BB962C8B-B14F-4D97-AF65-F5344CB8AC3E}">
        <p14:creationId xmlns:p14="http://schemas.microsoft.com/office/powerpoint/2010/main" val="231940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30" grpId="0" animBg="1"/>
      <p:bldP spid="31" grpId="0" animBg="1"/>
      <p:bldP spid="39" grpId="0" animBg="1"/>
      <p:bldP spid="42" grpId="0" animBg="1"/>
      <p:bldP spid="45" grpId="0" animBg="1"/>
      <p:bldP spid="60" grpId="0" animBg="1"/>
      <p:bldP spid="61" grpId="0" animBg="1"/>
      <p:bldP spid="6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"/>
            <a:ext cx="10725727" cy="656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9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5000" y="68580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nay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xe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buýt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96128" y="1206107"/>
            <a:ext cx="100084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今晩＿私＿　バス＿　家＿　帰ります。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80472" y="2112757"/>
            <a:ext cx="627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cơm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hộp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" y="2633064"/>
            <a:ext cx="116586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キムさん＿　会社の食堂＿　お弁当＿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80472" y="3566507"/>
            <a:ext cx="8711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Buổi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giáo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chơi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tennis 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đấu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thao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086814"/>
            <a:ext cx="1033901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昼＿先生＿　体育館＿　テニス＿　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1044081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こんばん　　　　　　　　　　　　　　　　うち　　　　かえ　　　　　　　　　　　　　　　　　　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  <a:cs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52800" y="2479704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かいしゃ　しょくどう　　　　　　べんとう　　　　</a:t>
            </a:r>
            <a:r>
              <a:rPr lang="vi-VN" altLang="ja-JP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        </a:t>
            </a:r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た　　　　　　　　　　　　　　　　　　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  <a:cs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65748" y="3899084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ひる　　せんせい　　　　たいいくかん　　　　　　　　　　　　　　　　　　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09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8" grpId="0" animBg="1"/>
      <p:bldP spid="9" grpId="0"/>
      <p:bldP spid="10" grpId="0" animBg="1"/>
      <p:bldP spid="18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05000" y="1426957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nay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xe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buýt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96128" y="1947264"/>
            <a:ext cx="10008433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今晩＿私は　バスで　家へ　帰ります。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80472" y="2853914"/>
            <a:ext cx="627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cơm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hộp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3345242"/>
            <a:ext cx="116586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キムさんは　会社の食堂で　お弁当を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80472" y="4307664"/>
            <a:ext cx="8711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Buổi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giáo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chơi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tennis 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đấu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thao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827971"/>
            <a:ext cx="1033901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昼　先生は　体育館で　テニスを　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1785238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こんばん　　　　　　　　　　　　　　　　うち　　　　かえ　　　　　　　　　　　　　　　　　　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  <a:cs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20841" y="3220861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かいしゃ　しょくどう　　　　　　べんとう　　　　た　　　　　　　　　　　　　　　　　　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  <a:cs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65748" y="4640241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  <a:cs typeface="Tahoma" panose="020B0604030504040204" pitchFamily="34" charset="0"/>
              </a:rPr>
              <a:t>ひる　　せんせい　　　　たいいくかん　　　　　　　　　　　　　　　　　　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99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8" grpId="0" animBg="1"/>
      <p:bldP spid="9" grpId="0"/>
      <p:bldP spid="10" grpId="0" animBg="1"/>
      <p:bldP spid="18" grpId="0"/>
      <p:bldP spid="19" grpId="0"/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257300"/>
            <a:ext cx="7700776" cy="5562600"/>
          </a:xfrm>
          <a:prstGeom prst="rect">
            <a:avLst/>
          </a:prstGeom>
        </p:spPr>
      </p:pic>
      <p:pic>
        <p:nvPicPr>
          <p:cNvPr id="3" name="39 Track 3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33600" y="381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2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752600"/>
            <a:ext cx="6118425" cy="4419600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7981950" y="215678"/>
            <a:ext cx="4038600" cy="1295400"/>
          </a:xfrm>
          <a:prstGeom prst="wedgeRoundRectCallout">
            <a:avLst>
              <a:gd name="adj1" fmla="val -32943"/>
              <a:gd name="adj2" fmla="val 12816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rgbClr val="FF0000"/>
                </a:solidFill>
              </a:rPr>
              <a:t>いいえ</a:t>
            </a:r>
            <a:r>
              <a:rPr kumimoji="1" lang="ja-JP" altLang="en-US" sz="3000" dirty="0">
                <a:solidFill>
                  <a:schemeClr val="tx1"/>
                </a:solidFill>
              </a:rPr>
              <a:t>、かえり</a:t>
            </a:r>
            <a:r>
              <a:rPr kumimoji="1" lang="ja-JP" altLang="en-US" sz="3000" dirty="0">
                <a:solidFill>
                  <a:srgbClr val="FF0000"/>
                </a:solidFill>
              </a:rPr>
              <a:t>ません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-137273" y="4396363"/>
            <a:ext cx="4038600" cy="2280662"/>
          </a:xfrm>
          <a:prstGeom prst="wedgeRoundRectCallout">
            <a:avLst>
              <a:gd name="adj1" fmla="val 73485"/>
              <a:gd name="adj2" fmla="val -67695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くにへ　</a:t>
            </a:r>
            <a:endParaRPr kumimoji="1" lang="en-US" altLang="ja-JP" sz="30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かえり</a:t>
            </a:r>
            <a:r>
              <a:rPr kumimoji="1" lang="ja-JP" altLang="en-US" sz="3000" dirty="0">
                <a:solidFill>
                  <a:srgbClr val="FF0000"/>
                </a:solidFill>
              </a:rPr>
              <a:t>ますか</a:t>
            </a:r>
          </a:p>
        </p:txBody>
      </p:sp>
    </p:spTree>
    <p:extLst>
      <p:ext uri="{BB962C8B-B14F-4D97-AF65-F5344CB8AC3E}">
        <p14:creationId xmlns:p14="http://schemas.microsoft.com/office/powerpoint/2010/main" val="23711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triped Right Arrow 33"/>
          <p:cNvSpPr/>
          <p:nvPr/>
        </p:nvSpPr>
        <p:spPr>
          <a:xfrm>
            <a:off x="3441390" y="5136634"/>
            <a:ext cx="2286000" cy="1326480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PHỦ ĐỊNH </a:t>
            </a:r>
            <a:r>
              <a:rPr lang="en-US" dirty="0" err="1"/>
              <a:t>của</a:t>
            </a:r>
            <a:r>
              <a:rPr lang="en-US" dirty="0"/>
              <a:t> ĐỘNG TỪ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01336" y="4953000"/>
            <a:ext cx="5914024" cy="175838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Ⅴ</a:t>
            </a:r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ます</a:t>
            </a:r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  <a:sym typeface="Wingdings" panose="05000000000000000000" pitchFamily="2" charset="2"/>
              </a:rPr>
              <a:t></a:t>
            </a:r>
            <a:r>
              <a:rPr lang="en-US" altLang="ja-JP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Ⅴ</a:t>
            </a:r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ません</a:t>
            </a:r>
            <a:endParaRPr lang="en-US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32066">
            <a:off x="226711" y="126100"/>
            <a:ext cx="2442431" cy="15221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04540">
            <a:off x="9092584" y="86719"/>
            <a:ext cx="2146748" cy="15389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8" name="Rounded Rectangle 37"/>
          <p:cNvSpPr/>
          <p:nvPr/>
        </p:nvSpPr>
        <p:spPr>
          <a:xfrm>
            <a:off x="526473" y="2057400"/>
            <a:ext cx="116586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A: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キムさんは　会社の食堂で　お弁当を　食べます</a:t>
            </a:r>
            <a:r>
              <a:rPr lang="ja-JP" altLang="en-US" sz="3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endParaRPr lang="en-US" sz="35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47926" y="2799243"/>
            <a:ext cx="627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cơm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hộp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</a:t>
            </a:r>
            <a:r>
              <a:rPr lang="vi-VN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à?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51127" y="3335544"/>
            <a:ext cx="11658600" cy="13126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altLang="ja-JP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B1</a:t>
            </a:r>
            <a:r>
              <a:rPr lang="en-US" altLang="ja-JP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: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はい、食べ</a:t>
            </a:r>
            <a:r>
              <a:rPr lang="ja-JP" altLang="en-US" sz="3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ます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en-US" altLang="ja-JP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B2: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いいえ、食べ</a:t>
            </a:r>
            <a:r>
              <a:rPr lang="ja-JP" altLang="en-US" sz="3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ません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sz="3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98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8" grpId="0" animBg="1"/>
      <p:bldP spid="39" grpId="0"/>
      <p:bldP spid="4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548" y="381000"/>
            <a:ext cx="6324038" cy="3733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400050"/>
            <a:ext cx="5142641" cy="37147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43800" y="685800"/>
            <a:ext cx="1295400" cy="685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500" dirty="0">
                <a:solidFill>
                  <a:schemeClr val="tx1"/>
                </a:solidFill>
              </a:rPr>
              <a:t>なつやすみ、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35" y="4419600"/>
            <a:ext cx="4258269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0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066800"/>
            <a:ext cx="5939124" cy="4588697"/>
          </a:xfrm>
          <a:prstGeom prst="rect">
            <a:avLst/>
          </a:prstGeom>
        </p:spPr>
      </p:pic>
      <p:pic>
        <p:nvPicPr>
          <p:cNvPr id="3" name="40 Track 4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33600" y="45720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5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64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066800"/>
            <a:ext cx="5939124" cy="4588697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934200" y="215678"/>
            <a:ext cx="5029200" cy="1295400"/>
          </a:xfrm>
          <a:prstGeom prst="wedgeRoundRectCallout">
            <a:avLst>
              <a:gd name="adj1" fmla="val -21295"/>
              <a:gd name="adj2" fmla="val 8735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ほっかいどう</a:t>
            </a:r>
            <a:r>
              <a:rPr kumimoji="1" lang="ja-JP" altLang="en-US" sz="3000" dirty="0">
                <a:solidFill>
                  <a:srgbClr val="FF0000"/>
                </a:solidFill>
              </a:rPr>
              <a:t>へ</a:t>
            </a:r>
            <a:r>
              <a:rPr kumimoji="1" lang="ja-JP" altLang="en-US" sz="3000" dirty="0">
                <a:solidFill>
                  <a:schemeClr val="tx1"/>
                </a:solidFill>
              </a:rPr>
              <a:t>　</a:t>
            </a:r>
            <a:r>
              <a:rPr kumimoji="1" lang="ja-JP" altLang="en-US" sz="3000" dirty="0">
                <a:solidFill>
                  <a:srgbClr val="FF0000"/>
                </a:solidFill>
              </a:rPr>
              <a:t>いきます</a:t>
            </a:r>
            <a:r>
              <a:rPr kumimoji="1" lang="ja-JP" altLang="en-US" sz="3000" dirty="0">
                <a:solidFill>
                  <a:schemeClr val="tx1"/>
                </a:solidFill>
              </a:rPr>
              <a:t>。ほっかいどう</a:t>
            </a:r>
            <a:r>
              <a:rPr kumimoji="1" lang="ja-JP" altLang="en-US" sz="3000" dirty="0">
                <a:solidFill>
                  <a:srgbClr val="FF0000"/>
                </a:solidFill>
              </a:rPr>
              <a:t>で</a:t>
            </a:r>
            <a:r>
              <a:rPr kumimoji="1" lang="ja-JP" altLang="en-US" sz="3000" dirty="0">
                <a:solidFill>
                  <a:schemeClr val="tx1"/>
                </a:solidFill>
              </a:rPr>
              <a:t>　</a:t>
            </a:r>
            <a:r>
              <a:rPr kumimoji="1" lang="ja-JP" altLang="en-US" sz="3000" dirty="0">
                <a:solidFill>
                  <a:srgbClr val="FF0000"/>
                </a:solidFill>
              </a:rPr>
              <a:t>スキーをします</a:t>
            </a:r>
            <a:r>
              <a:rPr kumimoji="1" lang="ja-JP" altLang="en-US" sz="30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12405" y="4396363"/>
            <a:ext cx="4038600" cy="2280662"/>
          </a:xfrm>
          <a:prstGeom prst="wedgeRoundRectCallout">
            <a:avLst>
              <a:gd name="adj1" fmla="val 76315"/>
              <a:gd name="adj2" fmla="val -11447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ふゆ休み、</a:t>
            </a:r>
            <a:endParaRPr kumimoji="1" lang="en-US" altLang="ja-JP" sz="30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000" dirty="0">
                <a:solidFill>
                  <a:srgbClr val="FF0000"/>
                </a:solidFill>
              </a:rPr>
              <a:t>なにを</a:t>
            </a:r>
            <a:r>
              <a:rPr kumimoji="1" lang="ja-JP" altLang="en-US" sz="3000" dirty="0">
                <a:solidFill>
                  <a:schemeClr val="tx1"/>
                </a:solidFill>
              </a:rPr>
              <a:t>します</a:t>
            </a:r>
            <a:r>
              <a:rPr kumimoji="1" lang="ja-JP" altLang="en-US" sz="3000" dirty="0">
                <a:solidFill>
                  <a:srgbClr val="FF0000"/>
                </a:solidFill>
              </a:rPr>
              <a:t>か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6934200" y="187103"/>
            <a:ext cx="5029200" cy="1295400"/>
          </a:xfrm>
          <a:prstGeom prst="wedgeRoundRectCallout">
            <a:avLst>
              <a:gd name="adj1" fmla="val -21295"/>
              <a:gd name="adj2" fmla="val 8735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ほっかいどう</a:t>
            </a:r>
            <a:r>
              <a:rPr kumimoji="1" lang="ja-JP" altLang="en-US" sz="3000" dirty="0">
                <a:solidFill>
                  <a:srgbClr val="FF0000"/>
                </a:solidFill>
              </a:rPr>
              <a:t>へ</a:t>
            </a:r>
            <a:r>
              <a:rPr kumimoji="1" lang="ja-JP" altLang="en-US" sz="3000" dirty="0">
                <a:solidFill>
                  <a:schemeClr val="tx1"/>
                </a:solidFill>
              </a:rPr>
              <a:t>　</a:t>
            </a:r>
            <a:r>
              <a:rPr kumimoji="1" lang="ja-JP" altLang="en-US" sz="3000" dirty="0">
                <a:solidFill>
                  <a:srgbClr val="FF0000"/>
                </a:solidFill>
              </a:rPr>
              <a:t>いきます</a:t>
            </a:r>
            <a:r>
              <a:rPr kumimoji="1" lang="ja-JP" altLang="en-US" sz="3000" dirty="0">
                <a:solidFill>
                  <a:schemeClr val="tx1"/>
                </a:solidFill>
              </a:rPr>
              <a:t>。ほっかいどう</a:t>
            </a:r>
            <a:r>
              <a:rPr kumimoji="1" lang="ja-JP" altLang="en-US" sz="3000" dirty="0">
                <a:solidFill>
                  <a:srgbClr val="FF0000"/>
                </a:solidFill>
              </a:rPr>
              <a:t>で</a:t>
            </a:r>
            <a:r>
              <a:rPr kumimoji="1" lang="ja-JP" altLang="en-US" sz="3000" dirty="0">
                <a:solidFill>
                  <a:schemeClr val="tx1"/>
                </a:solidFill>
              </a:rPr>
              <a:t>　</a:t>
            </a:r>
            <a:r>
              <a:rPr kumimoji="1" lang="ja-JP" altLang="en-US" sz="3000" dirty="0">
                <a:solidFill>
                  <a:srgbClr val="FF0000"/>
                </a:solidFill>
              </a:rPr>
              <a:t>スキーをします</a:t>
            </a:r>
            <a:r>
              <a:rPr kumimoji="1" lang="ja-JP" altLang="en-US" sz="30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12405" y="4367788"/>
            <a:ext cx="4038600" cy="2280662"/>
          </a:xfrm>
          <a:prstGeom prst="wedgeRoundRectCallout">
            <a:avLst>
              <a:gd name="adj1" fmla="val 76315"/>
              <a:gd name="adj2" fmla="val -114471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ふゆ休み、</a:t>
            </a:r>
            <a:endParaRPr kumimoji="1" lang="en-US" altLang="ja-JP" sz="30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000" dirty="0">
                <a:solidFill>
                  <a:srgbClr val="FF0000"/>
                </a:solidFill>
              </a:rPr>
              <a:t>なにを</a:t>
            </a:r>
            <a:r>
              <a:rPr kumimoji="1" lang="ja-JP" altLang="en-US" sz="3000" dirty="0">
                <a:solidFill>
                  <a:schemeClr val="tx1"/>
                </a:solidFill>
              </a:rPr>
              <a:t>します</a:t>
            </a:r>
            <a:r>
              <a:rPr kumimoji="1" lang="ja-JP" altLang="en-US" sz="3000" dirty="0">
                <a:solidFill>
                  <a:srgbClr val="FF0000"/>
                </a:solidFill>
              </a:rPr>
              <a:t>か</a:t>
            </a:r>
          </a:p>
        </p:txBody>
      </p:sp>
    </p:spTree>
    <p:extLst>
      <p:ext uri="{BB962C8B-B14F-4D97-AF65-F5344CB8AC3E}">
        <p14:creationId xmlns:p14="http://schemas.microsoft.com/office/powerpoint/2010/main" val="177500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36244" y="1676400"/>
            <a:ext cx="441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Ngắm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viên.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34185" y="2361374"/>
            <a:ext cx="677435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公園</a:t>
            </a:r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お花見</a:t>
            </a:r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36244" y="3654489"/>
            <a:ext cx="441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ngân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taxi.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6246" y="4340341"/>
            <a:ext cx="799355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タクシー</a:t>
            </a:r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銀行</a:t>
            </a:r>
            <a:r>
              <a:rPr lang="vi-VN" altLang="ja-JP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行きます。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7816" y="2232684"/>
            <a:ext cx="3634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こうえん　　　　　　はなみ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43400" y="4038600"/>
            <a:ext cx="274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ぎんこう　　　　い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 rot="21051395">
            <a:off x="1203366" y="5440474"/>
            <a:ext cx="137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なん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177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8" grpId="0" animBg="1"/>
      <p:bldP spid="19" grpId="0"/>
      <p:bldP spid="20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36244" y="1676400"/>
            <a:ext cx="441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Ngắm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viên.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36246" y="2362252"/>
            <a:ext cx="677435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公園で　お花見を　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36244" y="3654489"/>
            <a:ext cx="441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ngân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taxi.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6246" y="4340341"/>
            <a:ext cx="799355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タクシーで　</a:t>
            </a:r>
            <a:r>
              <a:rPr lang="vi-VN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  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銀行へ　行きます。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36244" y="2356134"/>
            <a:ext cx="1821356" cy="7681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836244" y="4309414"/>
            <a:ext cx="2735756" cy="76811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805354" y="2346228"/>
            <a:ext cx="2363061" cy="76811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800600" y="4337282"/>
            <a:ext cx="1791562" cy="76811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927816" y="2232684"/>
            <a:ext cx="3634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こうえん　　　　　　はなみ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3064" y="4195912"/>
            <a:ext cx="274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ぎんこう　　　　い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 rot="21051395">
            <a:off x="1203366" y="5440474"/>
            <a:ext cx="137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なん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210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8" grpId="0" animBg="1"/>
      <p:bldP spid="10" grpId="0" animBg="1"/>
      <p:bldP spid="12" grpId="0" animBg="1"/>
      <p:bldP spid="13" grpId="0" animBg="1"/>
      <p:bldP spid="14" grpId="0" animBg="1"/>
      <p:bldP spid="19" grpId="0"/>
      <p:bldP spid="20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98317" y="695812"/>
            <a:ext cx="441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Ngắm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viên.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7606" y="1511232"/>
            <a:ext cx="677435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公園で　お花見を　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7604" y="2803469"/>
            <a:ext cx="441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ngân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taxi.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7606" y="3489321"/>
            <a:ext cx="799355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タクシーで　</a:t>
            </a:r>
            <a:r>
              <a:rPr lang="vi-VN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  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銀行へ　行きます。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47604" y="1505114"/>
            <a:ext cx="1821356" cy="7681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347604" y="3458394"/>
            <a:ext cx="2735756" cy="768118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316714" y="1495208"/>
            <a:ext cx="2363061" cy="768118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311960" y="3486262"/>
            <a:ext cx="1791562" cy="76811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439176" y="1381664"/>
            <a:ext cx="3634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こうえん　　　　　　はなみ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4424" y="3344892"/>
            <a:ext cx="274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ぎんこう　　　　い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5" name="Rounded Rectangular Callout 14"/>
          <p:cNvSpPr/>
          <p:nvPr/>
        </p:nvSpPr>
        <p:spPr>
          <a:xfrm rot="21146610">
            <a:off x="48334" y="346074"/>
            <a:ext cx="1843194" cy="856810"/>
          </a:xfrm>
          <a:prstGeom prst="wedgeRoundRectCallout">
            <a:avLst>
              <a:gd name="adj1" fmla="val 25605"/>
              <a:gd name="adj2" fmla="val 9886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どこで</a:t>
            </a:r>
            <a:endParaRPr lang="en-US" sz="36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16" name="Rounded Rectangular Callout 15"/>
          <p:cNvSpPr/>
          <p:nvPr/>
        </p:nvSpPr>
        <p:spPr>
          <a:xfrm rot="593870">
            <a:off x="5546323" y="477807"/>
            <a:ext cx="1843194" cy="856810"/>
          </a:xfrm>
          <a:prstGeom prst="wedgeRoundRectCallout">
            <a:avLst>
              <a:gd name="adj1" fmla="val -51624"/>
              <a:gd name="adj2" fmla="val 11364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何を</a:t>
            </a:r>
            <a:endParaRPr lang="en-US" sz="36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17" name="Rounded Rectangular Callout 16"/>
          <p:cNvSpPr/>
          <p:nvPr/>
        </p:nvSpPr>
        <p:spPr>
          <a:xfrm rot="21146610">
            <a:off x="578406" y="4567835"/>
            <a:ext cx="1843194" cy="856810"/>
          </a:xfrm>
          <a:prstGeom prst="wedgeRoundRectCallout">
            <a:avLst>
              <a:gd name="adj1" fmla="val 52687"/>
              <a:gd name="adj2" fmla="val -8753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何で</a:t>
            </a:r>
            <a:endParaRPr lang="en-US" sz="36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18" name="Rounded Rectangular Callout 17"/>
          <p:cNvSpPr/>
          <p:nvPr/>
        </p:nvSpPr>
        <p:spPr>
          <a:xfrm rot="21146610">
            <a:off x="4344563" y="4859814"/>
            <a:ext cx="1843194" cy="856810"/>
          </a:xfrm>
          <a:prstGeom prst="wedgeRoundRectCallout">
            <a:avLst>
              <a:gd name="adj1" fmla="val -13636"/>
              <a:gd name="adj2" fmla="val -10293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どこへ</a:t>
            </a:r>
            <a:endParaRPr lang="en-US" sz="36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21" name="TextBox 20"/>
          <p:cNvSpPr txBox="1"/>
          <p:nvPr/>
        </p:nvSpPr>
        <p:spPr>
          <a:xfrm rot="633875">
            <a:off x="6002713" y="427189"/>
            <a:ext cx="137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なに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4" name="TextBox 23"/>
          <p:cNvSpPr txBox="1"/>
          <p:nvPr/>
        </p:nvSpPr>
        <p:spPr>
          <a:xfrm rot="21051395">
            <a:off x="714726" y="4297474"/>
            <a:ext cx="137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なん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57791" y="154046"/>
            <a:ext cx="3253209" cy="11091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N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を　</a:t>
            </a:r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</a:p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⇒</a:t>
            </a:r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なにを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か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</a:p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Làm cái gì?</a:t>
            </a:r>
            <a:endParaRPr lang="en-US" altLang="ja-JP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557790" y="1515111"/>
            <a:ext cx="3253209" cy="11091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NC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で　</a:t>
            </a:r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</a:p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⇒</a:t>
            </a:r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どこで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か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</a:p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Làm ở đâu?</a:t>
            </a:r>
            <a:endParaRPr lang="en-US" altLang="ja-JP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595618" y="3441033"/>
            <a:ext cx="3253209" cy="11091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PTGT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で　</a:t>
            </a:r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</a:p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⇒</a:t>
            </a:r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なんで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か</a:t>
            </a:r>
            <a:r>
              <a:rPr lang="en-US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?</a:t>
            </a:r>
          </a:p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Làm bằng gì?</a:t>
            </a:r>
            <a:endParaRPr lang="en-US" altLang="ja-JP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05143" y="4657122"/>
            <a:ext cx="3253209" cy="11091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NC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へ　</a:t>
            </a:r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V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（いきます）</a:t>
            </a:r>
            <a:endParaRPr lang="vi-VN" altLang="ja-JP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⇒</a:t>
            </a:r>
            <a:r>
              <a:rPr lang="ja-JP" alt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どこへ</a:t>
            </a:r>
            <a:r>
              <a:rPr lang="ja-JP" alt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いきますか</a:t>
            </a:r>
            <a:endParaRPr lang="en-US" altLang="ja-JP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vi-VN" altLang="ja-JP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đi đâu?</a:t>
            </a:r>
            <a:endParaRPr lang="en-US" altLang="ja-JP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783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8" grpId="0" animBg="1"/>
      <p:bldP spid="10" grpId="0" animBg="1"/>
      <p:bldP spid="12" grpId="0" animBg="1"/>
      <p:bldP spid="13" grpId="0" animBg="1"/>
      <p:bldP spid="14" grpId="0" animBg="1"/>
      <p:bldP spid="19" grpId="0"/>
      <p:bldP spid="20" grpId="0"/>
      <p:bldP spid="15" grpId="0" animBg="1"/>
      <p:bldP spid="16" grpId="0" animBg="1"/>
      <p:bldP spid="17" grpId="0" animBg="1"/>
      <p:bldP spid="18" grpId="0" animBg="1"/>
      <p:bldP spid="21" grpId="0"/>
      <p:bldP spid="24" grpId="0"/>
      <p:bldP spid="26" grpId="0" animBg="1"/>
      <p:bldP spid="28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2209800" y="76200"/>
            <a:ext cx="3634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こうえん　　　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 rot="21051395">
            <a:off x="1203366" y="5440474"/>
            <a:ext cx="137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なん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295400" y="2780058"/>
            <a:ext cx="9677400" cy="20967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A: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　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＿＿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ぎんこうへ　いきますか。</a:t>
            </a:r>
            <a:endParaRPr lang="en-US" altLang="ja-JP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B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：　タクシー</a:t>
            </a:r>
            <a:r>
              <a:rPr lang="ja-JP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で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いきます。</a:t>
            </a:r>
            <a:endParaRPr lang="en-US" altLang="ja-JP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B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２</a:t>
            </a:r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: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4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あるいて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いきます。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95400" y="521357"/>
            <a:ext cx="9677400" cy="1840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A: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公園で　</a:t>
            </a:r>
            <a:r>
              <a:rPr lang="ja-JP" altLang="en-US" sz="3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＿＿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しますか。</a:t>
            </a:r>
            <a:endParaRPr lang="en-US" altLang="ja-JP" sz="3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en-US" altLang="ja-JP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B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： はなみをします。</a:t>
            </a:r>
            <a:endParaRPr lang="en-US" altLang="ja-JP" sz="3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  <a:p>
            <a:r>
              <a:rPr lang="en-US" altLang="ja-JP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B2:</a:t>
            </a:r>
            <a:r>
              <a:rPr lang="ja-JP" altLang="en-US" sz="3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ほんをよみます。</a:t>
            </a:r>
            <a:endParaRPr lang="en-US" sz="3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86592">
            <a:off x="7999277" y="3581400"/>
            <a:ext cx="1762125" cy="2590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Wave 11"/>
          <p:cNvSpPr/>
          <p:nvPr/>
        </p:nvSpPr>
        <p:spPr>
          <a:xfrm rot="21104725">
            <a:off x="7979834" y="5789311"/>
            <a:ext cx="1460174" cy="996718"/>
          </a:xfrm>
          <a:prstGeom prst="wav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ĐI BỘ</a:t>
            </a:r>
          </a:p>
        </p:txBody>
      </p:sp>
      <p:sp>
        <p:nvSpPr>
          <p:cNvPr id="13" name="Striped Right Arrow 12"/>
          <p:cNvSpPr/>
          <p:nvPr/>
        </p:nvSpPr>
        <p:spPr>
          <a:xfrm rot="21266207">
            <a:off x="5639093" y="4760724"/>
            <a:ext cx="2736882" cy="1579718"/>
          </a:xfrm>
          <a:prstGeom prst="striped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mikachan-PB" panose="02000600000000000000" pitchFamily="2" charset="-128"/>
                <a:ea typeface="mikachan-PB" panose="02000600000000000000" pitchFamily="2" charset="-128"/>
              </a:rPr>
              <a:t>あるいて</a:t>
            </a:r>
            <a:endParaRPr lang="en-US" sz="3200" dirty="0">
              <a:latin typeface="mikachan-PB" panose="02000600000000000000" pitchFamily="2" charset="-128"/>
              <a:ea typeface="mikachan-PB" panose="02000600000000000000" pitchFamily="2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3685">
            <a:off x="9645509" y="2488306"/>
            <a:ext cx="22860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9" grpId="0" animBg="1"/>
      <p:bldP spid="10" grpId="0" animBg="1"/>
      <p:bldP spid="12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1104">
            <a:off x="95986" y="133877"/>
            <a:ext cx="2287602" cy="1390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ounded Rectangle 2"/>
          <p:cNvSpPr/>
          <p:nvPr/>
        </p:nvSpPr>
        <p:spPr>
          <a:xfrm>
            <a:off x="3283419" y="1059502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nay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vậy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28903" y="1070910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228903" y="1906489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286677" y="1034381"/>
            <a:ext cx="6103335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今晩、＿＿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へ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行きます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60755" y="1905000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0755" y="2923595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à.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gì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3017" y="2923595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2189867" y="3769454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3206843" y="3749945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taxi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29507" y="4648200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gì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đấy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74991" y="4659608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2174991" y="5544943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3206843" y="5543454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Bọn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Nhật.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86677" y="1905000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友だちの　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家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へ　行きます。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86677" y="2931788"/>
            <a:ext cx="686699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そうですか。＿＿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行きます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14214" y="3696879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タクシー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　行きます。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13088" y="4627297"/>
            <a:ext cx="686699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あそこで　＿＿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を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します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13088" y="5497912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日本語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を　勉強します。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41355" y="5249340"/>
            <a:ext cx="1993980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べんきょう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22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5" grpId="0" animBg="1"/>
      <p:bldP spid="20" grpId="0" animBg="1"/>
      <p:bldP spid="22" grpId="0" animBg="1"/>
      <p:bldP spid="24" grpId="0" animBg="1"/>
      <p:bldP spid="26" grpId="0" animBg="1"/>
      <p:bldP spid="2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1104">
            <a:off x="95986" y="133877"/>
            <a:ext cx="2287602" cy="1390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ounded Rectangle 2"/>
          <p:cNvSpPr/>
          <p:nvPr/>
        </p:nvSpPr>
        <p:spPr>
          <a:xfrm>
            <a:off x="3283419" y="1059502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nay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vậy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28903" y="1070910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228903" y="1906489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286677" y="1034381"/>
            <a:ext cx="6103335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今晩、どこへ　行きますか。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61986" y="762000"/>
            <a:ext cx="4224716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こんばん　　　　　　　　　い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60755" y="1905000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đến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0755" y="2923595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à.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gì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3017" y="2923595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2189867" y="3769454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3206843" y="3749945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taxi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29507" y="4648200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gì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đấy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74991" y="4659608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2174991" y="5544943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3206843" y="5543454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Bọn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Nhật.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86677" y="1905000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友だちの　家へ　行きます。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13088" y="1643278"/>
            <a:ext cx="4396033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とも　　　　　　　うち　　　　い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86677" y="2931788"/>
            <a:ext cx="686699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そうですか。何で　行きますか。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09884" y="2608894"/>
            <a:ext cx="4224716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なん　　　　い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14214" y="3696879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タクシーで　行きます。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72385" y="3446309"/>
            <a:ext cx="1263364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い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13088" y="4627297"/>
            <a:ext cx="6866994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あそこで　何を　しますか。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05687" y="4336100"/>
            <a:ext cx="990600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なに　　　　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13088" y="5497912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日本語を　勉強します。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41355" y="5249340"/>
            <a:ext cx="1993980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べんきょう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06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5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83317" y="522157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à.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1" y="533565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28801" y="1418900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2860653" y="1417411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0653" y="2247978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à. Thế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ngủ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6137" y="2259386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806137" y="3171500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2837989" y="3140031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ngủ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9405" y="4055352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Bao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4889" y="4066760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1774889" y="5000300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2806741" y="4998811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kia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endParaRPr lang="en-US" altLang="ja-JP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66824" y="523831"/>
            <a:ext cx="6858000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家へ　帰ります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0" y="-43393"/>
            <a:ext cx="3581776" cy="61101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うち　　　</a:t>
            </a:r>
            <a:r>
              <a:rPr lang="en-US" altLang="ja-JP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 </a:t>
            </a:r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かえ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62342" y="1392950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いいえ、＿＿＿＿。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60653" y="2259386"/>
            <a:ext cx="6858000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そうですか。＿＿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で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　</a:t>
            </a:r>
            <a:r>
              <a:rPr lang="ja-JP" altLang="en-US" sz="3600" dirty="0">
                <a:latin typeface="HGSeikaishotaiPRO" panose="03000609000000000000" pitchFamily="65" charset="-128"/>
                <a:ea typeface="HGSeikaishotaiPRO" panose="03000609000000000000" pitchFamily="65" charset="-128"/>
              </a:rPr>
              <a:t>寝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ます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48042" y="1874440"/>
            <a:ext cx="1638758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ね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51941" y="3113498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友だちの家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で　</a:t>
            </a:r>
            <a:r>
              <a:rPr lang="ja-JP" altLang="en-US" sz="3600" dirty="0">
                <a:latin typeface="HGSeikaishotaiPRO" panose="03000609000000000000" pitchFamily="65" charset="-128"/>
                <a:ea typeface="HGSeikaishotaiPRO" panose="03000609000000000000" pitchFamily="65" charset="-128"/>
              </a:rPr>
              <a:t>寝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829405" y="4062426"/>
            <a:ext cx="5630223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＿＿　帰ります</a:t>
            </a:r>
            <a:r>
              <a:rPr lang="ja-JP" altLang="en-US" sz="36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820440" y="4939379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あさっての朝　帰ります。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30280" y="4603097"/>
            <a:ext cx="2049708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あさ　　かえ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081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3" grpId="0" animBg="1"/>
      <p:bldP spid="24" grpId="0"/>
      <p:bldP spid="25" grpId="0" animBg="1"/>
      <p:bldP spid="27" grpId="0" animBg="1"/>
      <p:bldP spid="29" grpId="0" animBg="1"/>
      <p:bldP spid="3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83317" y="522157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à.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1" y="533565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28801" y="1418900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2860653" y="1417411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0653" y="2247978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Thế à. Thế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ngủ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6137" y="2259386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806137" y="3171500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2837989" y="3140031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ngủ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9405" y="4055352"/>
            <a:ext cx="5422483" cy="6287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Bao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giờ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cậu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4889" y="4066760"/>
            <a:ext cx="876715" cy="61733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A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1774889" y="5000300"/>
            <a:ext cx="876300" cy="58775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dirty="0"/>
              <a:t>B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2806741" y="4998811"/>
            <a:ext cx="5422483" cy="6287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Sáng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kia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endParaRPr lang="en-US" altLang="ja-JP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66824" y="523831"/>
            <a:ext cx="6858000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家へ　帰りますか。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0" y="-43393"/>
            <a:ext cx="3581776" cy="61101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うち　　　</a:t>
            </a:r>
            <a:r>
              <a:rPr lang="en-US" altLang="ja-JP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 </a:t>
            </a:r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かえ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62342" y="1392950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いいえ、帰りません。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721932" y="1124497"/>
            <a:ext cx="2509751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かえ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60653" y="2259386"/>
            <a:ext cx="6858000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そうですか。どこで　</a:t>
            </a:r>
            <a:r>
              <a:rPr lang="ja-JP" altLang="en-US" sz="3600" dirty="0">
                <a:latin typeface="HGSeikaishotaiPRO" panose="03000609000000000000" pitchFamily="65" charset="-128"/>
                <a:ea typeface="HGSeikaishotaiPRO" panose="03000609000000000000" pitchFamily="65" charset="-128"/>
              </a:rPr>
              <a:t>寝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ますか。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67600" y="1958580"/>
            <a:ext cx="1638758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ね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51941" y="3113498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友だちの家で　</a:t>
            </a:r>
            <a:r>
              <a:rPr lang="ja-JP" altLang="en-US" sz="3600" dirty="0">
                <a:latin typeface="HGSeikaishotaiPRO" panose="03000609000000000000" pitchFamily="65" charset="-128"/>
                <a:ea typeface="HGSeikaishotaiPRO" panose="03000609000000000000" pitchFamily="65" charset="-128"/>
              </a:rPr>
              <a:t>寝</a:t>
            </a:r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883318" y="2862102"/>
            <a:ext cx="4293026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とも　　　　　うち　　　　ね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829405" y="4062426"/>
            <a:ext cx="5630223" cy="63680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いつ　帰りますか。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10452" y="3725013"/>
            <a:ext cx="1638758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かえ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820440" y="4939379"/>
            <a:ext cx="6144398" cy="6818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6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あさっての朝　帰ります。</a:t>
            </a:r>
            <a:endParaRPr lang="en-US" altLang="ja-JP" sz="36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105400" y="4687811"/>
            <a:ext cx="2049708" cy="609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あさ　　かえ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376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192" y="152400"/>
            <a:ext cx="4247655" cy="655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4800"/>
            <a:ext cx="6400800" cy="29659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3581400"/>
            <a:ext cx="2762636" cy="10669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078" y="3429000"/>
            <a:ext cx="2486372" cy="12288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796" y="4859043"/>
            <a:ext cx="3077004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1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81400"/>
            <a:ext cx="5630061" cy="31151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8600"/>
            <a:ext cx="5487403" cy="2971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14737"/>
            <a:ext cx="2743200" cy="307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6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2400"/>
            <a:ext cx="7039957" cy="17052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81200"/>
            <a:ext cx="7011382" cy="27548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658" y="161924"/>
            <a:ext cx="4600042" cy="39399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657" y="3914827"/>
            <a:ext cx="4600041" cy="205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0"/>
            <a:ext cx="7943850" cy="739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3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048000" y="331387"/>
            <a:ext cx="6169718" cy="115486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dirty="0">
                <a:latin typeface="HGSoeiKakupoptai" panose="040B0A09000000000000" pitchFamily="49" charset="-128"/>
                <a:ea typeface="HGSoeiKakupoptai" panose="040B0A09000000000000" pitchFamily="49" charset="-128"/>
              </a:rPr>
              <a:t>第３課</a:t>
            </a:r>
            <a:endParaRPr lang="en-US" sz="4800" dirty="0">
              <a:latin typeface="HGSoeiKakupoptai" panose="040B0A09000000000000" pitchFamily="49" charset="-128"/>
              <a:ea typeface="HGSoeiKakupoptai" panose="040B0A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8600" y="2286000"/>
            <a:ext cx="11661082" cy="31949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96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どんな毎日？</a:t>
            </a:r>
            <a:endParaRPr lang="en-US" sz="48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 rot="721955">
            <a:off x="8373741" y="975725"/>
            <a:ext cx="2562832" cy="12700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600" dirty="0"/>
              <a:t>パート</a:t>
            </a:r>
            <a:endParaRPr lang="en-US" sz="3600" dirty="0"/>
          </a:p>
          <a:p>
            <a:r>
              <a:rPr lang="en-US" sz="3600" dirty="0"/>
              <a:t>PART </a:t>
            </a:r>
          </a:p>
        </p:txBody>
      </p:sp>
      <p:sp>
        <p:nvSpPr>
          <p:cNvPr id="9" name="Rounded Rectangle 8"/>
          <p:cNvSpPr/>
          <p:nvPr/>
        </p:nvSpPr>
        <p:spPr>
          <a:xfrm rot="829033">
            <a:off x="9743122" y="1235365"/>
            <a:ext cx="838200" cy="838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600" dirty="0"/>
              <a:t>3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24096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5313"/>
            <a:ext cx="8287907" cy="47441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907" y="965965"/>
            <a:ext cx="3858163" cy="29436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696" y="3942939"/>
            <a:ext cx="3753374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5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" y="2286000"/>
            <a:ext cx="6029878" cy="4600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72763"/>
            <a:ext cx="6096000" cy="4780873"/>
          </a:xfrm>
          <a:prstGeom prst="rect">
            <a:avLst/>
          </a:prstGeom>
        </p:spPr>
      </p:pic>
      <p:pic>
        <p:nvPicPr>
          <p:cNvPr id="4" name="42 Track 4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00250" y="677363"/>
            <a:ext cx="1295400" cy="1295400"/>
          </a:xfrm>
          <a:prstGeom prst="rect">
            <a:avLst/>
          </a:prstGeom>
        </p:spPr>
      </p:pic>
      <p:pic>
        <p:nvPicPr>
          <p:cNvPr id="5" name="43 Track 4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686800" y="38100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3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5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468215"/>
            <a:ext cx="6029878" cy="4600575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934200" y="158528"/>
            <a:ext cx="5029200" cy="1295400"/>
          </a:xfrm>
          <a:prstGeom prst="wedgeRoundRectCallout">
            <a:avLst>
              <a:gd name="adj1" fmla="val -21295"/>
              <a:gd name="adj2" fmla="val 8735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はい。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12405" y="4339213"/>
            <a:ext cx="4038600" cy="2280662"/>
          </a:xfrm>
          <a:prstGeom prst="wedgeRoundRectCallout">
            <a:avLst>
              <a:gd name="adj1" fmla="val 63579"/>
              <a:gd name="adj2" fmla="val -6560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rgbClr val="FF0000"/>
                </a:solidFill>
              </a:rPr>
              <a:t>毎日</a:t>
            </a:r>
            <a:r>
              <a:rPr kumimoji="1" lang="ja-JP" altLang="en-US" sz="3000" dirty="0">
                <a:solidFill>
                  <a:schemeClr val="tx1"/>
                </a:solidFill>
              </a:rPr>
              <a:t>、あさごはんをたべます</a:t>
            </a:r>
            <a:r>
              <a:rPr kumimoji="1" lang="ja-JP" altLang="en-US" sz="3000" dirty="0">
                <a:solidFill>
                  <a:srgbClr val="FF0000"/>
                </a:solidFill>
              </a:rPr>
              <a:t>か</a:t>
            </a:r>
            <a:r>
              <a:rPr kumimoji="1" lang="ja-JP" altLang="en-US" sz="30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1872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562370"/>
            <a:ext cx="5257800" cy="4123503"/>
          </a:xfrm>
          <a:prstGeom prst="rect">
            <a:avLst/>
          </a:prstGeom>
        </p:spPr>
      </p:pic>
      <p:pic>
        <p:nvPicPr>
          <p:cNvPr id="3" name="43 Track 4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86800" y="381000"/>
            <a:ext cx="1219200" cy="1219200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934200" y="158528"/>
            <a:ext cx="5029200" cy="1295400"/>
          </a:xfrm>
          <a:prstGeom prst="wedgeRoundRectCallout">
            <a:avLst>
              <a:gd name="adj1" fmla="val -21295"/>
              <a:gd name="adj2" fmla="val 8735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パン</a:t>
            </a:r>
            <a:r>
              <a:rPr kumimoji="1" lang="ja-JP" altLang="en-US" sz="3000" dirty="0">
                <a:solidFill>
                  <a:srgbClr val="FF0000"/>
                </a:solidFill>
              </a:rPr>
              <a:t>や</a:t>
            </a:r>
            <a:r>
              <a:rPr kumimoji="1" lang="ja-JP" altLang="en-US" sz="3000" dirty="0">
                <a:solidFill>
                  <a:schemeClr val="tx1"/>
                </a:solidFill>
              </a:rPr>
              <a:t>たまご</a:t>
            </a:r>
            <a:r>
              <a:rPr kumimoji="1" lang="ja-JP" altLang="en-US" sz="3000" dirty="0">
                <a:solidFill>
                  <a:srgbClr val="FF0000"/>
                </a:solidFill>
              </a:rPr>
              <a:t>など</a:t>
            </a:r>
            <a:r>
              <a:rPr kumimoji="1" lang="ja-JP" altLang="en-US" sz="3000" dirty="0">
                <a:solidFill>
                  <a:schemeClr val="tx1"/>
                </a:solidFill>
              </a:rPr>
              <a:t>をたべます。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12405" y="4367788"/>
            <a:ext cx="4038600" cy="2280662"/>
          </a:xfrm>
          <a:prstGeom prst="wedgeRoundRectCallout">
            <a:avLst>
              <a:gd name="adj1" fmla="val 63579"/>
              <a:gd name="adj2" fmla="val -6560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rgbClr val="FF0000"/>
                </a:solidFill>
              </a:rPr>
              <a:t>なにを</a:t>
            </a:r>
            <a:r>
              <a:rPr kumimoji="1" lang="ja-JP" altLang="en-US" sz="3000" dirty="0">
                <a:solidFill>
                  <a:schemeClr val="tx1"/>
                </a:solidFill>
              </a:rPr>
              <a:t>たべますか</a:t>
            </a:r>
          </a:p>
        </p:txBody>
      </p:sp>
    </p:spTree>
    <p:extLst>
      <p:ext uri="{BB962C8B-B14F-4D97-AF65-F5344CB8AC3E}">
        <p14:creationId xmlns:p14="http://schemas.microsoft.com/office/powerpoint/2010/main" val="383501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433180" y="381000"/>
            <a:ext cx="469556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1684" y="2306557"/>
            <a:ext cx="6172199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卵を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88792" y="4019045"/>
            <a:ext cx="832953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や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卵（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など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）を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770">
            <a:off x="7302521" y="367324"/>
            <a:ext cx="1510905" cy="1093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10696">
            <a:off x="9914180" y="3546780"/>
            <a:ext cx="1383674" cy="1036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7815">
            <a:off x="9376153" y="4553424"/>
            <a:ext cx="1353521" cy="10138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78987">
            <a:off x="10802343" y="4384684"/>
            <a:ext cx="1321578" cy="12251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10696">
            <a:off x="7832582" y="2064304"/>
            <a:ext cx="1383674" cy="1036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770">
            <a:off x="9502198" y="1774910"/>
            <a:ext cx="1510905" cy="1093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770">
            <a:off x="11011893" y="3354017"/>
            <a:ext cx="1510905" cy="1093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7352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621475" y="5000249"/>
            <a:ext cx="431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bánh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mỳ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trứng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v.v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33180" y="381000"/>
            <a:ext cx="469556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1684" y="2306557"/>
            <a:ext cx="6172199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卵を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88792" y="4019045"/>
            <a:ext cx="832953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や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卵</a:t>
            </a:r>
            <a:r>
              <a:rPr lang="ja-JP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（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など</a:t>
            </a:r>
            <a:r>
              <a:rPr lang="ja-JP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）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770">
            <a:off x="6732841" y="418898"/>
            <a:ext cx="1510905" cy="1093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10696">
            <a:off x="9966116" y="3560359"/>
            <a:ext cx="1383674" cy="1036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7815">
            <a:off x="8992912" y="4493332"/>
            <a:ext cx="1353521" cy="10138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78987">
            <a:off x="10338687" y="4277887"/>
            <a:ext cx="1321578" cy="12251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10696">
            <a:off x="7064099" y="2029524"/>
            <a:ext cx="1383674" cy="1036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770">
            <a:off x="8578544" y="2028442"/>
            <a:ext cx="1510905" cy="1093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770">
            <a:off x="8441439" y="3548827"/>
            <a:ext cx="1510905" cy="1093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Box 14"/>
          <p:cNvSpPr txBox="1"/>
          <p:nvPr/>
        </p:nvSpPr>
        <p:spPr>
          <a:xfrm>
            <a:off x="1330315" y="3112962"/>
            <a:ext cx="431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bánh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mỳ và trứng.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64979" y="1263113"/>
            <a:ext cx="431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bánh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mỳ.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79751" y="6137901"/>
            <a:ext cx="832953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や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卵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や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にく（</a:t>
            </a:r>
            <a:r>
              <a:rPr lang="ja-JP" altLang="en-US" sz="4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など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）を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164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" grpId="0" animBg="1"/>
      <p:bldP spid="9" grpId="0" animBg="1"/>
      <p:bldP spid="10" grpId="0" animBg="1"/>
      <p:bldP spid="15" grpId="0"/>
      <p:bldP spid="16" grpId="0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761472" cy="1116584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altLang="ja-JP" dirty="0"/>
              <a:t>N1</a:t>
            </a:r>
            <a:r>
              <a:rPr lang="ja-JP" altLang="en-US" dirty="0">
                <a:solidFill>
                  <a:srgbClr val="FF0000"/>
                </a:solidFill>
              </a:rPr>
              <a:t>と</a:t>
            </a:r>
            <a:r>
              <a:rPr lang="en-US" altLang="ja-JP" dirty="0"/>
              <a:t>N2</a:t>
            </a:r>
            <a:r>
              <a:rPr lang="ja-JP" altLang="en-US" dirty="0"/>
              <a:t>？／</a:t>
            </a:r>
            <a:r>
              <a:rPr lang="en-US" altLang="ja-JP" dirty="0"/>
              <a:t>N1</a:t>
            </a:r>
            <a:r>
              <a:rPr lang="ja-JP" altLang="en-US" dirty="0">
                <a:solidFill>
                  <a:srgbClr val="FF0000"/>
                </a:solidFill>
              </a:rPr>
              <a:t>や</a:t>
            </a:r>
            <a:r>
              <a:rPr lang="en-US" altLang="ja-JP" dirty="0"/>
              <a:t>N2</a:t>
            </a:r>
            <a:r>
              <a:rPr lang="ja-JP" altLang="en-US" dirty="0">
                <a:solidFill>
                  <a:srgbClr val="FF0000"/>
                </a:solidFill>
              </a:rPr>
              <a:t>など</a:t>
            </a:r>
            <a:r>
              <a:rPr lang="ja-JP" altLang="en-US" dirty="0"/>
              <a:t>？</a:t>
            </a:r>
            <a:endParaRPr kumimoji="1" lang="ja-JP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1684" y="4724400"/>
            <a:ext cx="8123316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※N1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と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N2: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　　</a:t>
            </a:r>
            <a:r>
              <a:rPr lang="vi-VN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 2 N.</a:t>
            </a:r>
          </a:p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※N1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や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N2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など：</a:t>
            </a:r>
            <a:r>
              <a:rPr lang="vi-VN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 hơn 2 N (có N1, N2 và nhiều thứ khác.</a:t>
            </a:r>
            <a:endParaRPr lang="en-US" altLang="ja-JP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Nếu liệt kê từ 2 N trở lên-</a:t>
            </a:r>
            <a:r>
              <a:rPr lang="vi-VN" sz="2400" i="1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 </a:t>
            </a:r>
            <a:r>
              <a:rPr lang="ja-JP" altLang="en-US" sz="2400" i="1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など</a:t>
            </a:r>
            <a:r>
              <a:rPr lang="vi-VN" altLang="ja-JP" sz="2400" i="1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 thể lược bỏ</a:t>
            </a:r>
            <a:endParaRPr lang="en-US" sz="2400" i="1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01684" y="2306557"/>
            <a:ext cx="6172199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と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卵を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01684" y="3172578"/>
            <a:ext cx="8329534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パン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や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　卵（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など</a:t>
            </a:r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）を　食べます。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08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609600" y="2286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Nhật…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6800" y="769069"/>
            <a:ext cx="110490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学校で　英語？　日本語？を　べんきょうします。</a:t>
            </a:r>
            <a:endParaRPr lang="en-US" sz="40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6900" y="19050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siêu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thị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giầy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áo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phông, quần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7900" y="2586467"/>
            <a:ext cx="108331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スーパーで　くつ？　</a:t>
            </a:r>
            <a:r>
              <a:rPr lang="en-US" altLang="ja-JP" sz="3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T</a:t>
            </a:r>
            <a:r>
              <a:rPr lang="ja-JP" altLang="en-US" sz="3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シャツ？ズボン？を　買います。</a:t>
            </a:r>
            <a:endParaRPr lang="en-US" sz="30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6900" y="35814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bè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uống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4100" y="4121869"/>
            <a:ext cx="107569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友だちの家で　ビール？を　飲みます。</a:t>
            </a:r>
            <a:endParaRPr lang="en-US" sz="40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0" y="628590"/>
            <a:ext cx="510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えいご　　　　　　</a:t>
            </a:r>
            <a:endParaRPr lang="en-US" sz="2000" dirty="0">
              <a:solidFill>
                <a:srgbClr val="0070C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77200" y="2304471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　　　　　　</a:t>
            </a:r>
            <a:endParaRPr lang="en-US" sz="2000" dirty="0">
              <a:solidFill>
                <a:srgbClr val="0070C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68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609600" y="2286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Nhật…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6800" y="769069"/>
            <a:ext cx="110490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7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学校で　英語や　日本語（など）を　べんきょうします。</a:t>
            </a:r>
            <a:endParaRPr lang="en-US" sz="37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6900" y="19050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siêu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thị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giầy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áo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phông, quần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7900" y="2586467"/>
            <a:ext cx="108331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3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スーパーで　くつや　</a:t>
            </a:r>
            <a:r>
              <a:rPr lang="en-US" altLang="ja-JP" sz="3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T</a:t>
            </a:r>
            <a:r>
              <a:rPr lang="ja-JP" altLang="en-US" sz="3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シャツやズボン（など）を　買います。</a:t>
            </a:r>
            <a:endParaRPr lang="en-US" sz="30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6900" y="35814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nhà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bè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uống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bia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4100" y="4121869"/>
            <a:ext cx="107569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友だちの家で　ビール</a:t>
            </a:r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など</a:t>
            </a:r>
            <a:r>
              <a:rPr lang="ja-JP" altLang="en-US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を　飲みます。</a:t>
            </a:r>
            <a:endParaRPr lang="en-US" sz="40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0" y="628590"/>
            <a:ext cx="510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えいご　　　　　　</a:t>
            </a:r>
            <a:endParaRPr lang="en-US" sz="2000" dirty="0">
              <a:solidFill>
                <a:srgbClr val="0070C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77200" y="2304471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か　　　　　　</a:t>
            </a:r>
            <a:endParaRPr lang="en-US" sz="2000" dirty="0">
              <a:solidFill>
                <a:srgbClr val="0070C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30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660400"/>
            <a:ext cx="7772400" cy="6045200"/>
          </a:xfrm>
          <a:prstGeom prst="rect">
            <a:avLst/>
          </a:prstGeom>
        </p:spPr>
      </p:pic>
      <p:sp>
        <p:nvSpPr>
          <p:cNvPr id="3" name="Multiply 2"/>
          <p:cNvSpPr/>
          <p:nvPr/>
        </p:nvSpPr>
        <p:spPr>
          <a:xfrm>
            <a:off x="6934200" y="1524000"/>
            <a:ext cx="1752600" cy="2590800"/>
          </a:xfrm>
          <a:prstGeom prst="mathMultiply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79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609600"/>
            <a:ext cx="7772400" cy="6045200"/>
          </a:xfrm>
          <a:prstGeom prst="rect">
            <a:avLst/>
          </a:prstGeom>
        </p:spPr>
      </p:pic>
      <p:sp>
        <p:nvSpPr>
          <p:cNvPr id="3" name="Multiply 2"/>
          <p:cNvSpPr/>
          <p:nvPr/>
        </p:nvSpPr>
        <p:spPr>
          <a:xfrm>
            <a:off x="6934200" y="1524000"/>
            <a:ext cx="1752600" cy="2590800"/>
          </a:xfrm>
          <a:prstGeom prst="mathMultiply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ounded Rectangular Callout 3"/>
          <p:cNvSpPr/>
          <p:nvPr/>
        </p:nvSpPr>
        <p:spPr>
          <a:xfrm>
            <a:off x="6934200" y="158528"/>
            <a:ext cx="5029200" cy="1295400"/>
          </a:xfrm>
          <a:prstGeom prst="wedgeRoundRectCallout">
            <a:avLst>
              <a:gd name="adj1" fmla="val -11352"/>
              <a:gd name="adj2" fmla="val 11382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b="1" dirty="0">
                <a:solidFill>
                  <a:schemeClr val="tx1"/>
                </a:solidFill>
              </a:rPr>
              <a:t>なに</a:t>
            </a:r>
            <a:r>
              <a:rPr kumimoji="1" lang="ja-JP" altLang="en-US" sz="3000" dirty="0">
                <a:solidFill>
                  <a:srgbClr val="FF0000"/>
                </a:solidFill>
              </a:rPr>
              <a:t>も</a:t>
            </a:r>
            <a:r>
              <a:rPr kumimoji="1" lang="ja-JP" altLang="en-US" sz="3000" dirty="0">
                <a:solidFill>
                  <a:schemeClr val="tx1"/>
                </a:solidFill>
              </a:rPr>
              <a:t>　たべ</a:t>
            </a:r>
            <a:r>
              <a:rPr kumimoji="1" lang="ja-JP" altLang="en-US" sz="3000" dirty="0">
                <a:solidFill>
                  <a:srgbClr val="FF0000"/>
                </a:solidFill>
              </a:rPr>
              <a:t>ません</a:t>
            </a:r>
            <a:r>
              <a:rPr kumimoji="1" lang="ja-JP" altLang="en-US" sz="30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3373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841293" y="2455217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Nhật.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293" y="3426767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000" y="4455467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bưu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điện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293" y="5613099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chẳng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gì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066800" y="1333500"/>
            <a:ext cx="56388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明日、何をしますか。</a:t>
            </a:r>
            <a:endParaRPr lang="en-US" sz="40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905000" y="2247900"/>
            <a:ext cx="71628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日本語を　べんきょうします。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05000" y="3276600"/>
            <a:ext cx="71628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新聞を　読みます。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31233" y="4305300"/>
            <a:ext cx="4926767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郵便局へ　行きます。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91660" y="5312764"/>
            <a:ext cx="43434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何も　しません。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18036">
            <a:off x="9609059" y="785813"/>
            <a:ext cx="2457450" cy="18573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/>
          <p:cNvSpPr txBox="1"/>
          <p:nvPr/>
        </p:nvSpPr>
        <p:spPr>
          <a:xfrm>
            <a:off x="1066800" y="120009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あした　　　なに</a:t>
            </a:r>
            <a:endParaRPr lang="en-US" sz="2000" dirty="0">
              <a:solidFill>
                <a:srgbClr val="0070C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4906" y="3114585"/>
            <a:ext cx="269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しんぶん　　　　よ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1293" y="4150215"/>
            <a:ext cx="3250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ゆうびんきょく　　　　い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91660" y="5046237"/>
            <a:ext cx="723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FF000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なに　　　</a:t>
            </a:r>
            <a:endParaRPr lang="en-US" sz="2000" dirty="0">
              <a:solidFill>
                <a:srgbClr val="FF000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6481" y="266580"/>
            <a:ext cx="8123316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※NVT</a:t>
            </a:r>
            <a:r>
              <a:rPr lang="vi-VN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ja-JP" altLang="en-US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も　</a:t>
            </a:r>
            <a:r>
              <a:rPr lang="en-US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</a:t>
            </a:r>
            <a:r>
              <a:rPr lang="ja-JP" altLang="en-US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：　</a:t>
            </a:r>
            <a:r>
              <a:rPr lang="vi-VN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phủ định 100%</a:t>
            </a:r>
            <a:endParaRPr lang="en-US" sz="4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41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2" grpId="0" animBg="1"/>
      <p:bldP spid="3" grpId="0" animBg="1"/>
      <p:bldP spid="4" grpId="0" animBg="1"/>
      <p:bldP spid="5" grpId="0" animBg="1"/>
      <p:bldP spid="6" grpId="0" animBg="1"/>
      <p:bldP spid="8" grpId="0"/>
      <p:bldP spid="9" grpId="0"/>
      <p:bldP spid="10" grpId="0"/>
      <p:bldP spid="11" grpId="0"/>
      <p:bldP spid="1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905000" y="2097029"/>
            <a:ext cx="385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ngân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9996" y="3148248"/>
            <a:ext cx="385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(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viện.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4180" y="4343727"/>
            <a:ext cx="385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Tôi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(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sẽ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đâu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</a:t>
            </a:r>
            <a:r>
              <a:rPr lang="en-US" sz="24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066800" y="762000"/>
            <a:ext cx="67056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今晩、どこへ　行きますか。</a:t>
            </a:r>
            <a:endParaRPr lang="en-US" sz="40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905000" y="1905000"/>
            <a:ext cx="53340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銀行へ　行きます。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05000" y="3009900"/>
            <a:ext cx="53340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図書館へ　行きます。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81600" y="4148137"/>
            <a:ext cx="6755567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どこ（へ）も　行きません。</a:t>
            </a:r>
            <a:endParaRPr lang="en-US" sz="40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18036">
            <a:off x="9609059" y="214313"/>
            <a:ext cx="2457450" cy="18573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/>
          <p:cNvSpPr txBox="1"/>
          <p:nvPr/>
        </p:nvSpPr>
        <p:spPr>
          <a:xfrm>
            <a:off x="1219200" y="634584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NtMotoyaKyotai" panose="02020200000000000000" pitchFamily="18" charset="-128"/>
                <a:ea typeface="NtMotoyaKyotai" panose="02020200000000000000" pitchFamily="18" charset="-128"/>
              </a:rPr>
              <a:t>こんばん　　　</a:t>
            </a:r>
            <a:endParaRPr lang="en-US" sz="2000" dirty="0">
              <a:solidFill>
                <a:srgbClr val="0070C0"/>
              </a:solidFill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41226" y="1747604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ぎんこう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31166" y="2886045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としょかん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05000" y="5291137"/>
            <a:ext cx="812331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※NVT</a:t>
            </a:r>
            <a:r>
              <a:rPr lang="vi-VN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も　</a:t>
            </a:r>
            <a:r>
              <a:rPr lang="en-US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</a:t>
            </a:r>
            <a:r>
              <a:rPr lang="ja-JP" alt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：　</a:t>
            </a:r>
            <a:r>
              <a:rPr lang="vi-VN" altLang="ja-JP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phủ định 100%</a:t>
            </a:r>
            <a:endParaRPr lang="en-US" sz="24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4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1" y="533399"/>
            <a:ext cx="7475414" cy="5553165"/>
          </a:xfrm>
          <a:prstGeom prst="rect">
            <a:avLst/>
          </a:prstGeom>
        </p:spPr>
      </p:pic>
      <p:pic>
        <p:nvPicPr>
          <p:cNvPr id="3" name="45 Track 4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19200" y="304800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5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1" y="533399"/>
            <a:ext cx="7475414" cy="5553165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6400800" y="158528"/>
            <a:ext cx="5562600" cy="1295400"/>
          </a:xfrm>
          <a:prstGeom prst="wedgeRoundRectCallout">
            <a:avLst>
              <a:gd name="adj1" fmla="val 9013"/>
              <a:gd name="adj2" fmla="val 146913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まいにち、</a:t>
            </a:r>
            <a:r>
              <a:rPr kumimoji="1" lang="en-US" altLang="ja-JP" sz="3000" dirty="0">
                <a:solidFill>
                  <a:srgbClr val="FF0000"/>
                </a:solidFill>
              </a:rPr>
              <a:t>8</a:t>
            </a:r>
            <a:r>
              <a:rPr kumimoji="1" lang="ja-JP" altLang="en-US" sz="3000" dirty="0">
                <a:solidFill>
                  <a:srgbClr val="FF0000"/>
                </a:solidFill>
              </a:rPr>
              <a:t>時半に</a:t>
            </a:r>
            <a:r>
              <a:rPr kumimoji="1" lang="ja-JP" altLang="en-US" sz="3000" dirty="0">
                <a:solidFill>
                  <a:schemeClr val="tx1"/>
                </a:solidFill>
              </a:rPr>
              <a:t>おきます。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12405" y="4367788"/>
            <a:ext cx="4038600" cy="2280662"/>
          </a:xfrm>
          <a:prstGeom prst="wedgeRoundRectCallout">
            <a:avLst>
              <a:gd name="adj1" fmla="val 63579"/>
              <a:gd name="adj2" fmla="val -65607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あさ、</a:t>
            </a:r>
            <a:r>
              <a:rPr kumimoji="1" lang="ja-JP" altLang="en-US" sz="3000" dirty="0">
                <a:solidFill>
                  <a:srgbClr val="FF0000"/>
                </a:solidFill>
              </a:rPr>
              <a:t>何時</a:t>
            </a:r>
            <a:r>
              <a:rPr kumimoji="1" lang="ja-JP" altLang="en-US" sz="3000" b="1" dirty="0">
                <a:solidFill>
                  <a:srgbClr val="FF0000"/>
                </a:solidFill>
              </a:rPr>
              <a:t>に</a:t>
            </a:r>
            <a:r>
              <a:rPr kumimoji="1" lang="ja-JP" altLang="en-US" sz="3000" dirty="0">
                <a:solidFill>
                  <a:schemeClr val="tx1"/>
                </a:solidFill>
              </a:rPr>
              <a:t>おきますか。</a:t>
            </a:r>
          </a:p>
        </p:txBody>
      </p:sp>
    </p:spTree>
    <p:extLst>
      <p:ext uri="{BB962C8B-B14F-4D97-AF65-F5344CB8AC3E}">
        <p14:creationId xmlns:p14="http://schemas.microsoft.com/office/powerpoint/2010/main" val="250938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371600"/>
            <a:ext cx="5037015" cy="3741783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5723016" y="1295400"/>
            <a:ext cx="5562600" cy="1295400"/>
          </a:xfrm>
          <a:prstGeom prst="wedgeRoundRectCallout">
            <a:avLst>
              <a:gd name="adj1" fmla="val -62562"/>
              <a:gd name="adj2" fmla="val 74854"/>
              <a:gd name="adj3" fmla="val 1666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000" dirty="0">
                <a:solidFill>
                  <a:schemeClr val="tx1"/>
                </a:solidFill>
              </a:rPr>
              <a:t>まいにち、</a:t>
            </a:r>
            <a:r>
              <a:rPr kumimoji="1" lang="en-US" altLang="ja-JP" sz="3000" dirty="0">
                <a:solidFill>
                  <a:srgbClr val="FF0000"/>
                </a:solidFill>
              </a:rPr>
              <a:t>8</a:t>
            </a:r>
            <a:r>
              <a:rPr kumimoji="1" lang="ja-JP" altLang="en-US" sz="3000" dirty="0">
                <a:solidFill>
                  <a:srgbClr val="FF0000"/>
                </a:solidFill>
              </a:rPr>
              <a:t>時半に</a:t>
            </a:r>
            <a:r>
              <a:rPr kumimoji="1" lang="ja-JP" altLang="en-US" sz="3000" dirty="0">
                <a:solidFill>
                  <a:schemeClr val="tx1"/>
                </a:solidFill>
              </a:rPr>
              <a:t>おきます。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04800"/>
            <a:ext cx="8123316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vi-VN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 gian </a:t>
            </a:r>
            <a:r>
              <a:rPr lang="ja-JP" altLang="en-US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に　</a:t>
            </a:r>
            <a:r>
              <a:rPr lang="en-US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ja-JP" altLang="en-US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en-US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vi-VN" altLang="ja-JP" sz="4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làm vào lúc~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100" y="5152072"/>
            <a:ext cx="11973149" cy="1477328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ja-JP" sz="3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※</a:t>
            </a:r>
            <a:r>
              <a:rPr lang="vi-VN" altLang="ja-JP" sz="3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làm V vào </a:t>
            </a:r>
            <a:r>
              <a:rPr lang="vi-VN" altLang="ja-JP" sz="3000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 điểm cụ thể </a:t>
            </a:r>
            <a:r>
              <a:rPr lang="vi-VN" altLang="ja-JP" sz="3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</a:t>
            </a:r>
            <a:r>
              <a:rPr lang="ja-JP" altLang="en-US" sz="3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に。</a:t>
            </a:r>
            <a:endParaRPr lang="en-US" altLang="ja-JP" sz="3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altLang="ja-JP" sz="3000" dirty="0"/>
              <a:t>Thời gian xác định, cụ thể: có số: </a:t>
            </a:r>
            <a:r>
              <a:rPr lang="ja-JP" altLang="en-US" sz="3000" dirty="0"/>
              <a:t>〇時、〇曜日、〇日、〇月、〇年</a:t>
            </a:r>
            <a:r>
              <a:rPr lang="vi-VN" altLang="ja-JP" sz="3000" dirty="0"/>
              <a:t>.</a:t>
            </a:r>
          </a:p>
          <a:p>
            <a:r>
              <a:rPr lang="vi-VN" altLang="ja-JP" sz="3000" dirty="0"/>
              <a:t>Ngoài ra, </a:t>
            </a:r>
            <a:r>
              <a:rPr lang="ja-JP" altLang="en-US" sz="3000" dirty="0"/>
              <a:t>はる／なつ／あき／ふゆ</a:t>
            </a:r>
            <a:r>
              <a:rPr lang="vi-VN" altLang="ja-JP" sz="3000" dirty="0"/>
              <a:t> cũng dc xem là N chỉ thời gian xd.</a:t>
            </a:r>
            <a:endParaRPr lang="ja-JP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442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14590">
            <a:off x="666548" y="42489"/>
            <a:ext cx="1925129" cy="19732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774" y="3713574"/>
            <a:ext cx="2294775" cy="17728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56261">
            <a:off x="2670546" y="97509"/>
            <a:ext cx="1376363" cy="13763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107" y="3183804"/>
            <a:ext cx="1905000" cy="14269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Rounded Rectangle 20"/>
          <p:cNvSpPr/>
          <p:nvPr/>
        </p:nvSpPr>
        <p:spPr>
          <a:xfrm>
            <a:off x="151283" y="1431545"/>
            <a:ext cx="728298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私は毎朝</a:t>
            </a:r>
            <a:r>
              <a:rPr lang="vi-VN" altLang="ja-JP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 </a:t>
            </a:r>
            <a:r>
              <a:rPr lang="ja-JP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６時半</a:t>
            </a:r>
            <a:r>
              <a:rPr lang="ja-JP" altLang="en-US" sz="4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に</a:t>
            </a:r>
            <a:r>
              <a:rPr lang="ja-JP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おきます。</a:t>
            </a:r>
            <a:endParaRPr lang="en-US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70855" y="5105400"/>
            <a:ext cx="7030645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私は毎晩１１時</a:t>
            </a:r>
            <a:r>
              <a:rPr lang="ja-JP" altLang="en-US" sz="4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に</a:t>
            </a:r>
            <a:r>
              <a:rPr lang="ja-JP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ねます。</a:t>
            </a:r>
            <a:endParaRPr lang="en-US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00325" y="2080233"/>
            <a:ext cx="3059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まいあさ　　　じはん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0" y="4599987"/>
            <a:ext cx="3059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まいばん　　　　　じ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77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14" grpId="0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891513" y="2132875"/>
            <a:ext cx="5988568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　毎朝　おきます。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616532" y="4653313"/>
            <a:ext cx="7250291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　毎朝　学校へ　来ます。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24000" y="2984649"/>
            <a:ext cx="8562067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　毎朝　６時に　おきます。</a:t>
            </a:r>
            <a:endParaRPr lang="en-US" sz="4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08719">
            <a:off x="8612872" y="1548106"/>
            <a:ext cx="1499687" cy="14996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22861">
            <a:off x="9790783" y="4214537"/>
            <a:ext cx="1452562" cy="14525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52528">
            <a:off x="280987" y="1330526"/>
            <a:ext cx="2486025" cy="18383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90016">
            <a:off x="279887" y="3979886"/>
            <a:ext cx="2066925" cy="2209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Rounded Rectangle 17"/>
          <p:cNvSpPr/>
          <p:nvPr/>
        </p:nvSpPr>
        <p:spPr>
          <a:xfrm>
            <a:off x="1523999" y="5562600"/>
            <a:ext cx="10591800" cy="76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200000000000000" pitchFamily="18" charset="-128"/>
                <a:ea typeface="NtMotoyaKyotai" panose="02020200000000000000" pitchFamily="18" charset="-128"/>
              </a:rPr>
              <a:t>私は　毎朝　７時半に　学校へ　来ます。</a:t>
            </a:r>
            <a:endParaRPr lang="en-US" sz="4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5800" y="1989667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まいあさ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40890" y="4539459"/>
            <a:ext cx="5584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NtMotoyaKyotai" panose="02020200000000000000" pitchFamily="18" charset="-128"/>
                <a:ea typeface="NtMotoyaKyotai" panose="02020200000000000000" pitchFamily="18" charset="-128"/>
              </a:rPr>
              <a:t>まいあさ　　がっこう　　　　　き　　　</a:t>
            </a:r>
            <a:endParaRPr lang="en-US" sz="2000" dirty="0">
              <a:latin typeface="NtMotoyaKyotai" panose="02020200000000000000" pitchFamily="18" charset="-128"/>
              <a:ea typeface="NtMotoyaKyotai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047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4" grpId="0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vi-VN" altLang="ja-JP" dirty="0"/>
              <a:t>TỔNG HỢP</a:t>
            </a:r>
            <a:br>
              <a:rPr lang="vi-VN" altLang="ja-JP" dirty="0"/>
            </a:br>
            <a:r>
              <a:rPr lang="ja-JP" altLang="en-US"/>
              <a:t>まとめ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3970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kumimoji="1" lang="ja-JP" altLang="en-US" dirty="0"/>
              <a:t>こ・そ・あ・ど</a:t>
            </a:r>
            <a:r>
              <a:rPr kumimoji="1" lang="en-US" altLang="ja-JP" dirty="0"/>
              <a:t>:</a:t>
            </a:r>
            <a:r>
              <a:rPr kumimoji="1" lang="vi-VN" altLang="ja-JP" dirty="0"/>
              <a:t>Này đó kia nào?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vi-VN" altLang="ja-JP" dirty="0"/>
              <a:t>Đồ vật </a:t>
            </a:r>
            <a:r>
              <a:rPr kumimoji="1" lang="ja-JP" altLang="en-US" dirty="0"/>
              <a:t>＋</a:t>
            </a:r>
            <a:r>
              <a:rPr kumimoji="1" lang="ja-JP" altLang="en-US" dirty="0">
                <a:solidFill>
                  <a:srgbClr val="FF0000"/>
                </a:solidFill>
              </a:rPr>
              <a:t>れ</a:t>
            </a:r>
            <a:r>
              <a:rPr kumimoji="1" lang="en-US" altLang="ja-JP" dirty="0"/>
              <a:t>:</a:t>
            </a:r>
            <a:r>
              <a:rPr kumimoji="1" lang="ja-JP" altLang="en-US" dirty="0"/>
              <a:t>　これ、それ、あれ、どれ？</a:t>
            </a:r>
            <a:endParaRPr kumimoji="1" lang="en-US" altLang="ja-JP" dirty="0"/>
          </a:p>
          <a:p>
            <a:r>
              <a:rPr kumimoji="1" lang="vi-VN" altLang="ja-JP" dirty="0"/>
              <a:t>+N: </a:t>
            </a:r>
            <a:r>
              <a:rPr kumimoji="1" lang="ja-JP" altLang="en-US" dirty="0"/>
              <a:t>＋</a:t>
            </a:r>
            <a:r>
              <a:rPr kumimoji="1" lang="ja-JP" altLang="en-US" dirty="0">
                <a:solidFill>
                  <a:srgbClr val="FF0000"/>
                </a:solidFill>
              </a:rPr>
              <a:t>の</a:t>
            </a:r>
            <a:r>
              <a:rPr kumimoji="1" lang="en-US" altLang="ja-JP" dirty="0">
                <a:solidFill>
                  <a:srgbClr val="FF0000"/>
                </a:solidFill>
              </a:rPr>
              <a:t>N</a:t>
            </a:r>
            <a:r>
              <a:rPr kumimoji="1" lang="ja-JP" altLang="en-US" dirty="0"/>
              <a:t>：📚ほん</a:t>
            </a:r>
            <a:r>
              <a:rPr kumimoji="1" lang="en-US" altLang="ja-JP" dirty="0"/>
              <a:t>:</a:t>
            </a:r>
            <a:r>
              <a:rPr kumimoji="1" lang="ja-JP" altLang="en-US" dirty="0"/>
              <a:t>　このほん、そのほん、あのほん、どのほん</a:t>
            </a:r>
            <a:endParaRPr kumimoji="1" lang="en-US" altLang="ja-JP" dirty="0"/>
          </a:p>
          <a:p>
            <a:r>
              <a:rPr lang="en-US" altLang="ja-JP" dirty="0" err="1"/>
              <a:t>Nơi</a:t>
            </a:r>
            <a:r>
              <a:rPr lang="en-US" altLang="ja-JP" dirty="0"/>
              <a:t> </a:t>
            </a:r>
            <a:r>
              <a:rPr lang="en-US" altLang="ja-JP" dirty="0" err="1"/>
              <a:t>chốn</a:t>
            </a:r>
            <a:r>
              <a:rPr lang="en-US" altLang="ja-JP" dirty="0"/>
              <a:t>:</a:t>
            </a:r>
            <a:r>
              <a:rPr lang="ja-JP" altLang="en-US" dirty="0"/>
              <a:t>＋</a:t>
            </a:r>
            <a:r>
              <a:rPr lang="ja-JP" altLang="en-US" dirty="0">
                <a:solidFill>
                  <a:srgbClr val="FF0000"/>
                </a:solidFill>
              </a:rPr>
              <a:t>こ／ちら</a:t>
            </a:r>
            <a:r>
              <a:rPr lang="en-US" altLang="ja-JP" dirty="0"/>
              <a:t>:</a:t>
            </a:r>
            <a:r>
              <a:rPr lang="ja-JP" altLang="en-US" dirty="0"/>
              <a:t>　ここ、　そこ、</a:t>
            </a:r>
            <a:r>
              <a:rPr lang="ja-JP" altLang="en-US" b="1" dirty="0"/>
              <a:t>あそこ、</a:t>
            </a:r>
            <a:r>
              <a:rPr lang="ja-JP" altLang="en-US" dirty="0"/>
              <a:t>どこ？</a:t>
            </a:r>
            <a:endParaRPr lang="en-US" altLang="ja-JP" dirty="0"/>
          </a:p>
          <a:p>
            <a:pPr lvl="8"/>
            <a:r>
              <a:rPr kumimoji="1" lang="ja-JP" altLang="en-US" dirty="0">
                <a:highlight>
                  <a:srgbClr val="FFFF00"/>
                </a:highlight>
              </a:rPr>
              <a:t>こちら、そちら、あちら、どちら？</a:t>
            </a:r>
            <a:endParaRPr kumimoji="1" lang="en-US" altLang="ja-JP" dirty="0">
              <a:highlight>
                <a:srgbClr val="FFFF00"/>
              </a:highlight>
            </a:endParaRPr>
          </a:p>
          <a:p>
            <a:pPr lvl="8"/>
            <a:endParaRPr lang="en-US" altLang="ja-JP" dirty="0"/>
          </a:p>
          <a:p>
            <a:pPr lvl="8"/>
            <a:endParaRPr kumimoji="1" lang="en-US" altLang="ja-JP" dirty="0"/>
          </a:p>
          <a:p>
            <a:pPr marL="3657600" lvl="8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1168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kumimoji="1" lang="ja-JP" altLang="en-US" dirty="0"/>
              <a:t>そうです・そうですか・</a:t>
            </a:r>
            <a:br>
              <a:rPr kumimoji="1" lang="en-US" altLang="ja-JP" dirty="0"/>
            </a:br>
            <a:r>
              <a:rPr kumimoji="1" lang="ja-JP" altLang="en-US" dirty="0"/>
              <a:t>そうですよ・そうですね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そうです：</a:t>
            </a:r>
            <a:r>
              <a:rPr kumimoji="1" lang="vi-VN" altLang="ja-JP" dirty="0"/>
              <a:t>vậy (thay thế câu trên</a:t>
            </a:r>
          </a:p>
          <a:p>
            <a:r>
              <a:rPr lang="ja-JP" altLang="en-US" b="1" dirty="0"/>
              <a:t>そうですか</a:t>
            </a:r>
            <a:r>
              <a:rPr lang="vi-VN" altLang="ja-JP" b="1" dirty="0"/>
              <a:t>: vậy à! -&gt; Tiếp nhận thông tin. </a:t>
            </a:r>
          </a:p>
          <a:p>
            <a:r>
              <a:rPr lang="ja-JP" altLang="en-US" b="1" dirty="0"/>
              <a:t>そうですよ</a:t>
            </a:r>
            <a:r>
              <a:rPr lang="vi-VN" altLang="ja-JP" b="1" dirty="0"/>
              <a:t>: đúng vậy </a:t>
            </a:r>
            <a:r>
              <a:rPr lang="vi-VN" altLang="ja-JP" b="1" u="sng" dirty="0"/>
              <a:t>đó. </a:t>
            </a:r>
            <a:r>
              <a:rPr lang="vi-VN" altLang="ja-JP" b="1" dirty="0"/>
              <a:t>-&gt; </a:t>
            </a:r>
            <a:r>
              <a:rPr lang="vi-VN" altLang="ja-JP" b="1" dirty="0">
                <a:highlight>
                  <a:srgbClr val="FFFF00"/>
                </a:highlight>
              </a:rPr>
              <a:t>nghĩ là người nghe ko biết</a:t>
            </a:r>
            <a:r>
              <a:rPr lang="vi-VN" altLang="ja-JP" b="1" dirty="0"/>
              <a:t>.</a:t>
            </a:r>
          </a:p>
          <a:p>
            <a:r>
              <a:rPr lang="ja-JP" altLang="en-US" b="1" dirty="0"/>
              <a:t>そうですね：</a:t>
            </a:r>
            <a:r>
              <a:rPr lang="vi-VN" altLang="ja-JP" b="1" dirty="0"/>
              <a:t>1. đúng vậy </a:t>
            </a:r>
            <a:r>
              <a:rPr lang="vi-VN" altLang="ja-JP" b="1" u="sng" dirty="0"/>
              <a:t>nhỉ</a:t>
            </a:r>
            <a:r>
              <a:rPr lang="vi-VN" altLang="ja-JP" b="1" dirty="0"/>
              <a:t>! -&gt; đồng ý với ý kiến phía trước</a:t>
            </a:r>
          </a:p>
          <a:p>
            <a:pPr marL="2286000" lvl="5" indent="0">
              <a:buNone/>
            </a:pPr>
            <a:r>
              <a:rPr lang="vi-VN" altLang="ja-JP" b="1" dirty="0"/>
              <a:t>2</a:t>
            </a:r>
            <a:r>
              <a:rPr lang="vi-VN" altLang="ja-JP" sz="3000" b="1" dirty="0"/>
              <a:t>. Khi bị hỏi -&gt; chưa trả lời ngay được: để xem nào!</a:t>
            </a:r>
          </a:p>
          <a:p>
            <a:pPr marL="2286000" lvl="5" indent="0">
              <a:buNone/>
            </a:pPr>
            <a:r>
              <a:rPr lang="vi-VN" altLang="ja-JP" b="1" dirty="0"/>
              <a:t> </a:t>
            </a:r>
            <a:r>
              <a:rPr lang="vi-VN" altLang="ja-JP" b="1" u="sn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225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kumimoji="1" lang="vi-VN" altLang="ja-JP" dirty="0"/>
              <a:t>V</a:t>
            </a:r>
            <a:r>
              <a:rPr kumimoji="1" lang="en-US" altLang="ja-JP" dirty="0"/>
              <a:t>:</a:t>
            </a:r>
            <a:r>
              <a:rPr kumimoji="1" lang="ja-JP" altLang="en-US" dirty="0"/>
              <a:t>　</a:t>
            </a:r>
            <a:r>
              <a:rPr kumimoji="1" lang="vi-VN" altLang="ja-JP" dirty="0"/>
              <a:t>(</a:t>
            </a:r>
            <a:r>
              <a:rPr kumimoji="1" lang="ja-JP" altLang="en-US" dirty="0"/>
              <a:t>たべます</a:t>
            </a:r>
            <a:r>
              <a:rPr lang="vi-VN" altLang="ja-JP" dirty="0"/>
              <a:t>) khẳng định/ phủ định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ます</a:t>
            </a:r>
            <a:r>
              <a:rPr lang="ja-JP" altLang="en-US" dirty="0"/>
              <a:t>／ません</a:t>
            </a:r>
            <a:r>
              <a:rPr lang="vi-VN" altLang="ja-JP" dirty="0"/>
              <a:t>: </a:t>
            </a:r>
          </a:p>
          <a:p>
            <a:pPr marL="0" indent="0">
              <a:buNone/>
            </a:pPr>
            <a:r>
              <a:rPr lang="vi-VN" altLang="ja-JP" dirty="0"/>
              <a:t>-&gt; </a:t>
            </a:r>
            <a:r>
              <a:rPr lang="ja-JP" altLang="en-US" dirty="0"/>
              <a:t>たべます／たべません</a:t>
            </a:r>
            <a:r>
              <a:rPr lang="vi-VN" altLang="ja-JP" dirty="0"/>
              <a:t> ăn/ không ăn.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kumimoji="1" lang="vi-VN" altLang="ja-JP" b="1" dirty="0"/>
              <a:t>Mở rộng: quá khứ:</a:t>
            </a:r>
            <a:r>
              <a:rPr kumimoji="1" lang="ja-JP" altLang="en-US" b="1" dirty="0"/>
              <a:t>ました／</a:t>
            </a:r>
            <a:r>
              <a:rPr kumimoji="1" lang="vi-VN" altLang="ja-JP" b="1" dirty="0"/>
              <a:t>quá khứ phủ định:</a:t>
            </a:r>
            <a:r>
              <a:rPr kumimoji="1" lang="ja-JP" altLang="en-US" b="1" dirty="0"/>
              <a:t>ませんでした</a:t>
            </a:r>
            <a:endParaRPr kumimoji="1" lang="en-US" altLang="ja-JP" b="1" dirty="0"/>
          </a:p>
          <a:p>
            <a:pPr marL="0" indent="0">
              <a:buNone/>
            </a:pPr>
            <a:r>
              <a:rPr lang="vi-VN" altLang="ja-JP" dirty="0"/>
              <a:t>-&gt; </a:t>
            </a:r>
            <a:r>
              <a:rPr lang="ja-JP" altLang="en-US" dirty="0"/>
              <a:t>たべました／たべま</a:t>
            </a:r>
            <a:r>
              <a:rPr lang="ja-JP" altLang="en-US" dirty="0">
                <a:highlight>
                  <a:srgbClr val="FFFF00"/>
                </a:highlight>
              </a:rPr>
              <a:t>せん</a:t>
            </a:r>
            <a:r>
              <a:rPr lang="ja-JP" altLang="en-US" b="1" dirty="0">
                <a:highlight>
                  <a:srgbClr val="FFFF00"/>
                </a:highlight>
              </a:rPr>
              <a:t>で</a:t>
            </a:r>
            <a:r>
              <a:rPr lang="ja-JP" altLang="en-US" dirty="0"/>
              <a:t>した</a:t>
            </a:r>
            <a:endParaRPr lang="vi-VN" altLang="ja-JP" dirty="0"/>
          </a:p>
          <a:p>
            <a:pPr marL="0" indent="0">
              <a:buNone/>
            </a:pPr>
            <a:r>
              <a:rPr lang="vi-VN" altLang="ja-JP" dirty="0"/>
              <a:t>Đã ăn/ đã không ăn.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732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kumimoji="1" lang="ja-JP" altLang="en-US" sz="3000" dirty="0"/>
              <a:t>：➡</a:t>
            </a:r>
            <a:r>
              <a:rPr kumimoji="1" lang="vi-VN" altLang="ja-JP" sz="3000" dirty="0"/>
              <a:t>Thời gian ko xác định (ko có số) : không + trợ từ</a:t>
            </a:r>
            <a:br>
              <a:rPr lang="en-US" altLang="ja-JP" sz="3000" dirty="0"/>
            </a:br>
            <a:r>
              <a:rPr lang="ja-JP" altLang="en-US" sz="3000" dirty="0"/>
              <a:t>　　じかん　　➡</a:t>
            </a:r>
            <a:r>
              <a:rPr lang="vi-VN" altLang="ja-JP" sz="3000" dirty="0"/>
              <a:t>Thời gian xác định</a:t>
            </a:r>
            <a:r>
              <a:rPr lang="ja-JP" altLang="en-US" sz="3000" dirty="0"/>
              <a:t>　（</a:t>
            </a:r>
            <a:r>
              <a:rPr lang="vi-VN" altLang="ja-JP" sz="3000" dirty="0"/>
              <a:t>có số</a:t>
            </a:r>
            <a:r>
              <a:rPr lang="ja-JP" altLang="en-US" sz="3000" dirty="0"/>
              <a:t>）</a:t>
            </a:r>
            <a:r>
              <a:rPr lang="vi-VN" altLang="ja-JP" sz="3000" dirty="0"/>
              <a:t>: </a:t>
            </a:r>
            <a:r>
              <a:rPr lang="ja-JP" altLang="en-US" sz="3000" dirty="0"/>
              <a:t>＋</a:t>
            </a:r>
            <a:r>
              <a:rPr lang="ja-JP" altLang="en-US" sz="3000" b="1" u="sng" dirty="0">
                <a:solidFill>
                  <a:srgbClr val="FF0000"/>
                </a:solidFill>
              </a:rPr>
              <a:t>に</a:t>
            </a:r>
            <a:r>
              <a:rPr lang="ja-JP" altLang="en-US" sz="3000" dirty="0"/>
              <a:t>　</a:t>
            </a:r>
            <a:r>
              <a:rPr lang="vi-VN" altLang="ja-JP" sz="3000" dirty="0"/>
              <a:t>lúc</a:t>
            </a:r>
            <a:endParaRPr kumimoji="1" lang="ja-JP" alt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59573"/>
            <a:ext cx="5149132" cy="294873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今</a:t>
            </a:r>
            <a:r>
              <a:rPr kumimoji="1" lang="en-US" altLang="ja-JP" dirty="0"/>
              <a:t>:</a:t>
            </a:r>
            <a:r>
              <a:rPr kumimoji="1" lang="ja-JP" altLang="en-US" dirty="0"/>
              <a:t>　いま</a:t>
            </a:r>
            <a:r>
              <a:rPr kumimoji="1" lang="vi-VN" altLang="ja-JP" dirty="0"/>
              <a:t> bây giờ</a:t>
            </a:r>
            <a:endParaRPr kumimoji="1" lang="en-US" altLang="ja-JP" dirty="0"/>
          </a:p>
          <a:p>
            <a:r>
              <a:rPr lang="ja-JP" altLang="en-US" dirty="0"/>
              <a:t>春　はる</a:t>
            </a:r>
            <a:r>
              <a:rPr lang="vi-VN" altLang="ja-JP" dirty="0"/>
              <a:t> mùa xuân</a:t>
            </a:r>
            <a:endParaRPr lang="en-US" altLang="ja-JP" dirty="0"/>
          </a:p>
          <a:p>
            <a:r>
              <a:rPr kumimoji="1" lang="ja-JP" altLang="en-US" dirty="0"/>
              <a:t>秋　あき</a:t>
            </a:r>
            <a:r>
              <a:rPr kumimoji="1" lang="vi-VN" altLang="ja-JP" dirty="0"/>
              <a:t> mùa thu</a:t>
            </a:r>
            <a:endParaRPr kumimoji="1" lang="en-US" altLang="ja-JP" dirty="0"/>
          </a:p>
          <a:p>
            <a:r>
              <a:rPr lang="ja-JP" altLang="en-US" dirty="0"/>
              <a:t>夏　なつ</a:t>
            </a:r>
            <a:r>
              <a:rPr lang="vi-VN" altLang="ja-JP" dirty="0"/>
              <a:t> mùa hè</a:t>
            </a:r>
            <a:endParaRPr lang="en-US" altLang="ja-JP" dirty="0"/>
          </a:p>
          <a:p>
            <a:r>
              <a:rPr kumimoji="1" lang="ja-JP" altLang="en-US" dirty="0"/>
              <a:t>冬　ふゆ</a:t>
            </a:r>
            <a:r>
              <a:rPr kumimoji="1" lang="vi-VN" altLang="ja-JP" dirty="0"/>
              <a:t> mùa đông</a:t>
            </a:r>
            <a:endParaRPr kumimoji="1" lang="en-US" altLang="ja-JP" dirty="0"/>
          </a:p>
          <a:p>
            <a:endParaRPr lang="en-US" altLang="ja-JP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419600" y="1959573"/>
            <a:ext cx="7543800" cy="3005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今日：きょう</a:t>
            </a:r>
            <a:r>
              <a:rPr lang="vi-VN" altLang="ja-JP" dirty="0"/>
              <a:t> hôm nay</a:t>
            </a:r>
            <a:endParaRPr lang="en-US" altLang="ja-JP" dirty="0"/>
          </a:p>
          <a:p>
            <a:r>
              <a:rPr lang="ja-JP" altLang="en-US" dirty="0"/>
              <a:t>明日：あした</a:t>
            </a:r>
            <a:r>
              <a:rPr lang="vi-VN" altLang="ja-JP" dirty="0"/>
              <a:t> mai</a:t>
            </a:r>
            <a:endParaRPr lang="en-US" altLang="ja-JP" dirty="0"/>
          </a:p>
          <a:p>
            <a:r>
              <a:rPr lang="ja-JP" altLang="en-US" dirty="0"/>
              <a:t>午前</a:t>
            </a:r>
            <a:r>
              <a:rPr lang="vi-VN" altLang="ja-JP" dirty="0"/>
              <a:t>:</a:t>
            </a:r>
            <a:r>
              <a:rPr lang="ja-JP" altLang="en-US" dirty="0"/>
              <a:t>ごぜん</a:t>
            </a:r>
            <a:r>
              <a:rPr lang="vi-VN" altLang="ja-JP" dirty="0"/>
              <a:t> sáng ,am </a:t>
            </a:r>
            <a:r>
              <a:rPr lang="ja-JP" altLang="en-US" dirty="0"/>
              <a:t>➡午後</a:t>
            </a:r>
            <a:r>
              <a:rPr lang="vi-VN" altLang="ja-JP" dirty="0"/>
              <a:t>:</a:t>
            </a:r>
            <a:r>
              <a:rPr lang="ja-JP" altLang="en-US" dirty="0"/>
              <a:t>ごご</a:t>
            </a:r>
            <a:r>
              <a:rPr lang="vi-VN" altLang="ja-JP" dirty="0"/>
              <a:t> pm</a:t>
            </a:r>
            <a:endParaRPr lang="en-US" altLang="ja-JP" dirty="0"/>
          </a:p>
          <a:p>
            <a:r>
              <a:rPr lang="ja-JP" altLang="en-US" dirty="0"/>
              <a:t>朝</a:t>
            </a:r>
            <a:r>
              <a:rPr lang="vi-VN" altLang="ja-JP" dirty="0"/>
              <a:t>:</a:t>
            </a:r>
            <a:r>
              <a:rPr lang="ja-JP" altLang="en-US" dirty="0"/>
              <a:t>あさ</a:t>
            </a:r>
            <a:r>
              <a:rPr lang="vi-VN" altLang="ja-JP" dirty="0"/>
              <a:t>sáng</a:t>
            </a:r>
            <a:r>
              <a:rPr lang="ja-JP" altLang="en-US" dirty="0"/>
              <a:t>➡昼</a:t>
            </a:r>
            <a:r>
              <a:rPr lang="vi-VN" altLang="ja-JP" dirty="0"/>
              <a:t>:</a:t>
            </a:r>
            <a:r>
              <a:rPr lang="ja-JP" altLang="en-US" dirty="0"/>
              <a:t>ひる</a:t>
            </a:r>
            <a:r>
              <a:rPr lang="vi-VN" altLang="ja-JP" dirty="0"/>
              <a:t>trưa</a:t>
            </a:r>
            <a:r>
              <a:rPr lang="ja-JP" altLang="en-US" dirty="0"/>
              <a:t>　➡晩</a:t>
            </a:r>
            <a:r>
              <a:rPr lang="vi-VN" altLang="ja-JP" dirty="0"/>
              <a:t>:</a:t>
            </a:r>
            <a:r>
              <a:rPr lang="ja-JP" altLang="en-US" dirty="0"/>
              <a:t>ばん</a:t>
            </a:r>
            <a:r>
              <a:rPr lang="vi-VN" altLang="ja-JP" dirty="0"/>
              <a:t>tối</a:t>
            </a:r>
            <a:endParaRPr lang="en-US" altLang="ja-JP" dirty="0"/>
          </a:p>
          <a:p>
            <a:r>
              <a:rPr lang="ja-JP" altLang="en-US" dirty="0"/>
              <a:t>今晩</a:t>
            </a:r>
            <a:r>
              <a:rPr lang="vi-VN" altLang="ja-JP" dirty="0"/>
              <a:t>:</a:t>
            </a:r>
            <a:r>
              <a:rPr lang="ja-JP" altLang="en-US" dirty="0"/>
              <a:t>こんばん</a:t>
            </a:r>
            <a:r>
              <a:rPr lang="vi-VN" altLang="ja-JP" dirty="0"/>
              <a:t> tối nay</a:t>
            </a:r>
            <a:r>
              <a:rPr lang="en-US" altLang="ja-JP" dirty="0"/>
              <a:t> (</a:t>
            </a:r>
            <a:r>
              <a:rPr lang="en-US" altLang="ja-JP" dirty="0" err="1"/>
              <a:t>giống</a:t>
            </a:r>
            <a:r>
              <a:rPr lang="en-US" altLang="ja-JP" dirty="0"/>
              <a:t> </a:t>
            </a:r>
            <a:r>
              <a:rPr lang="en-US" altLang="ja-JP" dirty="0" err="1"/>
              <a:t>với</a:t>
            </a:r>
            <a:r>
              <a:rPr lang="en-US" altLang="ja-JP" dirty="0"/>
              <a:t> </a:t>
            </a:r>
            <a:r>
              <a:rPr lang="en-US" altLang="ja-JP" dirty="0" err="1"/>
              <a:t>câu</a:t>
            </a:r>
            <a:r>
              <a:rPr lang="en-US" altLang="ja-JP" dirty="0"/>
              <a:t> </a:t>
            </a:r>
            <a:r>
              <a:rPr lang="en-US" altLang="ja-JP" dirty="0" err="1"/>
              <a:t>chào</a:t>
            </a:r>
            <a:r>
              <a:rPr lang="en-US" altLang="ja-JP" dirty="0"/>
              <a:t> </a:t>
            </a:r>
            <a:r>
              <a:rPr lang="en-US" altLang="ja-JP" dirty="0" err="1"/>
              <a:t>buổi</a:t>
            </a:r>
            <a:r>
              <a:rPr lang="en-US" altLang="ja-JP" dirty="0"/>
              <a:t> </a:t>
            </a:r>
            <a:r>
              <a:rPr lang="en-US" altLang="ja-JP" dirty="0" err="1"/>
              <a:t>toi</a:t>
            </a:r>
            <a:r>
              <a:rPr lang="en-US" altLang="ja-JP" dirty="0"/>
              <a:t>)</a:t>
            </a:r>
            <a:endParaRPr lang="vi-VN" altLang="ja-JP" dirty="0"/>
          </a:p>
          <a:p>
            <a:r>
              <a:rPr lang="ja-JP" altLang="en-US" dirty="0"/>
              <a:t>毎日</a:t>
            </a:r>
            <a:r>
              <a:rPr lang="vi-VN" altLang="ja-JP" dirty="0"/>
              <a:t>:</a:t>
            </a:r>
            <a:r>
              <a:rPr lang="ja-JP" altLang="en-US" b="1" dirty="0">
                <a:highlight>
                  <a:srgbClr val="FFFF00"/>
                </a:highlight>
              </a:rPr>
              <a:t>まい</a:t>
            </a:r>
            <a:r>
              <a:rPr lang="ja-JP" altLang="en-US" dirty="0">
                <a:highlight>
                  <a:srgbClr val="FFFF00"/>
                </a:highlight>
              </a:rPr>
              <a:t>にち</a:t>
            </a:r>
            <a:r>
              <a:rPr lang="vi-VN" altLang="ja-JP" dirty="0"/>
              <a:t> mỗi ngày</a:t>
            </a:r>
            <a:r>
              <a:rPr lang="ja-JP" altLang="en-US" dirty="0"/>
              <a:t>、毎朝</a:t>
            </a:r>
            <a:r>
              <a:rPr lang="vi-VN" altLang="ja-JP" dirty="0"/>
              <a:t>:</a:t>
            </a:r>
            <a:r>
              <a:rPr lang="ja-JP" altLang="en-US" b="1" dirty="0">
                <a:highlight>
                  <a:srgbClr val="FFFF00"/>
                </a:highlight>
              </a:rPr>
              <a:t>まい</a:t>
            </a:r>
            <a:r>
              <a:rPr lang="ja-JP" altLang="en-US" dirty="0">
                <a:highlight>
                  <a:srgbClr val="FFFF00"/>
                </a:highlight>
              </a:rPr>
              <a:t>あさ</a:t>
            </a:r>
            <a:r>
              <a:rPr lang="vi-VN" altLang="ja-JP" dirty="0"/>
              <a:t> mỗi sáng</a:t>
            </a:r>
            <a:endParaRPr lang="ja-JP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37F9F-1982-29D5-D5BA-51AE45BE2AB0}"/>
              </a:ext>
            </a:extLst>
          </p:cNvPr>
          <p:cNvSpPr txBox="1"/>
          <p:nvPr/>
        </p:nvSpPr>
        <p:spPr>
          <a:xfrm>
            <a:off x="5301532" y="5049509"/>
            <a:ext cx="3385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 - &gt; </a:t>
            </a:r>
            <a:r>
              <a:rPr lang="en-US" dirty="0" err="1"/>
              <a:t>mỗi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8310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kumimoji="1" lang="ja-JP" altLang="en-US" dirty="0"/>
              <a:t>時・分？</a:t>
            </a:r>
            <a:r>
              <a:rPr kumimoji="1" lang="vi-VN" altLang="ja-JP" dirty="0"/>
              <a:t> Giờ / phút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時：～じ　</a:t>
            </a:r>
            <a:r>
              <a:rPr lang="vi-VN" altLang="ja-JP" dirty="0"/>
              <a:t>giờ</a:t>
            </a:r>
            <a:r>
              <a:rPr lang="ja-JP" altLang="en-US" dirty="0"/>
              <a:t>：</a:t>
            </a:r>
            <a:r>
              <a:rPr lang="ja-JP" altLang="en-US" dirty="0">
                <a:solidFill>
                  <a:srgbClr val="FF0000"/>
                </a:solidFill>
              </a:rPr>
              <a:t>４よ，７しち，９く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/>
              <a:t>分</a:t>
            </a:r>
            <a:r>
              <a:rPr kumimoji="1" lang="vi-VN" altLang="ja-JP" dirty="0"/>
              <a:t> phút</a:t>
            </a:r>
            <a:r>
              <a:rPr kumimoji="1" lang="ja-JP" altLang="en-US" dirty="0"/>
              <a:t>：</a:t>
            </a:r>
            <a:endParaRPr kumimoji="1" lang="vi-VN" altLang="ja-JP" dirty="0"/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ふん</a:t>
            </a:r>
            <a:r>
              <a:rPr lang="ja-JP" altLang="en-US" dirty="0"/>
              <a:t>：２，５，７，９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rgbClr val="FF0000"/>
                </a:solidFill>
              </a:rPr>
              <a:t>ぷん</a:t>
            </a:r>
            <a:r>
              <a:rPr kumimoji="1" lang="ja-JP" altLang="en-US" dirty="0"/>
              <a:t>：３，４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không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có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tsu</a:t>
            </a:r>
            <a:r>
              <a:rPr kumimoji="1" lang="en-US" altLang="ja-JP" dirty="0"/>
              <a:t>)</a:t>
            </a:r>
            <a:r>
              <a:rPr kumimoji="1" lang="ja-JP" altLang="en-US" dirty="0"/>
              <a:t>／１，６，８，０（っ）</a:t>
            </a:r>
            <a:endParaRPr lang="vi-VN" altLang="ja-JP" dirty="0"/>
          </a:p>
          <a:p>
            <a:pPr marL="0" indent="0">
              <a:buNone/>
            </a:pPr>
            <a:r>
              <a:rPr kumimoji="1" lang="en-US" altLang="ja-JP" dirty="0"/>
              <a:t>※</a:t>
            </a:r>
            <a:r>
              <a:rPr lang="ja-JP" altLang="en-US" dirty="0"/>
              <a:t>３０‘➡はん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endParaRPr lang="vi-VN" altLang="ja-JP" dirty="0"/>
          </a:p>
          <a:p>
            <a:pPr marL="0" indent="0">
              <a:buNone/>
            </a:pPr>
            <a:r>
              <a:rPr lang="ja-JP" altLang="en-US" dirty="0"/>
              <a:t>１２</a:t>
            </a:r>
            <a:r>
              <a:rPr lang="vi-VN" altLang="ja-JP" dirty="0"/>
              <a:t>h kém 10</a:t>
            </a:r>
            <a:r>
              <a:rPr lang="ja-JP" altLang="en-US" dirty="0"/>
              <a:t>➡１２</a:t>
            </a:r>
            <a:r>
              <a:rPr lang="ja-JP" altLang="en-US" b="1" dirty="0"/>
              <a:t>じ </a:t>
            </a:r>
            <a:r>
              <a:rPr lang="ja-JP" altLang="en-US" u="sng" dirty="0"/>
              <a:t>じゅっぷん </a:t>
            </a:r>
            <a:r>
              <a:rPr lang="ja-JP" altLang="en-US" b="1" dirty="0"/>
              <a:t>まえ</a:t>
            </a:r>
            <a:endParaRPr lang="en-US" altLang="ja-JP" b="1" dirty="0"/>
          </a:p>
          <a:p>
            <a:pPr marL="0" indent="0">
              <a:buNone/>
            </a:pPr>
            <a:r>
              <a:rPr kumimoji="1" lang="en-US" altLang="ja-JP" b="1" dirty="0"/>
              <a:t>※</a:t>
            </a:r>
            <a:r>
              <a:rPr kumimoji="1" lang="ja-JP" altLang="en-US" dirty="0"/>
              <a:t>れい：</a:t>
            </a:r>
            <a:r>
              <a:rPr kumimoji="1" lang="en-US" altLang="ja-JP" dirty="0"/>
              <a:t>VD</a:t>
            </a:r>
          </a:p>
          <a:p>
            <a:pPr marL="0" indent="0">
              <a:buNone/>
            </a:pPr>
            <a:r>
              <a:rPr kumimoji="1" lang="ja-JP" altLang="en-US" dirty="0"/>
              <a:t>３’　</a:t>
            </a:r>
            <a:r>
              <a:rPr kumimoji="1" lang="en-US" altLang="ja-JP" dirty="0"/>
              <a:t>:</a:t>
            </a:r>
            <a:r>
              <a:rPr kumimoji="1" lang="ja-JP" altLang="en-US" dirty="0"/>
              <a:t>さん　ぷん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１６‘　：じゅうろ</a:t>
            </a:r>
            <a:r>
              <a:rPr lang="ja-JP" altLang="en-US" b="1" dirty="0"/>
              <a:t>っ</a:t>
            </a:r>
            <a:r>
              <a:rPr lang="ja-JP" altLang="en-US" dirty="0"/>
              <a:t>　</a:t>
            </a:r>
            <a:r>
              <a:rPr lang="ja-JP" altLang="en-US" b="1" dirty="0"/>
              <a:t>ぷん</a:t>
            </a:r>
            <a:endParaRPr lang="en-US" altLang="ja-JP" b="1" dirty="0"/>
          </a:p>
          <a:p>
            <a:pPr marL="1371600" lvl="3" indent="0">
              <a:buNone/>
            </a:pPr>
            <a:r>
              <a:rPr lang="ja-JP" altLang="en-US" dirty="0"/>
              <a:t>　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6598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kumimoji="1" lang="ja-JP" altLang="en-US" dirty="0"/>
              <a:t>いま</a:t>
            </a:r>
            <a:r>
              <a:rPr kumimoji="1" lang="ja-JP" altLang="en-US" b="1" u="sng" dirty="0">
                <a:solidFill>
                  <a:srgbClr val="FF0000"/>
                </a:solidFill>
              </a:rPr>
              <a:t>ｘ</a:t>
            </a:r>
            <a:r>
              <a:rPr kumimoji="1" lang="ja-JP" altLang="en-US" b="1" dirty="0">
                <a:solidFill>
                  <a:srgbClr val="FF0000"/>
                </a:solidFill>
              </a:rPr>
              <a:t>／は？</a:t>
            </a:r>
            <a:r>
              <a:rPr kumimoji="1" lang="ja-JP" altLang="en-US" dirty="0"/>
              <a:t>何時ですか</a:t>
            </a:r>
            <a:r>
              <a:rPr kumimoji="1" lang="vi-VN" altLang="ja-JP" dirty="0"/>
              <a:t>Bây giờ là mấy giờ?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vi-VN" altLang="ja-JP" dirty="0"/>
              <a:t>Tên quốc gia/ tên thành phố là chủ ngữ.</a:t>
            </a:r>
          </a:p>
          <a:p>
            <a:r>
              <a:rPr lang="ja-JP" altLang="en-US" dirty="0"/>
              <a:t>ベトナム</a:t>
            </a:r>
            <a:r>
              <a:rPr lang="ja-JP" altLang="en-US" b="1" dirty="0"/>
              <a:t>は</a:t>
            </a:r>
            <a:r>
              <a:rPr lang="ja-JP" altLang="en-US" dirty="0"/>
              <a:t>　今（いま）　何時（なんじ）ですか。</a:t>
            </a:r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Beto-namu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wa</a:t>
            </a:r>
            <a:r>
              <a:rPr kumimoji="1" lang="en-US" altLang="ja-JP" dirty="0"/>
              <a:t> – </a:t>
            </a:r>
            <a:r>
              <a:rPr kumimoji="1" lang="en-US" altLang="ja-JP" dirty="0" err="1"/>
              <a:t>ima</a:t>
            </a:r>
            <a:r>
              <a:rPr kumimoji="1" lang="en-US" altLang="ja-JP" dirty="0"/>
              <a:t> – </a:t>
            </a:r>
            <a:r>
              <a:rPr kumimoji="1" lang="en-US" altLang="ja-JP" dirty="0" err="1"/>
              <a:t>nanji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9096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vi-VN" altLang="ja-JP" dirty="0"/>
              <a:t>Trợ từ: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vi-VN" altLang="ja-JP" dirty="0"/>
              <a:t>Nơi chốn: </a:t>
            </a:r>
            <a:r>
              <a:rPr kumimoji="1" lang="ja-JP" altLang="en-US" b="1" dirty="0"/>
              <a:t>へ／で                             </a:t>
            </a:r>
            <a:r>
              <a:rPr kumimoji="1" lang="en-US" altLang="ja-JP" b="1" dirty="0"/>
              <a:t>ka-e-</a:t>
            </a:r>
            <a:r>
              <a:rPr kumimoji="1" lang="en-US" altLang="ja-JP" b="1" dirty="0" err="1"/>
              <a:t>rimasu</a:t>
            </a:r>
            <a:endParaRPr kumimoji="1" lang="en-US" altLang="ja-JP" b="1" dirty="0"/>
          </a:p>
          <a:p>
            <a:r>
              <a:rPr lang="en-US" altLang="ja-JP" dirty="0"/>
              <a:t>NC</a:t>
            </a:r>
            <a:r>
              <a:rPr lang="ja-JP" altLang="en-US" dirty="0"/>
              <a:t>　</a:t>
            </a:r>
            <a:r>
              <a:rPr lang="ja-JP" altLang="en-US" b="1" dirty="0">
                <a:solidFill>
                  <a:srgbClr val="FF0000"/>
                </a:solidFill>
              </a:rPr>
              <a:t>へ</a:t>
            </a:r>
            <a:r>
              <a:rPr lang="ja-JP" altLang="en-US" dirty="0">
                <a:solidFill>
                  <a:srgbClr val="FF0000"/>
                </a:solidFill>
              </a:rPr>
              <a:t>　</a:t>
            </a:r>
            <a:r>
              <a:rPr lang="en-US" altLang="ja-JP" dirty="0"/>
              <a:t>V </a:t>
            </a:r>
            <a:r>
              <a:rPr lang="ja-JP" altLang="en-US" b="1" dirty="0">
                <a:highlight>
                  <a:srgbClr val="FFFF00"/>
                </a:highlight>
              </a:rPr>
              <a:t>いきます</a:t>
            </a:r>
            <a:r>
              <a:rPr lang="ja-JP" altLang="en-US" dirty="0"/>
              <a:t>／</a:t>
            </a:r>
            <a:r>
              <a:rPr lang="ja-JP" altLang="en-US" dirty="0">
                <a:highlight>
                  <a:srgbClr val="FFFF00"/>
                </a:highlight>
              </a:rPr>
              <a:t>きま</a:t>
            </a:r>
            <a:r>
              <a:rPr lang="ja-JP" altLang="en-US" dirty="0"/>
              <a:t>す／</a:t>
            </a:r>
            <a:r>
              <a:rPr lang="ja-JP" altLang="en-US" dirty="0">
                <a:highlight>
                  <a:srgbClr val="FFFF00"/>
                </a:highlight>
              </a:rPr>
              <a:t>かえりま</a:t>
            </a:r>
            <a:r>
              <a:rPr lang="ja-JP" altLang="en-US" dirty="0"/>
              <a:t>す</a:t>
            </a:r>
            <a:r>
              <a:rPr lang="en-US" altLang="ja-JP" dirty="0"/>
              <a:t>:</a:t>
            </a:r>
            <a:r>
              <a:rPr lang="vi-VN" altLang="ja-JP" dirty="0"/>
              <a:t> chỉ </a:t>
            </a:r>
            <a:r>
              <a:rPr lang="vi-VN" altLang="ja-JP" dirty="0">
                <a:solidFill>
                  <a:srgbClr val="FF0000"/>
                </a:solidFill>
              </a:rPr>
              <a:t>phương hướng</a:t>
            </a:r>
          </a:p>
          <a:p>
            <a:r>
              <a:rPr kumimoji="1" lang="vi-VN" altLang="ja-JP" dirty="0"/>
              <a:t>NC </a:t>
            </a:r>
            <a:r>
              <a:rPr kumimoji="1" lang="ja-JP" altLang="en-US" dirty="0"/>
              <a:t>　</a:t>
            </a:r>
            <a:r>
              <a:rPr kumimoji="1" lang="ja-JP" altLang="en-US" dirty="0">
                <a:solidFill>
                  <a:srgbClr val="FF0000"/>
                </a:solidFill>
              </a:rPr>
              <a:t>で</a:t>
            </a:r>
            <a:r>
              <a:rPr kumimoji="1" lang="ja-JP" altLang="en-US" dirty="0"/>
              <a:t>　</a:t>
            </a:r>
            <a:r>
              <a:rPr kumimoji="1" lang="en-US" altLang="ja-JP" dirty="0"/>
              <a:t>V</a:t>
            </a:r>
            <a:r>
              <a:rPr kumimoji="1" lang="ja-JP" altLang="en-US" dirty="0"/>
              <a:t>たべます、かきます、みます。。。：</a:t>
            </a:r>
            <a:r>
              <a:rPr kumimoji="1" lang="vi-VN" altLang="ja-JP" dirty="0"/>
              <a:t>làm tức thời , ko chỉ phương hướng</a:t>
            </a:r>
          </a:p>
          <a:p>
            <a:endParaRPr lang="vi-VN" altLang="ja-JP" dirty="0"/>
          </a:p>
          <a:p>
            <a:pPr marL="0" indent="0">
              <a:buNone/>
            </a:pPr>
            <a:r>
              <a:rPr kumimoji="1" lang="ja-JP" altLang="en-US" dirty="0"/>
              <a:t>①うち　</a:t>
            </a:r>
            <a:r>
              <a:rPr kumimoji="1" lang="ja-JP" altLang="en-US" b="1" dirty="0"/>
              <a:t>で／</a:t>
            </a:r>
            <a:r>
              <a:rPr kumimoji="1" lang="ja-JP" altLang="en-US" b="1" dirty="0">
                <a:highlight>
                  <a:srgbClr val="FFFF00"/>
                </a:highlight>
              </a:rPr>
              <a:t>へ</a:t>
            </a:r>
            <a:r>
              <a:rPr kumimoji="1" lang="ja-JP" altLang="en-US" b="1" dirty="0"/>
              <a:t>？</a:t>
            </a:r>
            <a:r>
              <a:rPr kumimoji="1" lang="ja-JP" altLang="en-US" dirty="0"/>
              <a:t>　かえります。 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toi</a:t>
            </a:r>
            <a:r>
              <a:rPr kumimoji="1" lang="en-US" altLang="ja-JP" dirty="0"/>
              <a:t> se quay </a:t>
            </a:r>
            <a:r>
              <a:rPr kumimoji="1" lang="en-US" altLang="ja-JP" dirty="0" err="1"/>
              <a:t>tro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lai</a:t>
            </a:r>
            <a:r>
              <a:rPr kumimoji="1" lang="en-US" altLang="ja-JP" dirty="0"/>
              <a:t>)</a:t>
            </a:r>
          </a:p>
          <a:p>
            <a:pPr marL="0" indent="0">
              <a:buNone/>
            </a:pPr>
            <a:r>
              <a:rPr lang="ja-JP" altLang="en-US" dirty="0"/>
              <a:t>②うち</a:t>
            </a:r>
            <a:r>
              <a:rPr lang="ja-JP" altLang="en-US" dirty="0">
                <a:highlight>
                  <a:srgbClr val="FFFF00"/>
                </a:highlight>
              </a:rPr>
              <a:t>　</a:t>
            </a:r>
            <a:r>
              <a:rPr lang="ja-JP" altLang="en-US" b="1" dirty="0">
                <a:highlight>
                  <a:srgbClr val="FFFF00"/>
                </a:highlight>
              </a:rPr>
              <a:t>で</a:t>
            </a:r>
            <a:r>
              <a:rPr lang="ja-JP" altLang="en-US" b="1" dirty="0"/>
              <a:t>／へ？</a:t>
            </a:r>
            <a:r>
              <a:rPr lang="ja-JP" altLang="en-US" dirty="0"/>
              <a:t>　たべます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754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N</a:t>
            </a:r>
            <a:r>
              <a:rPr kumimoji="1" lang="vi-VN" altLang="ja-JP" dirty="0"/>
              <a:t> </a:t>
            </a:r>
            <a:r>
              <a:rPr kumimoji="1" lang="ja-JP" altLang="en-US" b="1" u="sng" dirty="0"/>
              <a:t>を</a:t>
            </a:r>
            <a:r>
              <a:rPr kumimoji="1" lang="vi-VN" altLang="ja-JP" b="1" dirty="0"/>
              <a:t> </a:t>
            </a:r>
            <a:r>
              <a:rPr kumimoji="1" lang="vi-VN" altLang="ja-JP" dirty="0"/>
              <a:t>V</a:t>
            </a:r>
            <a:r>
              <a:rPr kumimoji="1" lang="en-US" altLang="ja-JP" dirty="0"/>
              <a:t>:</a:t>
            </a:r>
            <a:r>
              <a:rPr kumimoji="1" lang="vi-VN" altLang="ja-JP" dirty="0"/>
              <a:t> làm </a:t>
            </a:r>
            <a:r>
              <a:rPr kumimoji="1" lang="vi-VN" altLang="ja-JP" dirty="0">
                <a:solidFill>
                  <a:srgbClr val="FF0000"/>
                </a:solidFill>
              </a:rPr>
              <a:t>cái gì </a:t>
            </a:r>
            <a:r>
              <a:rPr kumimoji="1" lang="vi-VN" altLang="ja-JP" dirty="0"/>
              <a:t>(V tác dụng trực tiếp N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うみ　　　を　みます  </a:t>
            </a:r>
            <a:r>
              <a:rPr lang="en-US" altLang="ja-JP" dirty="0"/>
              <a:t>(</a:t>
            </a:r>
            <a:r>
              <a:rPr lang="en-US" altLang="ja-JP" dirty="0" err="1"/>
              <a:t>nhìn</a:t>
            </a:r>
            <a:r>
              <a:rPr lang="en-US" altLang="ja-JP" dirty="0"/>
              <a:t>)   -&gt; </a:t>
            </a:r>
            <a:r>
              <a:rPr lang="en-US" altLang="ja-JP" dirty="0" err="1"/>
              <a:t>nhìn</a:t>
            </a:r>
            <a:r>
              <a:rPr lang="en-US" altLang="ja-JP" dirty="0"/>
              <a:t> </a:t>
            </a:r>
            <a:r>
              <a:rPr lang="en-US" altLang="ja-JP" dirty="0" err="1"/>
              <a:t>thấy</a:t>
            </a:r>
            <a:r>
              <a:rPr lang="en-US" altLang="ja-JP" dirty="0"/>
              <a:t> </a:t>
            </a:r>
            <a:r>
              <a:rPr lang="en-US" altLang="ja-JP" dirty="0" err="1"/>
              <a:t>biển</a:t>
            </a:r>
            <a:r>
              <a:rPr lang="en-US" altLang="ja-JP" dirty="0"/>
              <a:t> </a:t>
            </a:r>
          </a:p>
          <a:p>
            <a:pPr marL="0" indent="0">
              <a:buNone/>
            </a:pPr>
            <a:r>
              <a:rPr kumimoji="1" lang="ja-JP" altLang="en-US" dirty="0"/>
              <a:t>ごはん　　を　たべます 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ăn</a:t>
            </a:r>
            <a:r>
              <a:rPr kumimoji="1" lang="en-US" altLang="ja-JP" dirty="0"/>
              <a:t>) -&gt;  </a:t>
            </a:r>
            <a:r>
              <a:rPr kumimoji="1" lang="en-US" altLang="ja-JP" dirty="0" err="1"/>
              <a:t>ăn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cơm</a:t>
            </a:r>
            <a:r>
              <a:rPr kumimoji="1" lang="en-US" altLang="ja-JP" dirty="0"/>
              <a:t> </a:t>
            </a:r>
          </a:p>
          <a:p>
            <a:pPr marL="0" indent="0">
              <a:buNone/>
            </a:pPr>
            <a:r>
              <a:rPr lang="ja-JP" altLang="en-US" dirty="0"/>
              <a:t>コーヒー　を　のみます </a:t>
            </a:r>
            <a:r>
              <a:rPr lang="en-US" altLang="ja-JP" dirty="0"/>
              <a:t>(</a:t>
            </a:r>
            <a:r>
              <a:rPr lang="en-US" altLang="ja-JP" dirty="0" err="1"/>
              <a:t>uống</a:t>
            </a:r>
            <a:r>
              <a:rPr lang="en-US" altLang="ja-JP" dirty="0"/>
              <a:t>)  -&gt; </a:t>
            </a:r>
            <a:r>
              <a:rPr lang="en-US" altLang="ja-JP" dirty="0" err="1"/>
              <a:t>uống</a:t>
            </a:r>
            <a:r>
              <a:rPr lang="en-US" altLang="ja-JP" dirty="0"/>
              <a:t> </a:t>
            </a:r>
            <a:r>
              <a:rPr lang="en-US" altLang="ja-JP" dirty="0" err="1"/>
              <a:t>cà</a:t>
            </a:r>
            <a:r>
              <a:rPr lang="en-US" altLang="ja-JP" dirty="0"/>
              <a:t> </a:t>
            </a:r>
            <a:r>
              <a:rPr lang="en-US" altLang="ja-JP" dirty="0" err="1"/>
              <a:t>phê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829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 sz="3000" dirty="0"/>
              <a:t>も：</a:t>
            </a:r>
            <a:r>
              <a:rPr kumimoji="1" lang="vi-VN" altLang="ja-JP" sz="3000" dirty="0"/>
              <a:t>cũng</a:t>
            </a:r>
            <a:r>
              <a:rPr kumimoji="1" lang="ja-JP" altLang="en-US" sz="3000" dirty="0"/>
              <a:t>　→</a:t>
            </a:r>
            <a:r>
              <a:rPr kumimoji="1" lang="en-US" altLang="ja-JP" sz="3000" dirty="0">
                <a:solidFill>
                  <a:srgbClr val="FF0000"/>
                </a:solidFill>
              </a:rPr>
              <a:t>NVT</a:t>
            </a:r>
            <a:r>
              <a:rPr kumimoji="1" lang="ja-JP" altLang="en-US" sz="3000" dirty="0">
                <a:solidFill>
                  <a:srgbClr val="FF0000"/>
                </a:solidFill>
              </a:rPr>
              <a:t>＋</a:t>
            </a:r>
            <a:r>
              <a:rPr kumimoji="1" lang="en-US" altLang="ja-JP" sz="3000" dirty="0">
                <a:solidFill>
                  <a:srgbClr val="FF0000"/>
                </a:solidFill>
              </a:rPr>
              <a:t>MO</a:t>
            </a:r>
            <a:r>
              <a:rPr kumimoji="1" lang="ja-JP" altLang="en-US" sz="3000" dirty="0">
                <a:solidFill>
                  <a:srgbClr val="FF0000"/>
                </a:solidFill>
              </a:rPr>
              <a:t>＋</a:t>
            </a:r>
            <a:r>
              <a:rPr kumimoji="1" lang="en-US" altLang="ja-JP" sz="3000" dirty="0">
                <a:solidFill>
                  <a:srgbClr val="FF0000"/>
                </a:solidFill>
              </a:rPr>
              <a:t>PD</a:t>
            </a:r>
            <a:r>
              <a:rPr kumimoji="1" lang="vi-VN" altLang="ja-JP" sz="3000" dirty="0">
                <a:solidFill>
                  <a:srgbClr val="FF0000"/>
                </a:solidFill>
              </a:rPr>
              <a:t> phủ định 100 %</a:t>
            </a:r>
            <a:br>
              <a:rPr kumimoji="1" lang="en-US" altLang="ja-JP" sz="3000" dirty="0"/>
            </a:br>
            <a:r>
              <a:rPr lang="ja-JP" altLang="en-US" sz="3000" dirty="0">
                <a:solidFill>
                  <a:srgbClr val="FF0000"/>
                </a:solidFill>
              </a:rPr>
              <a:t>を／は➡も</a:t>
            </a:r>
            <a:br>
              <a:rPr lang="en-US" altLang="ja-JP" sz="3000" dirty="0">
                <a:solidFill>
                  <a:srgbClr val="FF0000"/>
                </a:solidFill>
              </a:rPr>
            </a:br>
            <a:r>
              <a:rPr lang="ja-JP" altLang="en-US" sz="3000" dirty="0">
                <a:solidFill>
                  <a:srgbClr val="FF0000"/>
                </a:solidFill>
              </a:rPr>
              <a:t>へ➡へも／も</a:t>
            </a:r>
            <a:endParaRPr kumimoji="1" lang="ja-JP" altLang="en-US" sz="3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52600"/>
            <a:ext cx="10985390" cy="4351338"/>
          </a:xfrm>
        </p:spPr>
        <p:txBody>
          <a:bodyPr/>
          <a:lstStyle/>
          <a:p>
            <a:r>
              <a:rPr kumimoji="1" lang="vi-VN" altLang="ja-JP" dirty="0"/>
              <a:t>Lan </a:t>
            </a:r>
            <a:r>
              <a:rPr kumimoji="1" lang="ja-JP" altLang="en-US" dirty="0"/>
              <a:t>さん</a:t>
            </a:r>
            <a:r>
              <a:rPr kumimoji="1" lang="ja-JP" altLang="en-US" dirty="0">
                <a:solidFill>
                  <a:srgbClr val="FF0000"/>
                </a:solidFill>
              </a:rPr>
              <a:t>は</a:t>
            </a:r>
            <a:r>
              <a:rPr kumimoji="1" lang="ja-JP" altLang="en-US" u="sng" dirty="0"/>
              <a:t>がくせい</a:t>
            </a:r>
            <a:r>
              <a:rPr kumimoji="1" lang="ja-JP" altLang="en-US" dirty="0"/>
              <a:t>です。→わたし　</a:t>
            </a:r>
            <a:r>
              <a:rPr kumimoji="1" lang="ja-JP" altLang="en-US" b="1" dirty="0"/>
              <a:t>も</a:t>
            </a:r>
            <a:r>
              <a:rPr kumimoji="1" lang="ja-JP" altLang="en-US" dirty="0"/>
              <a:t>　がくせいです（</a:t>
            </a:r>
            <a:r>
              <a:rPr kumimoji="1" lang="en-US" altLang="ja-JP" dirty="0"/>
              <a:t>S</a:t>
            </a:r>
            <a:r>
              <a:rPr kumimoji="1" lang="ja-JP" altLang="en-US" dirty="0"/>
              <a:t>＋）：</a:t>
            </a:r>
            <a:r>
              <a:rPr kumimoji="1" lang="en-US" altLang="ja-JP" dirty="0"/>
              <a:t>BAI</a:t>
            </a:r>
            <a:r>
              <a:rPr kumimoji="1" lang="ja-JP" altLang="en-US" dirty="0"/>
              <a:t>１</a:t>
            </a:r>
            <a:endParaRPr kumimoji="1" lang="en-US" altLang="ja-JP" dirty="0"/>
          </a:p>
          <a:p>
            <a:r>
              <a:rPr lang="en-US" altLang="ja-JP" dirty="0"/>
              <a:t>NVT</a:t>
            </a:r>
            <a:r>
              <a:rPr lang="ja-JP" altLang="en-US" dirty="0"/>
              <a:t>　＋も＋</a:t>
            </a:r>
            <a:r>
              <a:rPr lang="en-US" altLang="ja-JP" dirty="0"/>
              <a:t>PD  </a:t>
            </a:r>
            <a:endParaRPr lang="vi-VN" altLang="ja-JP" dirty="0"/>
          </a:p>
          <a:p>
            <a:r>
              <a:rPr lang="ja-JP" altLang="en-US" dirty="0"/>
              <a:t>なに</a:t>
            </a:r>
            <a:r>
              <a:rPr lang="ja-JP" altLang="en-US" b="1" dirty="0"/>
              <a:t>を</a:t>
            </a:r>
            <a:r>
              <a:rPr lang="ja-JP" altLang="en-US" dirty="0"/>
              <a:t>しますか→　</a:t>
            </a:r>
            <a:r>
              <a:rPr lang="ja-JP" altLang="en-US" dirty="0">
                <a:solidFill>
                  <a:srgbClr val="FF0000"/>
                </a:solidFill>
              </a:rPr>
              <a:t>なに</a:t>
            </a:r>
            <a:r>
              <a:rPr lang="ja-JP" altLang="en-US" b="1" dirty="0">
                <a:solidFill>
                  <a:srgbClr val="FF0000"/>
                </a:solidFill>
              </a:rPr>
              <a:t>ｘを＋も</a:t>
            </a:r>
            <a:r>
              <a:rPr lang="ja-JP" altLang="en-US" dirty="0"/>
              <a:t>　</a:t>
            </a:r>
            <a:endParaRPr lang="en-US" altLang="ja-JP" dirty="0"/>
          </a:p>
          <a:p>
            <a:r>
              <a:rPr lang="ja-JP" altLang="en-US" dirty="0"/>
              <a:t>わたし</a:t>
            </a:r>
            <a:r>
              <a:rPr lang="ja-JP" altLang="en-US" b="1" dirty="0"/>
              <a:t>は</a:t>
            </a:r>
            <a:r>
              <a:rPr lang="ja-JP" altLang="en-US" dirty="0"/>
              <a:t>　ベトナム人です。→ｘは＋も</a:t>
            </a:r>
            <a:endParaRPr lang="en-US" altLang="ja-JP" dirty="0"/>
          </a:p>
          <a:p>
            <a:r>
              <a:rPr lang="ja-JP" altLang="en-US" dirty="0"/>
              <a:t>どこ　</a:t>
            </a:r>
            <a:r>
              <a:rPr lang="ja-JP" altLang="en-US" b="1" dirty="0"/>
              <a:t>へ</a:t>
            </a:r>
            <a:r>
              <a:rPr lang="ja-JP" altLang="en-US" dirty="0"/>
              <a:t>　いきますか→　</a:t>
            </a:r>
            <a:r>
              <a:rPr lang="ja-JP" altLang="en-US" dirty="0">
                <a:solidFill>
                  <a:srgbClr val="FF0000"/>
                </a:solidFill>
              </a:rPr>
              <a:t>どこ</a:t>
            </a:r>
            <a:r>
              <a:rPr lang="ja-JP" altLang="en-US" b="1" dirty="0">
                <a:solidFill>
                  <a:srgbClr val="FF0000"/>
                </a:solidFill>
              </a:rPr>
              <a:t>へも・も</a:t>
            </a:r>
            <a:r>
              <a:rPr lang="ja-JP" altLang="en-US" dirty="0"/>
              <a:t>いきません </a:t>
            </a:r>
            <a:r>
              <a:rPr lang="en-US" altLang="ja-JP" dirty="0"/>
              <a:t>(</a:t>
            </a:r>
            <a:r>
              <a:rPr lang="en-US" altLang="ja-JP" dirty="0" err="1"/>
              <a:t>cái</a:t>
            </a:r>
            <a:r>
              <a:rPr lang="en-US" altLang="ja-JP" dirty="0"/>
              <a:t> </a:t>
            </a:r>
            <a:r>
              <a:rPr lang="en-US" altLang="ja-JP" dirty="0" err="1"/>
              <a:t>mo</a:t>
            </a:r>
            <a:r>
              <a:rPr lang="en-US" altLang="ja-JP" dirty="0"/>
              <a:t> </a:t>
            </a:r>
            <a:r>
              <a:rPr lang="en-US" altLang="ja-JP" dirty="0" err="1"/>
              <a:t>phía</a:t>
            </a:r>
            <a:r>
              <a:rPr lang="en-US" altLang="ja-JP" dirty="0"/>
              <a:t> </a:t>
            </a:r>
            <a:r>
              <a:rPr lang="en-US" altLang="ja-JP" dirty="0" err="1"/>
              <a:t>sau</a:t>
            </a:r>
            <a:r>
              <a:rPr lang="en-US" altLang="ja-JP" dirty="0"/>
              <a:t> </a:t>
            </a:r>
            <a:r>
              <a:rPr lang="en-US" altLang="ja-JP" dirty="0" err="1"/>
              <a:t>để</a:t>
            </a:r>
            <a:r>
              <a:rPr lang="en-US" altLang="ja-JP" dirty="0"/>
              <a:t> </a:t>
            </a:r>
            <a:r>
              <a:rPr lang="en-US" altLang="ja-JP" dirty="0" err="1"/>
              <a:t>trợ</a:t>
            </a:r>
            <a:r>
              <a:rPr lang="en-US" altLang="ja-JP" dirty="0"/>
              <a:t> </a:t>
            </a:r>
            <a:r>
              <a:rPr lang="en-US" altLang="ja-JP" dirty="0" err="1"/>
              <a:t>từ</a:t>
            </a:r>
            <a:r>
              <a:rPr lang="en-US" altLang="ja-JP" dirty="0"/>
              <a:t> </a:t>
            </a:r>
            <a:r>
              <a:rPr lang="en-US" altLang="ja-JP" dirty="0" err="1"/>
              <a:t>cho</a:t>
            </a:r>
            <a:r>
              <a:rPr lang="en-US" altLang="ja-JP" dirty="0"/>
              <a:t> </a:t>
            </a:r>
            <a:r>
              <a:rPr lang="en-US" altLang="ja-JP" dirty="0" err="1"/>
              <a:t>người</a:t>
            </a:r>
            <a:r>
              <a:rPr lang="en-US" altLang="ja-JP" dirty="0"/>
              <a:t> - &gt; </a:t>
            </a:r>
            <a:r>
              <a:rPr lang="en-US" altLang="ja-JP" dirty="0" err="1"/>
              <a:t>tôi</a:t>
            </a:r>
            <a:r>
              <a:rPr lang="en-US" altLang="ja-JP" dirty="0"/>
              <a:t> </a:t>
            </a:r>
            <a:r>
              <a:rPr lang="en-US" altLang="ja-JP" dirty="0" err="1"/>
              <a:t>chẳng</a:t>
            </a:r>
            <a:r>
              <a:rPr lang="en-US" altLang="ja-JP" dirty="0"/>
              <a:t> </a:t>
            </a:r>
            <a:r>
              <a:rPr lang="en-US" altLang="ja-JP" dirty="0" err="1"/>
              <a:t>đi</a:t>
            </a:r>
            <a:r>
              <a:rPr lang="en-US" altLang="ja-JP" dirty="0"/>
              <a:t> </a:t>
            </a:r>
            <a:r>
              <a:rPr lang="en-US" altLang="ja-JP" dirty="0" err="1"/>
              <a:t>đâu</a:t>
            </a:r>
            <a:r>
              <a:rPr lang="en-US" altLang="ja-JP" dirty="0"/>
              <a:t> </a:t>
            </a:r>
            <a:r>
              <a:rPr lang="en-US" altLang="ja-JP" dirty="0" err="1"/>
              <a:t>cả</a:t>
            </a:r>
            <a:r>
              <a:rPr lang="en-US" altLang="ja-JP" dirty="0"/>
              <a:t>)</a:t>
            </a:r>
          </a:p>
          <a:p>
            <a:r>
              <a:rPr kumimoji="1" lang="ja-JP" altLang="en-US" dirty="0">
                <a:highlight>
                  <a:srgbClr val="FFFF00"/>
                </a:highlight>
              </a:rPr>
              <a:t>なに</a:t>
            </a:r>
            <a:r>
              <a:rPr kumimoji="1" lang="ja-JP" altLang="en-US" b="1" dirty="0">
                <a:highlight>
                  <a:srgbClr val="FFFF00"/>
                </a:highlight>
              </a:rPr>
              <a:t>も</a:t>
            </a:r>
            <a:r>
              <a:rPr kumimoji="1" lang="ja-JP" altLang="en-US" dirty="0">
                <a:highlight>
                  <a:srgbClr val="FFFF00"/>
                </a:highlight>
              </a:rPr>
              <a:t>しま</a:t>
            </a:r>
            <a:r>
              <a:rPr kumimoji="1" lang="ja-JP" altLang="en-US" b="1" dirty="0">
                <a:highlight>
                  <a:srgbClr val="FFFF00"/>
                </a:highlight>
              </a:rPr>
              <a:t>せん</a:t>
            </a:r>
            <a:r>
              <a:rPr kumimoji="1" lang="ja-JP" altLang="en-US" b="1" dirty="0"/>
              <a:t>：</a:t>
            </a:r>
            <a:r>
              <a:rPr kumimoji="1" lang="vi-VN" altLang="ja-JP" b="1" dirty="0"/>
              <a:t>cái gì cũng ko làm-&gt; </a:t>
            </a:r>
            <a:r>
              <a:rPr kumimoji="1" lang="en-US" altLang="ja-JP" b="1" dirty="0"/>
              <a:t> </a:t>
            </a:r>
            <a:r>
              <a:rPr kumimoji="1" lang="vi-VN" altLang="ja-JP" b="1" dirty="0"/>
              <a:t>ko làm gì cả</a:t>
            </a:r>
          </a:p>
          <a:p>
            <a:r>
              <a:rPr kumimoji="1" lang="ja-JP" altLang="en-US" b="1" dirty="0"/>
              <a:t>どこ　も</a:t>
            </a:r>
            <a:r>
              <a:rPr kumimoji="1" lang="en-US" altLang="ja-JP" b="1" dirty="0"/>
              <a:t>or(</a:t>
            </a:r>
            <a:r>
              <a:rPr lang="ja-JP" altLang="en-US" b="1" dirty="0"/>
              <a:t>へ</a:t>
            </a:r>
            <a:r>
              <a:rPr kumimoji="1" lang="ja-JP" altLang="en-US" b="1" dirty="0"/>
              <a:t>も</a:t>
            </a:r>
            <a:r>
              <a:rPr kumimoji="1" lang="en-US" altLang="ja-JP" b="1" dirty="0"/>
              <a:t>)</a:t>
            </a:r>
            <a:r>
              <a:rPr kumimoji="1" lang="ja-JP" altLang="en-US" b="1" dirty="0"/>
              <a:t>　いきません：</a:t>
            </a:r>
            <a:r>
              <a:rPr kumimoji="1" lang="vi-VN" altLang="ja-JP" b="1" dirty="0"/>
              <a:t>đâu cũng ko đi -&gt; ko đi đâu cả.</a:t>
            </a:r>
          </a:p>
          <a:p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58792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1325563"/>
          </a:xfrm>
        </p:spPr>
        <p:txBody>
          <a:bodyPr/>
          <a:lstStyle/>
          <a:p>
            <a:r>
              <a:rPr kumimoji="1" lang="vi-VN" altLang="ja-JP" dirty="0"/>
              <a:t>Phương tiện GT </a:t>
            </a:r>
            <a:r>
              <a:rPr kumimoji="1" lang="ja-JP" altLang="en-US" dirty="0">
                <a:solidFill>
                  <a:srgbClr val="FF0000"/>
                </a:solidFill>
              </a:rPr>
              <a:t>で</a:t>
            </a:r>
            <a:r>
              <a:rPr kumimoji="1" lang="vi-VN" altLang="ja-JP" dirty="0"/>
              <a:t>Bằng</a:t>
            </a:r>
            <a:r>
              <a:rPr kumimoji="1" lang="en-US" altLang="ja-JP" dirty="0"/>
              <a:t> - &gt; </a:t>
            </a:r>
            <a:r>
              <a:rPr kumimoji="1" lang="en-US" altLang="ja-JP" dirty="0" err="1"/>
              <a:t>đè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ひこうき✈　</a:t>
            </a:r>
            <a:r>
              <a:rPr lang="ja-JP" altLang="en-US" b="1" dirty="0"/>
              <a:t>で</a:t>
            </a:r>
            <a:r>
              <a:rPr lang="ja-JP" altLang="en-US" dirty="0">
                <a:highlight>
                  <a:srgbClr val="FFFF00"/>
                </a:highlight>
              </a:rPr>
              <a:t>　いきま</a:t>
            </a:r>
            <a:r>
              <a:rPr lang="ja-JP" altLang="en-US" dirty="0"/>
              <a:t>す </a:t>
            </a:r>
            <a:r>
              <a:rPr lang="en-US" altLang="ja-JP" dirty="0"/>
              <a:t>(</a:t>
            </a:r>
            <a:r>
              <a:rPr lang="en-US" altLang="ja-JP" dirty="0" err="1">
                <a:highlight>
                  <a:srgbClr val="FFFF00"/>
                </a:highlight>
              </a:rPr>
              <a:t>hikouki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/>
              <a:t>de </a:t>
            </a:r>
            <a:r>
              <a:rPr lang="en-US" altLang="ja-JP" dirty="0" err="1"/>
              <a:t>ikimasu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じてんしゃ🚴  </a:t>
            </a:r>
            <a:r>
              <a:rPr lang="en-US" altLang="ja-JP" dirty="0"/>
              <a:t>(</a:t>
            </a:r>
            <a:r>
              <a:rPr lang="en-US" altLang="ja-JP" dirty="0" err="1">
                <a:highlight>
                  <a:srgbClr val="FFFF00"/>
                </a:highlight>
              </a:rPr>
              <a:t>Jitensha</a:t>
            </a:r>
            <a:r>
              <a:rPr lang="en-US" altLang="ja-JP" dirty="0"/>
              <a:t>)</a:t>
            </a:r>
            <a:endParaRPr lang="vi-VN" altLang="ja-JP" dirty="0"/>
          </a:p>
          <a:p>
            <a:r>
              <a:rPr kumimoji="1" lang="ja-JP" altLang="en-US" dirty="0"/>
              <a:t>くるま　🚙 </a:t>
            </a:r>
            <a:r>
              <a:rPr kumimoji="1" lang="en-US" altLang="ja-JP" dirty="0">
                <a:highlight>
                  <a:srgbClr val="FFFF00"/>
                </a:highlight>
              </a:rPr>
              <a:t>(</a:t>
            </a:r>
            <a:r>
              <a:rPr kumimoji="1" lang="en-US" altLang="ja-JP" dirty="0" err="1">
                <a:highlight>
                  <a:srgbClr val="FFFF00"/>
                </a:highlight>
              </a:rPr>
              <a:t>kuruma</a:t>
            </a:r>
            <a:r>
              <a:rPr kumimoji="1" lang="en-US" altLang="ja-JP" dirty="0"/>
              <a:t>)</a:t>
            </a:r>
          </a:p>
          <a:p>
            <a:r>
              <a:rPr kumimoji="1" lang="ja-JP" altLang="en-US" dirty="0"/>
              <a:t>でんしゃ🚃</a:t>
            </a:r>
            <a:r>
              <a:rPr kumimoji="1" lang="en-US" altLang="ja-JP" dirty="0"/>
              <a:t>(</a:t>
            </a:r>
            <a:r>
              <a:rPr kumimoji="1" lang="en-US" altLang="ja-JP" dirty="0" err="1">
                <a:highlight>
                  <a:srgbClr val="FFFF00"/>
                </a:highlight>
              </a:rPr>
              <a:t>đen</a:t>
            </a:r>
            <a:r>
              <a:rPr kumimoji="1" lang="en-US" altLang="ja-JP" dirty="0">
                <a:highlight>
                  <a:srgbClr val="FFFF00"/>
                </a:highlight>
              </a:rPr>
              <a:t> -sha</a:t>
            </a:r>
            <a:r>
              <a:rPr kumimoji="1" lang="en-US" altLang="ja-JP" dirty="0"/>
              <a:t>)</a:t>
            </a:r>
          </a:p>
          <a:p>
            <a:pPr marL="0" indent="0">
              <a:buNone/>
            </a:pPr>
            <a:r>
              <a:rPr kumimoji="1" lang="ja-JP" altLang="en-US" dirty="0"/>
              <a:t>🚌バス 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ba-su</a:t>
            </a:r>
            <a:r>
              <a:rPr kumimoji="1" lang="en-US" altLang="ja-JP" dirty="0"/>
              <a:t> ) - &gt; </a:t>
            </a:r>
            <a:r>
              <a:rPr kumimoji="1" lang="en-US" altLang="ja-JP" dirty="0" err="1"/>
              <a:t>xe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buýt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🏍　バイク</a:t>
            </a:r>
            <a:r>
              <a:rPr lang="en-US" altLang="ja-JP" dirty="0"/>
              <a:t>(bai-</a:t>
            </a:r>
            <a:r>
              <a:rPr lang="en-US" altLang="ja-JP" dirty="0" err="1"/>
              <a:t>ku</a:t>
            </a:r>
            <a:r>
              <a:rPr lang="en-US" altLang="ja-JP" dirty="0"/>
              <a:t>) -&gt; </a:t>
            </a:r>
            <a:r>
              <a:rPr lang="en-US" altLang="ja-JP" dirty="0" err="1"/>
              <a:t>xe</a:t>
            </a:r>
            <a:r>
              <a:rPr lang="en-US" altLang="ja-JP" dirty="0"/>
              <a:t> </a:t>
            </a:r>
            <a:r>
              <a:rPr lang="en-US" altLang="ja-JP" dirty="0" err="1"/>
              <a:t>đạp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🚖</a:t>
            </a:r>
            <a:r>
              <a:rPr lang="ja-JP" altLang="en-US" dirty="0"/>
              <a:t>タクシー  </a:t>
            </a:r>
            <a:r>
              <a:rPr lang="en-US" altLang="ja-JP" dirty="0" err="1">
                <a:highlight>
                  <a:srgbClr val="FFFF00"/>
                </a:highlight>
              </a:rPr>
              <a:t>takushi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kumimoji="1" lang="ja-JP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あるいて</a:t>
            </a:r>
            <a:r>
              <a:rPr kumimoji="1" lang="ja-JP" altLang="en-US" dirty="0">
                <a:solidFill>
                  <a:srgbClr val="FF0000"/>
                </a:solidFill>
              </a:rPr>
              <a:t>👣（ｘで）</a:t>
            </a:r>
            <a:r>
              <a:rPr kumimoji="1" lang="en-US" altLang="ja-JP" dirty="0">
                <a:solidFill>
                  <a:srgbClr val="FF0000"/>
                </a:solidFill>
              </a:rPr>
              <a:t>V             -&gt; </a:t>
            </a:r>
            <a:r>
              <a:rPr kumimoji="1" lang="en-US" altLang="ja-JP" dirty="0" err="1">
                <a:solidFill>
                  <a:srgbClr val="FF0000"/>
                </a:solidFill>
              </a:rPr>
              <a:t>Aruite</a:t>
            </a:r>
            <a:r>
              <a:rPr kumimoji="1" lang="en-US" altLang="ja-JP" dirty="0">
                <a:solidFill>
                  <a:srgbClr val="FF0000"/>
                </a:solidFill>
              </a:rPr>
              <a:t> : </a:t>
            </a:r>
            <a:r>
              <a:rPr kumimoji="1" lang="en-US" altLang="ja-JP" dirty="0" err="1">
                <a:solidFill>
                  <a:srgbClr val="FF0000"/>
                </a:solidFill>
              </a:rPr>
              <a:t>chân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vi-VN" altLang="ja-JP" dirty="0"/>
              <a:t>Câu hỏi: 3 loại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vi-VN" altLang="ja-JP" dirty="0"/>
              <a:t>Không có NVT (yes/ no-&gt; </a:t>
            </a:r>
            <a:r>
              <a:rPr kumimoji="1" lang="ja-JP" altLang="en-US" dirty="0"/>
              <a:t>はい・いいえ</a:t>
            </a:r>
            <a:r>
              <a:rPr kumimoji="1" lang="vi-VN" altLang="ja-JP" dirty="0"/>
              <a:t>)</a:t>
            </a:r>
            <a:endParaRPr kumimoji="1" lang="en-US" altLang="ja-JP" dirty="0"/>
          </a:p>
          <a:p>
            <a:r>
              <a:rPr lang="en-US" altLang="ja-JP" dirty="0"/>
              <a:t>C</a:t>
            </a:r>
            <a:r>
              <a:rPr lang="vi-VN" altLang="ja-JP" dirty="0"/>
              <a:t>ó NVT</a:t>
            </a:r>
            <a:r>
              <a:rPr lang="ja-JP" altLang="en-US" dirty="0"/>
              <a:t>　（だれ？なん？／なに？いつ？どこ</a:t>
            </a:r>
            <a:r>
              <a:rPr lang="vi-VN" altLang="ja-JP" dirty="0"/>
              <a:t>?</a:t>
            </a:r>
            <a:r>
              <a:rPr lang="ja-JP" altLang="en-US" dirty="0">
                <a:highlight>
                  <a:srgbClr val="FFFF00"/>
                </a:highlight>
              </a:rPr>
              <a:t>なんで</a:t>
            </a:r>
            <a:r>
              <a:rPr lang="ja-JP" altLang="en-US" dirty="0"/>
              <a:t>：</a:t>
            </a:r>
            <a:r>
              <a:rPr lang="vi-VN" altLang="ja-JP" dirty="0"/>
              <a:t>bằng phương tiện gì?</a:t>
            </a:r>
            <a:r>
              <a:rPr lang="ja-JP" altLang="en-US" dirty="0"/>
              <a:t>。。。）</a:t>
            </a:r>
            <a:endParaRPr lang="en-US" altLang="ja-JP" dirty="0"/>
          </a:p>
          <a:p>
            <a:r>
              <a:rPr kumimoji="1" lang="en-US" altLang="ja-JP" dirty="0"/>
              <a:t>A</a:t>
            </a:r>
            <a:r>
              <a:rPr kumimoji="1" lang="ja-JP" altLang="en-US" dirty="0">
                <a:solidFill>
                  <a:srgbClr val="FF0000"/>
                </a:solidFill>
              </a:rPr>
              <a:t>か</a:t>
            </a:r>
            <a:r>
              <a:rPr kumimoji="1" lang="en-US" altLang="ja-JP" dirty="0"/>
              <a:t>B</a:t>
            </a:r>
            <a:r>
              <a:rPr kumimoji="1" lang="ja-JP" altLang="en-US" dirty="0">
                <a:solidFill>
                  <a:srgbClr val="FF0000"/>
                </a:solidFill>
              </a:rPr>
              <a:t>か</a:t>
            </a:r>
            <a:r>
              <a:rPr lang="ja-JP" altLang="en-US" dirty="0"/>
              <a:t>　→</a:t>
            </a:r>
            <a:r>
              <a:rPr lang="vi-VN" altLang="ja-JP" dirty="0"/>
              <a:t>A hay là B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>
                <a:highlight>
                  <a:srgbClr val="FFFF00"/>
                </a:highlight>
              </a:rPr>
              <a:t>これは　にほんごのほんです</a:t>
            </a:r>
            <a:r>
              <a:rPr lang="ja-JP" altLang="en-US" b="1" dirty="0">
                <a:highlight>
                  <a:srgbClr val="FFFF00"/>
                </a:highlight>
              </a:rPr>
              <a:t>か</a:t>
            </a:r>
            <a:r>
              <a:rPr lang="vi-VN" altLang="ja-JP" b="1" dirty="0">
                <a:highlight>
                  <a:srgbClr val="FFFF00"/>
                </a:highlight>
              </a:rPr>
              <a:t> </a:t>
            </a:r>
            <a:endParaRPr lang="en-US" altLang="ja-JP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dirty="0"/>
              <a:t>えいごのほんです</a:t>
            </a:r>
            <a:r>
              <a:rPr lang="ja-JP" altLang="en-US" b="1" dirty="0"/>
              <a:t>か  </a:t>
            </a:r>
            <a:r>
              <a:rPr lang="en-US" altLang="ja-JP" b="1" dirty="0"/>
              <a:t>- &gt; </a:t>
            </a:r>
            <a:r>
              <a:rPr lang="en-US" altLang="ja-JP" b="1" dirty="0" err="1"/>
              <a:t>đây</a:t>
            </a:r>
            <a:r>
              <a:rPr lang="en-US" altLang="ja-JP" b="1" dirty="0"/>
              <a:t> </a:t>
            </a:r>
            <a:r>
              <a:rPr lang="en-US" altLang="ja-JP" b="1" dirty="0" err="1"/>
              <a:t>là</a:t>
            </a:r>
            <a:r>
              <a:rPr lang="en-US" altLang="ja-JP" b="1" dirty="0"/>
              <a:t> </a:t>
            </a:r>
            <a:r>
              <a:rPr lang="en-US" altLang="ja-JP" b="1" dirty="0" err="1"/>
              <a:t>cuổn</a:t>
            </a:r>
            <a:r>
              <a:rPr lang="en-US" altLang="ja-JP" b="1" dirty="0"/>
              <a:t> </a:t>
            </a:r>
            <a:r>
              <a:rPr lang="en-US" altLang="ja-JP" b="1" dirty="0" err="1"/>
              <a:t>sách</a:t>
            </a:r>
            <a:r>
              <a:rPr lang="en-US" altLang="ja-JP" b="1" dirty="0"/>
              <a:t> </a:t>
            </a:r>
            <a:r>
              <a:rPr lang="en-US" altLang="ja-JP" b="1" dirty="0" err="1"/>
              <a:t>phải</a:t>
            </a:r>
            <a:r>
              <a:rPr lang="en-US" altLang="ja-JP" b="1" dirty="0"/>
              <a:t> </a:t>
            </a:r>
            <a:r>
              <a:rPr lang="en-US" altLang="ja-JP" b="1" dirty="0" err="1"/>
              <a:t>không</a:t>
            </a:r>
            <a:endParaRPr kumimoji="1"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309506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55"/>
            <a:ext cx="10515600" cy="1325563"/>
          </a:xfrm>
        </p:spPr>
        <p:txBody>
          <a:bodyPr/>
          <a:lstStyle/>
          <a:p>
            <a:r>
              <a:rPr kumimoji="1" lang="ja-JP" altLang="en-US" dirty="0">
                <a:highlight>
                  <a:srgbClr val="FFFF00"/>
                </a:highlight>
              </a:rPr>
              <a:t>なん</a:t>
            </a:r>
            <a:r>
              <a:rPr kumimoji="1" lang="ja-JP" altLang="en-US" dirty="0"/>
              <a:t>？</a:t>
            </a:r>
            <a:r>
              <a:rPr kumimoji="1" lang="ja-JP" altLang="en-US" dirty="0">
                <a:highlight>
                  <a:srgbClr val="FFFF00"/>
                </a:highlight>
              </a:rPr>
              <a:t>なに</a:t>
            </a:r>
            <a:r>
              <a:rPr kumimoji="1" lang="ja-JP" altLang="en-US" dirty="0"/>
              <a:t>？  </a:t>
            </a:r>
            <a:r>
              <a:rPr kumimoji="1" lang="en-US" altLang="ja-JP" dirty="0"/>
              <a:t>-&gt; </a:t>
            </a:r>
            <a:r>
              <a:rPr kumimoji="1" lang="en-US" altLang="ja-JP" dirty="0" err="1"/>
              <a:t>phân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biệt</a:t>
            </a:r>
            <a:r>
              <a:rPr kumimoji="1" lang="en-US" altLang="ja-JP" dirty="0"/>
              <a:t> nan </a:t>
            </a:r>
            <a:r>
              <a:rPr kumimoji="1" lang="en-US" altLang="ja-JP" dirty="0" err="1"/>
              <a:t>và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nani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06680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ja-JP" altLang="en-US" dirty="0"/>
              <a:t>①たまごをたべます➡</a:t>
            </a:r>
            <a:r>
              <a:rPr kumimoji="1" lang="ja-JP" altLang="en-US" b="1" dirty="0"/>
              <a:t>なにを</a:t>
            </a:r>
            <a:r>
              <a:rPr kumimoji="1" lang="ja-JP" altLang="en-US" u="sng" dirty="0"/>
              <a:t>たべます</a:t>
            </a:r>
            <a:r>
              <a:rPr kumimoji="1" lang="ja-JP" altLang="en-US" dirty="0"/>
              <a:t>か。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bạn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ăn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cái</a:t>
            </a:r>
            <a:r>
              <a:rPr kumimoji="1" lang="en-US" altLang="ja-JP" dirty="0"/>
              <a:t>  </a:t>
            </a:r>
            <a:r>
              <a:rPr kumimoji="1" lang="en-US" altLang="ja-JP" dirty="0" err="1"/>
              <a:t>gì</a:t>
            </a:r>
            <a:r>
              <a:rPr kumimoji="1" lang="en-US" altLang="ja-JP" dirty="0"/>
              <a:t> )</a:t>
            </a:r>
            <a:r>
              <a:rPr kumimoji="1" lang="ja-JP" altLang="en-US" dirty="0"/>
              <a:t>　（</a:t>
            </a:r>
            <a:r>
              <a:rPr kumimoji="1" lang="en-US" altLang="ja-JP" dirty="0"/>
              <a:t>V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②これは　にほんご　の　ほん　です。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➡これは　なん　の　</a:t>
            </a:r>
            <a:r>
              <a:rPr kumimoji="1" lang="ja-JP" altLang="en-US" b="1" dirty="0"/>
              <a:t>ほん</a:t>
            </a:r>
            <a:r>
              <a:rPr kumimoji="1" lang="ja-JP" altLang="en-US" dirty="0"/>
              <a:t>　ですか </a:t>
            </a:r>
            <a:r>
              <a:rPr lang="en-US" altLang="ja-JP" dirty="0"/>
              <a:t> ( </a:t>
            </a:r>
            <a:r>
              <a:rPr lang="en-US" altLang="ja-JP" dirty="0" err="1"/>
              <a:t>đây</a:t>
            </a:r>
            <a:r>
              <a:rPr lang="en-US" altLang="ja-JP" dirty="0"/>
              <a:t> </a:t>
            </a:r>
            <a:r>
              <a:rPr lang="en-US" altLang="ja-JP" dirty="0" err="1"/>
              <a:t>là</a:t>
            </a:r>
            <a:r>
              <a:rPr lang="en-US" altLang="ja-JP" dirty="0"/>
              <a:t> </a:t>
            </a:r>
            <a:r>
              <a:rPr lang="en-US" altLang="ja-JP" dirty="0" err="1"/>
              <a:t>sách</a:t>
            </a:r>
            <a:r>
              <a:rPr lang="en-US" altLang="ja-JP" dirty="0"/>
              <a:t> </a:t>
            </a:r>
            <a:r>
              <a:rPr lang="en-US" altLang="ja-JP" dirty="0" err="1"/>
              <a:t>gì</a:t>
            </a:r>
            <a:r>
              <a:rPr lang="en-US" altLang="ja-JP" dirty="0"/>
              <a:t> )</a:t>
            </a:r>
            <a:r>
              <a:rPr kumimoji="1" lang="ja-JP" altLang="en-US" dirty="0"/>
              <a:t>　（</a:t>
            </a:r>
            <a:r>
              <a:rPr kumimoji="1" lang="en-US" altLang="ja-JP" dirty="0"/>
              <a:t>N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>
                <a:highlight>
                  <a:srgbClr val="FFFF00"/>
                </a:highlight>
              </a:rPr>
              <a:t>-&gt; </a:t>
            </a:r>
            <a:r>
              <a:rPr lang="en-US" altLang="ja-JP" dirty="0" err="1">
                <a:highlight>
                  <a:srgbClr val="FFFF00"/>
                </a:highlight>
              </a:rPr>
              <a:t>có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động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từ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là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nani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như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là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ăn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cái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r>
              <a:rPr lang="en-US" altLang="ja-JP" dirty="0" err="1">
                <a:highlight>
                  <a:srgbClr val="FFFF00"/>
                </a:highlight>
              </a:rPr>
              <a:t>gì</a:t>
            </a:r>
            <a:r>
              <a:rPr lang="en-US" altLang="ja-JP" dirty="0">
                <a:highlight>
                  <a:srgbClr val="FFFF00"/>
                </a:highlight>
              </a:rPr>
              <a:t> </a:t>
            </a:r>
            <a:endParaRPr kumimoji="1"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dirty="0"/>
              <a:t>➡</a:t>
            </a:r>
            <a:r>
              <a:rPr lang="en-US" altLang="ja-JP" dirty="0"/>
              <a:t>V/A</a:t>
            </a:r>
            <a:r>
              <a:rPr lang="ja-JP" altLang="en-US" dirty="0"/>
              <a:t>：なに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➡</a:t>
            </a:r>
            <a:r>
              <a:rPr kumimoji="1" lang="en-US" altLang="ja-JP" dirty="0"/>
              <a:t>N/</a:t>
            </a:r>
            <a:r>
              <a:rPr kumimoji="1" lang="ja-JP" altLang="en-US" dirty="0"/>
              <a:t>です／</a:t>
            </a:r>
            <a:r>
              <a:rPr kumimoji="1" lang="en-US" altLang="ja-JP" dirty="0"/>
              <a:t>DE</a:t>
            </a:r>
            <a:r>
              <a:rPr kumimoji="1" lang="ja-JP" altLang="en-US" dirty="0"/>
              <a:t>：なん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b="1" dirty="0"/>
              <a:t>※</a:t>
            </a:r>
            <a:r>
              <a:rPr kumimoji="1" lang="ja-JP" altLang="en-US" b="1" dirty="0"/>
              <a:t>なんで：</a:t>
            </a:r>
            <a:r>
              <a:rPr kumimoji="1" lang="vi-VN" altLang="ja-JP" b="1" dirty="0"/>
              <a:t>bằng phương tiện gì.</a:t>
            </a:r>
          </a:p>
          <a:p>
            <a:pPr marL="0" indent="0">
              <a:buNone/>
            </a:pPr>
            <a:r>
              <a:rPr kumimoji="1" lang="ja-JP" altLang="en-US" b="1" dirty="0"/>
              <a:t>うち  </a:t>
            </a:r>
            <a:r>
              <a:rPr kumimoji="1" lang="ja-JP" altLang="en-US" b="1" u="sng" dirty="0">
                <a:highlight>
                  <a:srgbClr val="FFFF00"/>
                </a:highlight>
              </a:rPr>
              <a:t>で</a:t>
            </a:r>
            <a:r>
              <a:rPr kumimoji="1" lang="ja-JP" altLang="en-US" b="1" dirty="0"/>
              <a:t>　たべます。　</a:t>
            </a:r>
            <a:r>
              <a:rPr kumimoji="1" lang="vi-VN" altLang="ja-JP" b="1" dirty="0">
                <a:highlight>
                  <a:srgbClr val="FFFF00"/>
                </a:highlight>
              </a:rPr>
              <a:t>Ăn ở nhà</a:t>
            </a:r>
            <a:endParaRPr kumimoji="1" lang="en-US" altLang="ja-JP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kumimoji="1" lang="ja-JP" altLang="en-US" b="1" dirty="0"/>
              <a:t>→どこ </a:t>
            </a:r>
            <a:r>
              <a:rPr kumimoji="1" lang="ja-JP" altLang="en-US" b="1" u="sng" dirty="0">
                <a:highlight>
                  <a:srgbClr val="FFFF00"/>
                </a:highlight>
              </a:rPr>
              <a:t>で</a:t>
            </a:r>
            <a:r>
              <a:rPr kumimoji="1" lang="vi-VN" altLang="ja-JP" b="1" dirty="0">
                <a:highlight>
                  <a:srgbClr val="FFFF00"/>
                </a:highlight>
              </a:rPr>
              <a:t> </a:t>
            </a:r>
            <a:r>
              <a:rPr kumimoji="1" lang="en-US" altLang="ja-JP" b="1" dirty="0"/>
              <a:t> </a:t>
            </a:r>
            <a:r>
              <a:rPr kumimoji="1" lang="ja-JP" altLang="en-US" b="1" dirty="0"/>
              <a:t>たべますか。</a:t>
            </a:r>
            <a:r>
              <a:rPr kumimoji="1" lang="vi-VN" altLang="ja-JP" b="1" dirty="0"/>
              <a:t>Ăn ở đâu?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b="1" u="sng" dirty="0"/>
              <a:t>バスで</a:t>
            </a:r>
            <a:r>
              <a:rPr lang="ja-JP" altLang="en-US" b="1" dirty="0"/>
              <a:t>　がっこう</a:t>
            </a:r>
            <a:r>
              <a:rPr lang="ja-JP" altLang="en-US" b="1" dirty="0">
                <a:highlight>
                  <a:srgbClr val="FFFF00"/>
                </a:highlight>
              </a:rPr>
              <a:t>へ</a:t>
            </a:r>
            <a:r>
              <a:rPr lang="ja-JP" altLang="en-US" b="1" dirty="0"/>
              <a:t>　いきます。</a:t>
            </a:r>
            <a:r>
              <a:rPr lang="en-US" altLang="ja-JP" b="1" dirty="0"/>
              <a:t>(</a:t>
            </a:r>
            <a:r>
              <a:rPr lang="en-US" altLang="ja-JP" b="1" dirty="0">
                <a:highlight>
                  <a:srgbClr val="FFFF00"/>
                </a:highlight>
              </a:rPr>
              <a:t>he </a:t>
            </a:r>
            <a:r>
              <a:rPr lang="en-US" altLang="ja-JP" b="1" dirty="0" err="1">
                <a:highlight>
                  <a:srgbClr val="FFFF00"/>
                </a:highlight>
              </a:rPr>
              <a:t>chỉ</a:t>
            </a:r>
            <a:r>
              <a:rPr lang="en-US" altLang="ja-JP" b="1" dirty="0"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highlight>
                  <a:srgbClr val="FFFF00"/>
                </a:highlight>
              </a:rPr>
              <a:t>phương</a:t>
            </a:r>
            <a:r>
              <a:rPr lang="en-US" altLang="ja-JP" b="1" dirty="0"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highlight>
                  <a:srgbClr val="FFFF00"/>
                </a:highlight>
              </a:rPr>
              <a:t>hướng</a:t>
            </a:r>
            <a:r>
              <a:rPr lang="en-US" altLang="ja-JP" b="1" dirty="0"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highlight>
                  <a:srgbClr val="FFFF00"/>
                </a:highlight>
              </a:rPr>
              <a:t>là</a:t>
            </a:r>
            <a:r>
              <a:rPr lang="en-US" altLang="ja-JP" b="1" dirty="0"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highlight>
                  <a:srgbClr val="FFFF00"/>
                </a:highlight>
              </a:rPr>
              <a:t>đến</a:t>
            </a:r>
            <a:r>
              <a:rPr lang="en-US" altLang="ja-JP" b="1" dirty="0"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highlight>
                  <a:srgbClr val="FFFF00"/>
                </a:highlight>
              </a:rPr>
              <a:t>trường</a:t>
            </a:r>
            <a:r>
              <a:rPr lang="en-US" altLang="ja-JP" b="1" dirty="0"/>
              <a:t>)</a:t>
            </a:r>
          </a:p>
          <a:p>
            <a:pPr marL="0" indent="0"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なんで</a:t>
            </a:r>
            <a:r>
              <a:rPr kumimoji="1" lang="ja-JP" altLang="en-US" b="1" dirty="0"/>
              <a:t>　がっこうへ　いきますか。</a:t>
            </a:r>
            <a:r>
              <a:rPr kumimoji="1" lang="en-US" altLang="ja-JP" b="1" dirty="0"/>
              <a:t>(</a:t>
            </a:r>
            <a:r>
              <a:rPr kumimoji="1" lang="en-US" altLang="ja-JP" b="1" dirty="0" err="1">
                <a:highlight>
                  <a:srgbClr val="FFFF00"/>
                </a:highlight>
              </a:rPr>
              <a:t>bạn</a:t>
            </a:r>
            <a:r>
              <a:rPr kumimoji="1" lang="en-US" altLang="ja-JP" b="1" dirty="0">
                <a:highlight>
                  <a:srgbClr val="FFFF00"/>
                </a:highlight>
              </a:rPr>
              <a:t> </a:t>
            </a:r>
            <a:r>
              <a:rPr kumimoji="1" lang="en-US" altLang="ja-JP" b="1" dirty="0" err="1">
                <a:highlight>
                  <a:srgbClr val="FFFF00"/>
                </a:highlight>
              </a:rPr>
              <a:t>đi</a:t>
            </a:r>
            <a:r>
              <a:rPr kumimoji="1" lang="en-US" altLang="ja-JP" b="1" dirty="0">
                <a:highlight>
                  <a:srgbClr val="FFFF00"/>
                </a:highlight>
              </a:rPr>
              <a:t> </a:t>
            </a:r>
            <a:r>
              <a:rPr kumimoji="1" lang="en-US" altLang="ja-JP" b="1" dirty="0" err="1">
                <a:highlight>
                  <a:srgbClr val="FFFF00"/>
                </a:highlight>
              </a:rPr>
              <a:t>đến</a:t>
            </a:r>
            <a:r>
              <a:rPr kumimoji="1" lang="en-US" altLang="ja-JP" b="1" dirty="0">
                <a:highlight>
                  <a:srgbClr val="FFFF00"/>
                </a:highlight>
              </a:rPr>
              <a:t> </a:t>
            </a:r>
            <a:r>
              <a:rPr kumimoji="1" lang="en-US" altLang="ja-JP" b="1" dirty="0" err="1">
                <a:highlight>
                  <a:srgbClr val="FFFF00"/>
                </a:highlight>
              </a:rPr>
              <a:t>trường</a:t>
            </a:r>
            <a:r>
              <a:rPr kumimoji="1" lang="en-US" altLang="ja-JP" b="1" dirty="0">
                <a:highlight>
                  <a:srgbClr val="FFFF00"/>
                </a:highlight>
              </a:rPr>
              <a:t> </a:t>
            </a:r>
            <a:r>
              <a:rPr kumimoji="1" lang="en-US" altLang="ja-JP" b="1" dirty="0" err="1">
                <a:highlight>
                  <a:srgbClr val="FFFF00"/>
                </a:highlight>
              </a:rPr>
              <a:t>bằng</a:t>
            </a:r>
            <a:r>
              <a:rPr kumimoji="1" lang="en-US" altLang="ja-JP" b="1" dirty="0">
                <a:highlight>
                  <a:srgbClr val="FFFF00"/>
                </a:highlight>
              </a:rPr>
              <a:t> </a:t>
            </a:r>
            <a:r>
              <a:rPr kumimoji="1" lang="en-US" altLang="ja-JP" b="1" dirty="0" err="1">
                <a:highlight>
                  <a:srgbClr val="FFFF00"/>
                </a:highlight>
              </a:rPr>
              <a:t>gì</a:t>
            </a:r>
            <a:r>
              <a:rPr kumimoji="1" lang="en-US" altLang="ja-JP" b="1" dirty="0">
                <a:highlight>
                  <a:srgbClr val="FFFF00"/>
                </a:highlight>
              </a:rPr>
              <a:t> </a:t>
            </a:r>
            <a:r>
              <a:rPr kumimoji="1" lang="en-US" altLang="ja-JP" b="1" dirty="0"/>
              <a:t>)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32480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vi-VN" altLang="ja-JP" dirty="0"/>
              <a:t>A</a:t>
            </a:r>
            <a:r>
              <a:rPr kumimoji="1" lang="ja-JP" altLang="en-US" dirty="0"/>
              <a:t>と</a:t>
            </a:r>
            <a:r>
              <a:rPr kumimoji="1" lang="vi-VN" altLang="ja-JP" dirty="0"/>
              <a:t>B: AvàB</a:t>
            </a:r>
            <a:r>
              <a:rPr kumimoji="1" lang="ja-JP" altLang="en-US" dirty="0"/>
              <a:t>？</a:t>
            </a:r>
            <a:br>
              <a:rPr kumimoji="1" lang="vi-VN" altLang="ja-JP" dirty="0"/>
            </a:br>
            <a:r>
              <a:rPr kumimoji="1" lang="vi-VN" altLang="ja-JP" dirty="0"/>
              <a:t>A</a:t>
            </a:r>
            <a:r>
              <a:rPr kumimoji="1" lang="ja-JP" altLang="en-US" dirty="0"/>
              <a:t>や</a:t>
            </a:r>
            <a:r>
              <a:rPr kumimoji="1" lang="vi-VN" altLang="ja-JP" dirty="0"/>
              <a:t>B</a:t>
            </a:r>
            <a:r>
              <a:rPr kumimoji="1" lang="ja-JP" altLang="en-US" dirty="0">
                <a:solidFill>
                  <a:srgbClr val="FF0000"/>
                </a:solidFill>
              </a:rPr>
              <a:t>など</a:t>
            </a:r>
            <a:r>
              <a:rPr kumimoji="1" lang="en-US" altLang="ja-JP" dirty="0">
                <a:solidFill>
                  <a:srgbClr val="FF0000"/>
                </a:solidFill>
              </a:rPr>
              <a:t>: </a:t>
            </a:r>
            <a:r>
              <a:rPr kumimoji="1" lang="vi-VN" altLang="ja-JP" dirty="0">
                <a:solidFill>
                  <a:srgbClr val="FF0000"/>
                </a:solidFill>
              </a:rPr>
              <a:t> </a:t>
            </a:r>
            <a:r>
              <a:rPr kumimoji="1" lang="vi-VN" altLang="ja-JP" dirty="0"/>
              <a:t>A,B và …</a:t>
            </a:r>
            <a:endParaRPr kumimoji="1"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/>
          <a:lstStyle/>
          <a:p>
            <a:r>
              <a:rPr kumimoji="1" lang="ja-JP" altLang="en-US" dirty="0"/>
              <a:t>パン　</a:t>
            </a:r>
            <a:r>
              <a:rPr kumimoji="1" lang="ja-JP" altLang="en-US" b="1" dirty="0"/>
              <a:t>を　</a:t>
            </a:r>
            <a:r>
              <a:rPr kumimoji="1" lang="ja-JP" altLang="en-US" dirty="0"/>
              <a:t>たべます　</a:t>
            </a:r>
            <a:r>
              <a:rPr kumimoji="1" lang="vi-VN" altLang="ja-JP" dirty="0"/>
              <a:t>ăn bánh mì</a:t>
            </a:r>
          </a:p>
          <a:p>
            <a:r>
              <a:rPr kumimoji="1" lang="ja-JP" altLang="en-US" dirty="0"/>
              <a:t>パン　</a:t>
            </a:r>
            <a:r>
              <a:rPr kumimoji="1" lang="ja-JP" altLang="en-US" b="1" dirty="0"/>
              <a:t>と　</a:t>
            </a:r>
            <a:r>
              <a:rPr kumimoji="1" lang="ja-JP" altLang="en-US" dirty="0"/>
              <a:t>たまご　</a:t>
            </a:r>
            <a:r>
              <a:rPr kumimoji="1" lang="ja-JP" altLang="en-US" b="1" dirty="0"/>
              <a:t>を　</a:t>
            </a:r>
            <a:r>
              <a:rPr kumimoji="1" lang="ja-JP" altLang="en-US" dirty="0"/>
              <a:t>たべます。</a:t>
            </a:r>
            <a:r>
              <a:rPr kumimoji="1" lang="vi-VN" altLang="ja-JP" dirty="0"/>
              <a:t>Ăn bánh mì + trứng</a:t>
            </a:r>
            <a:endParaRPr lang="vi-VN" altLang="ja-JP" dirty="0"/>
          </a:p>
          <a:p>
            <a:r>
              <a:rPr lang="ja-JP" altLang="en-US" dirty="0"/>
              <a:t>パン</a:t>
            </a:r>
            <a:r>
              <a:rPr lang="ja-JP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など</a:t>
            </a:r>
            <a:r>
              <a:rPr lang="ja-JP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　</a:t>
            </a:r>
            <a:r>
              <a:rPr lang="ja-JP" altLang="en-US" b="1" dirty="0"/>
              <a:t>を</a:t>
            </a:r>
            <a:r>
              <a:rPr lang="ja-JP" altLang="en-US" dirty="0"/>
              <a:t>たべます。</a:t>
            </a:r>
            <a:r>
              <a:rPr lang="vi-VN" altLang="ja-JP" dirty="0"/>
              <a:t>Ăn bánh …</a:t>
            </a:r>
            <a:r>
              <a:rPr lang="en-US" altLang="ja-JP" dirty="0"/>
              <a:t> (</a:t>
            </a:r>
            <a:r>
              <a:rPr lang="en-US" altLang="ja-JP" dirty="0" err="1"/>
              <a:t>và</a:t>
            </a:r>
            <a:r>
              <a:rPr lang="en-US" altLang="ja-JP" dirty="0"/>
              <a:t> </a:t>
            </a:r>
            <a:r>
              <a:rPr lang="en-US" altLang="ja-JP" dirty="0" err="1"/>
              <a:t>vân</a:t>
            </a:r>
            <a:r>
              <a:rPr lang="en-US" altLang="ja-JP" dirty="0"/>
              <a:t> </a:t>
            </a:r>
            <a:r>
              <a:rPr lang="en-US" altLang="ja-JP" dirty="0" err="1"/>
              <a:t>vân</a:t>
            </a:r>
            <a:r>
              <a:rPr lang="en-US" altLang="ja-JP" dirty="0"/>
              <a:t> , </a:t>
            </a:r>
            <a:r>
              <a:rPr lang="en-US" altLang="ja-JP" dirty="0" err="1"/>
              <a:t>nado</a:t>
            </a:r>
            <a:r>
              <a:rPr lang="en-US" altLang="ja-JP" dirty="0"/>
              <a:t> </a:t>
            </a:r>
            <a:r>
              <a:rPr lang="en-US" altLang="ja-JP" dirty="0" err="1"/>
              <a:t>kiểu</a:t>
            </a:r>
            <a:r>
              <a:rPr lang="en-US" altLang="ja-JP" dirty="0"/>
              <a:t> </a:t>
            </a:r>
            <a:r>
              <a:rPr lang="en-US" altLang="ja-JP" dirty="0" err="1"/>
              <a:t>như</a:t>
            </a:r>
            <a:r>
              <a:rPr lang="en-US" altLang="ja-JP" dirty="0"/>
              <a:t> </a:t>
            </a:r>
            <a:r>
              <a:rPr lang="en-US" altLang="ja-JP" dirty="0" err="1"/>
              <a:t>vv</a:t>
            </a:r>
            <a:r>
              <a:rPr lang="en-US" altLang="ja-JP" dirty="0"/>
              <a:t>)</a:t>
            </a:r>
            <a:endParaRPr lang="en-US" altLang="ja-JP" u="sng" dirty="0">
              <a:highlight>
                <a:srgbClr val="FFFF00"/>
              </a:highlight>
            </a:endParaRPr>
          </a:p>
          <a:p>
            <a:pPr lvl="1"/>
            <a:r>
              <a:rPr lang="ja-JP" altLang="en-US" dirty="0"/>
              <a:t>パン　</a:t>
            </a:r>
            <a:r>
              <a:rPr lang="ja-JP" altLang="en-US" b="1" dirty="0"/>
              <a:t>や　</a:t>
            </a:r>
            <a:r>
              <a:rPr lang="ja-JP" altLang="en-US" dirty="0"/>
              <a:t>たまご</a:t>
            </a:r>
            <a:r>
              <a:rPr lang="ja-JP" altLang="en-US" dirty="0">
                <a:solidFill>
                  <a:srgbClr val="FF0000"/>
                </a:solidFill>
              </a:rPr>
              <a:t>（</a:t>
            </a:r>
            <a:r>
              <a:rPr lang="ja-JP" altLang="en-US" b="1" dirty="0">
                <a:solidFill>
                  <a:srgbClr val="FF0000"/>
                </a:solidFill>
              </a:rPr>
              <a:t>など</a:t>
            </a:r>
            <a:r>
              <a:rPr lang="ja-JP" altLang="en-US" dirty="0">
                <a:solidFill>
                  <a:srgbClr val="FF0000"/>
                </a:solidFill>
              </a:rPr>
              <a:t>） </a:t>
            </a:r>
            <a:r>
              <a:rPr lang="ja-JP" altLang="en-US" dirty="0"/>
              <a:t>　をたべます。</a:t>
            </a:r>
            <a:endParaRPr lang="en-US" altLang="ja-JP" dirty="0"/>
          </a:p>
          <a:p>
            <a:r>
              <a:rPr lang="ja-JP" altLang="en-US" dirty="0"/>
              <a:t>パン　</a:t>
            </a:r>
            <a:r>
              <a:rPr lang="ja-JP" altLang="en-US" b="1" dirty="0"/>
              <a:t>や　</a:t>
            </a:r>
            <a:r>
              <a:rPr lang="ja-JP" altLang="en-US" dirty="0"/>
              <a:t>たまご</a:t>
            </a:r>
            <a:r>
              <a:rPr lang="ja-JP" altLang="en-US" b="1" dirty="0"/>
              <a:t>や　</a:t>
            </a:r>
            <a:r>
              <a:rPr lang="en-US" altLang="ja-JP" b="1" dirty="0"/>
              <a:t>KOBE</a:t>
            </a:r>
            <a:r>
              <a:rPr lang="ja-JP" altLang="en-US" b="1" dirty="0"/>
              <a:t>ぎゅう</a:t>
            </a:r>
            <a:r>
              <a:rPr lang="ja-JP" altLang="en-US" dirty="0"/>
              <a:t>（</a:t>
            </a:r>
            <a:r>
              <a:rPr lang="ja-JP" altLang="en-US" b="1" dirty="0"/>
              <a:t>など</a:t>
            </a:r>
            <a:r>
              <a:rPr lang="ja-JP" altLang="en-US" dirty="0"/>
              <a:t>） 　をたべます。</a:t>
            </a:r>
            <a:endParaRPr lang="vi-VN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984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property id=&quot;20226&quot; value=&quot;D:\Users\Nguyen Cuong\Desktop\Year of 2015\Slides (Dekiru Nihongo)\Lesson 3 All.pptx&quot;/&gt;&lt;object type=&quot;2&quot; unique_id=&quot;18265&quot;&gt;&lt;object type=&quot;3&quot; unique_id=&quot;18266&quot;&gt;&lt;property id=&quot;20148&quot; value=&quot;5&quot;/&gt;&lt;property id=&quot;20300&quot; value=&quot;Slide 1&quot;/&gt;&lt;property id=&quot;20307&quot; value=&quot;257&quot;/&gt;&lt;/object&gt;&lt;object type=&quot;3&quot; unique_id=&quot;18267&quot;&gt;&lt;property id=&quot;20148&quot; value=&quot;5&quot;/&gt;&lt;property id=&quot;20300&quot; value=&quot;Slide 2&quot;/&gt;&lt;property id=&quot;20307&quot; value=&quot;258&quot;/&gt;&lt;/object&gt;&lt;object type=&quot;3&quot; unique_id=&quot;18268&quot;&gt;&lt;property id=&quot;20148&quot; value=&quot;5&quot;/&gt;&lt;property id=&quot;20300&quot; value=&quot;Slide 3&quot;/&gt;&lt;property id=&quot;20307&quot; value=&quot;269&quot;/&gt;&lt;/object&gt;&lt;object type=&quot;3&quot; unique_id=&quot;18309&quot;&gt;&lt;property id=&quot;20148&quot; value=&quot;5&quot;/&gt;&lt;property id=&quot;20300&quot; value=&quot;Slide 11&quot;/&gt;&lt;property id=&quot;20307&quot; value=&quot;270&quot;/&gt;&lt;/object&gt;&lt;object type=&quot;3&quot; unique_id=&quot;18310&quot;&gt;&lt;property id=&quot;20148&quot; value=&quot;5&quot;/&gt;&lt;property id=&quot;20300&quot; value=&quot;Slide 12&quot;/&gt;&lt;property id=&quot;20307&quot; value=&quot;272&quot;/&gt;&lt;/object&gt;&lt;object type=&quot;3&quot; unique_id=&quot;18311&quot;&gt;&lt;property id=&quot;20148&quot; value=&quot;5&quot;/&gt;&lt;property id=&quot;20300&quot; value=&quot;Slide 19&quot;/&gt;&lt;property id=&quot;20307&quot; value=&quot;271&quot;/&gt;&lt;/object&gt;&lt;object type=&quot;3&quot; unique_id=&quot;18336&quot;&gt;&lt;property id=&quot;20148&quot; value=&quot;5&quot;/&gt;&lt;property id=&quot;20300&quot; value=&quot;Slide 20&quot;/&gt;&lt;property id=&quot;20307&quot; value=&quot;273&quot;/&gt;&lt;/object&gt;&lt;object type=&quot;3&quot; unique_id=&quot;18528&quot;&gt;&lt;property id=&quot;20148&quot; value=&quot;5&quot;/&gt;&lt;property id=&quot;20300&quot; value=&quot;Slide 4&quot;/&gt;&lt;property id=&quot;20307&quot; value=&quot;274&quot;/&gt;&lt;/object&gt;&lt;object type=&quot;3&quot; unique_id=&quot;18529&quot;&gt;&lt;property id=&quot;20148&quot; value=&quot;5&quot;/&gt;&lt;property id=&quot;20300&quot; value=&quot;Slide 5&quot;/&gt;&lt;property id=&quot;20307&quot; value=&quot;275&quot;/&gt;&lt;/object&gt;&lt;object type=&quot;3&quot; unique_id=&quot;18530&quot;&gt;&lt;property id=&quot;20148&quot; value=&quot;5&quot;/&gt;&lt;property id=&quot;20300&quot; value=&quot;Slide 6&quot;/&gt;&lt;property id=&quot;20307&quot; value=&quot;276&quot;/&gt;&lt;/object&gt;&lt;object type=&quot;3&quot; unique_id=&quot;18531&quot;&gt;&lt;property id=&quot;20148&quot; value=&quot;5&quot;/&gt;&lt;property id=&quot;20300&quot; value=&quot;Slide 8&quot;/&gt;&lt;property id=&quot;20307&quot; value=&quot;279&quot;/&gt;&lt;/object&gt;&lt;object type=&quot;3&quot; unique_id=&quot;18532&quot;&gt;&lt;property id=&quot;20148&quot; value=&quot;5&quot;/&gt;&lt;property id=&quot;20300&quot; value=&quot;Slide 9&quot;/&gt;&lt;property id=&quot;20307&quot; value=&quot;277&quot;/&gt;&lt;/object&gt;&lt;object type=&quot;3&quot; unique_id=&quot;18699&quot;&gt;&lt;property id=&quot;20148&quot; value=&quot;5&quot;/&gt;&lt;property id=&quot;20300&quot; value=&quot;Slide 13&quot;/&gt;&lt;property id=&quot;20307&quot; value=&quot;280&quot;/&gt;&lt;/object&gt;&lt;object type=&quot;3&quot; unique_id=&quot;18700&quot;&gt;&lt;property id=&quot;20148&quot; value=&quot;5&quot;/&gt;&lt;property id=&quot;20300&quot; value=&quot;Slide 14&quot;/&gt;&lt;property id=&quot;20307&quot; value=&quot;285&quot;/&gt;&lt;/object&gt;&lt;object type=&quot;3&quot; unique_id=&quot;18701&quot;&gt;&lt;property id=&quot;20148&quot; value=&quot;5&quot;/&gt;&lt;property id=&quot;20300&quot; value=&quot;Slide 15&quot;/&gt;&lt;property id=&quot;20307&quot; value=&quot;281&quot;/&gt;&lt;/object&gt;&lt;object type=&quot;3&quot; unique_id=&quot;18702&quot;&gt;&lt;property id=&quot;20148&quot; value=&quot;5&quot;/&gt;&lt;property id=&quot;20300&quot; value=&quot;Slide 16&quot;/&gt;&lt;property id=&quot;20307&quot; value=&quot;282&quot;/&gt;&lt;/object&gt;&lt;object type=&quot;3&quot; unique_id=&quot;18703&quot;&gt;&lt;property id=&quot;20148&quot; value=&quot;5&quot;/&gt;&lt;property id=&quot;20300&quot; value=&quot;Slide 17&quot;/&gt;&lt;property id=&quot;20307&quot; value=&quot;283&quot;/&gt;&lt;/object&gt;&lt;object type=&quot;3&quot; unique_id=&quot;19256&quot;&gt;&lt;property id=&quot;20148&quot; value=&quot;5&quot;/&gt;&lt;property id=&quot;20300&quot; value=&quot;Slide 21&quot;/&gt;&lt;property id=&quot;20307&quot; value=&quot;286&quot;/&gt;&lt;/object&gt;&lt;object type=&quot;3&quot; unique_id=&quot;19257&quot;&gt;&lt;property id=&quot;20148&quot; value=&quot;5&quot;/&gt;&lt;property id=&quot;20300&quot; value=&quot;Slide 22&quot;/&gt;&lt;property id=&quot;20307&quot; value=&quot;287&quot;/&gt;&lt;/object&gt;&lt;object type=&quot;3&quot; unique_id=&quot;19258&quot;&gt;&lt;property id=&quot;20148&quot; value=&quot;5&quot;/&gt;&lt;property id=&quot;20300&quot; value=&quot;Slide 24&quot;/&gt;&lt;property id=&quot;20307&quot; value=&quot;288&quot;/&gt;&lt;/object&gt;&lt;object type=&quot;3&quot; unique_id=&quot;19355&quot;&gt;&lt;property id=&quot;20148&quot; value=&quot;5&quot;/&gt;&lt;property id=&quot;20300&quot; value=&quot;Slide 25&quot;/&gt;&lt;property id=&quot;20307&quot; value=&quot;289&quot;/&gt;&lt;/object&gt;&lt;object type=&quot;3&quot; unique_id=&quot;23882&quot;&gt;&lt;property id=&quot;20148&quot; value=&quot;5&quot;/&gt;&lt;property id=&quot;20300&quot; value=&quot;Slide 7&quot;/&gt;&lt;property id=&quot;20307&quot; value=&quot;291&quot;/&gt;&lt;/object&gt;&lt;object type=&quot;3&quot; unique_id=&quot;23984&quot;&gt;&lt;property id=&quot;20148&quot; value=&quot;5&quot;/&gt;&lt;property id=&quot;20300&quot; value=&quot;Slide 18&quot;/&gt;&lt;property id=&quot;20307&quot; value=&quot;292&quot;/&gt;&lt;/object&gt;&lt;object type=&quot;3&quot; unique_id=&quot;24064&quot;&gt;&lt;property id=&quot;20148&quot; value=&quot;5&quot;/&gt;&lt;property id=&quot;20300&quot; value=&quot;Slide 10&quot;/&gt;&lt;property id=&quot;20307&quot; value=&quot;293&quot;/&gt;&lt;/object&gt;&lt;object type=&quot;3&quot; unique_id=&quot;35653&quot;&gt;&lt;property id=&quot;20148&quot; value=&quot;5&quot;/&gt;&lt;property id=&quot;20300&quot; value=&quot;Slide 23&quot;/&gt;&lt;property id=&quot;20307&quot; value=&quot;294&quot;/&gt;&lt;/object&gt;&lt;/object&gt;&lt;object type=&quot;8&quot; unique_id=&quot;18273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hildrenFriends">
      <a:dk1>
        <a:srgbClr val="404040"/>
      </a:dk1>
      <a:lt1>
        <a:sysClr val="window" lastClr="FFFFFF"/>
      </a:lt1>
      <a:dk2>
        <a:srgbClr val="000000"/>
      </a:dk2>
      <a:lt2>
        <a:srgbClr val="EAEAEA"/>
      </a:lt2>
      <a:accent1>
        <a:srgbClr val="A63121"/>
      </a:accent1>
      <a:accent2>
        <a:srgbClr val="318DCB"/>
      </a:accent2>
      <a:accent3>
        <a:srgbClr val="F28330"/>
      </a:accent3>
      <a:accent4>
        <a:srgbClr val="50B852"/>
      </a:accent4>
      <a:accent5>
        <a:srgbClr val="EEAD1D"/>
      </a:accent5>
      <a:accent6>
        <a:srgbClr val="A68555"/>
      </a:accent6>
      <a:hlink>
        <a:srgbClr val="F28330"/>
      </a:hlink>
      <a:folHlink>
        <a:srgbClr val="96969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hildrenFriends">
      <a:dk1>
        <a:srgbClr val="404040"/>
      </a:dk1>
      <a:lt1>
        <a:sysClr val="window" lastClr="FFFFFF"/>
      </a:lt1>
      <a:dk2>
        <a:srgbClr val="000000"/>
      </a:dk2>
      <a:lt2>
        <a:srgbClr val="EAEAEA"/>
      </a:lt2>
      <a:accent1>
        <a:srgbClr val="A63121"/>
      </a:accent1>
      <a:accent2>
        <a:srgbClr val="318DCB"/>
      </a:accent2>
      <a:accent3>
        <a:srgbClr val="F28330"/>
      </a:accent3>
      <a:accent4>
        <a:srgbClr val="50B852"/>
      </a:accent4>
      <a:accent5>
        <a:srgbClr val="EEAD1D"/>
      </a:accent5>
      <a:accent6>
        <a:srgbClr val="A68555"/>
      </a:accent6>
      <a:hlink>
        <a:srgbClr val="F28330"/>
      </a:hlink>
      <a:folHlink>
        <a:srgbClr val="96969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52213BA-6259-469B-8BD9-3C7F83E2B9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4796</Words>
  <Application>Microsoft Office PowerPoint</Application>
  <PresentationFormat>Widescreen</PresentationFormat>
  <Paragraphs>560</Paragraphs>
  <Slides>82</Slides>
  <Notes>5</Notes>
  <HiddenSlides>0</HiddenSlides>
  <MMClips>13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HGMaruGothicMPRO</vt:lpstr>
      <vt:lpstr>Arial</vt:lpstr>
      <vt:lpstr>Calibri</vt:lpstr>
      <vt:lpstr>Calibri Light</vt:lpstr>
      <vt:lpstr>HGSeikaishotaiPRO</vt:lpstr>
      <vt:lpstr>HGSoeiKakupoptai</vt:lpstr>
      <vt:lpstr>mikachan-PB</vt:lpstr>
      <vt:lpstr>NtMotoyaKyotai</vt:lpstr>
      <vt:lpstr>Roboto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  ①Cách đọc giờ : ～じ➡なんじ？</vt:lpstr>
      <vt:lpstr>② đọc số Phút : ～ふん／ぷん➡なんぷん？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Thứ trong tuần　　 ～ようび(～曜日)➡なんようび</vt:lpstr>
      <vt:lpstr>〇月〇日➡〇曜日（ようび） ど７・きん６・もく５・すい４・か３・にちCN・げつ２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N1とN2？／N1やN2など？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TỔNG HỢP まとめ</vt:lpstr>
      <vt:lpstr>こ・そ・あ・ど:Này đó kia nào?</vt:lpstr>
      <vt:lpstr>そうです・そうですか・ そうですよ・そうですね</vt:lpstr>
      <vt:lpstr>V:　(たべます) khẳng định/ phủ định</vt:lpstr>
      <vt:lpstr>：➡Thời gian ko xác định (ko có số) : không + trợ từ 　　じかん　　➡Thời gian xác định　（có số）: ＋に　lúc</vt:lpstr>
      <vt:lpstr>時・分？ Giờ / phút</vt:lpstr>
      <vt:lpstr>いまｘ／は？何時ですかBây giờ là mấy giờ?</vt:lpstr>
      <vt:lpstr>Trợ từ:</vt:lpstr>
      <vt:lpstr>N を V: làm cái gì (V tác dụng trực tiếp N)</vt:lpstr>
      <vt:lpstr>も：cũng　→NVT＋MO＋PD phủ định 100 % を／は➡も へ➡へも／も</vt:lpstr>
      <vt:lpstr>Phương tiện GT でBằng - &gt; đè</vt:lpstr>
      <vt:lpstr>Câu hỏi: 3 loại</vt:lpstr>
      <vt:lpstr>なん？なに？  -&gt; phân biệt nan và nani</vt:lpstr>
      <vt:lpstr>AとB: AvàB？ AやBなど:  A,B và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2014-12-10T02:05:49Z</dcterms:created>
  <dcterms:modified xsi:type="dcterms:W3CDTF">2023-07-24T05:36:49Z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TC038961019991</vt:lpwstr>
  </property>
</Properties>
</file>