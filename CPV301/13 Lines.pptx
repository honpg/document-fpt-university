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831" r:id="rId1"/>
  </p:sldMasterIdLst>
  <p:notesMasterIdLst>
    <p:notesMasterId r:id="rId18"/>
  </p:notesMasterIdLst>
  <p:handoutMasterIdLst>
    <p:handoutMasterId r:id="rId19"/>
  </p:handoutMasterIdLst>
  <p:sldIdLst>
    <p:sldId id="439" r:id="rId2"/>
    <p:sldId id="440" r:id="rId3"/>
    <p:sldId id="517" r:id="rId4"/>
    <p:sldId id="536" r:id="rId5"/>
    <p:sldId id="524" r:id="rId6"/>
    <p:sldId id="537" r:id="rId7"/>
    <p:sldId id="538" r:id="rId8"/>
    <p:sldId id="539" r:id="rId9"/>
    <p:sldId id="525" r:id="rId10"/>
    <p:sldId id="540" r:id="rId11"/>
    <p:sldId id="541" r:id="rId12"/>
    <p:sldId id="542" r:id="rId13"/>
    <p:sldId id="543" r:id="rId14"/>
    <p:sldId id="544" r:id="rId15"/>
    <p:sldId id="534" r:id="rId16"/>
    <p:sldId id="476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3" autoAdjust="0"/>
    <p:restoredTop sz="86270" autoAdjust="0"/>
  </p:normalViewPr>
  <p:slideViewPr>
    <p:cSldViewPr>
      <p:cViewPr>
        <p:scale>
          <a:sx n="100" d="100"/>
          <a:sy n="100" d="100"/>
        </p:scale>
        <p:origin x="246" y="-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86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1A1E54-5B88-4DCC-8136-E426A019C818}" type="datetimeFigureOut">
              <a:rPr lang="en-US" smtClean="0"/>
              <a:pPr/>
              <a:t>31-May-23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03DD3B-01CD-45B6-8030-679E494C59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06945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FE854831-01EB-409C-BAD6-09AACD654632}" type="datetimeFigureOut">
              <a:rPr lang="en-US"/>
              <a:pPr>
                <a:defRPr/>
              </a:pPr>
              <a:t>31-May-23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2D8747BF-E32F-4C5D-BB9D-96B7E3B67EA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18937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755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140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points where the image brightness varies sharply are called the edges (or boundaries) of the image.</a:t>
            </a:r>
            <a:endParaRPr lang="en-US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0454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96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349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Oriented Hough transform: (a) an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edgel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re-parameterized in polar (r,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coor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dinates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nˆi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(cos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sin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and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nˆi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· xi; (b) (r,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accumulator array, showing the votes for the three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edgels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marked in red, green, and blue </a:t>
            </a:r>
            <a:endParaRPr lang="en-US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515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2D line equation expressed in terms of the normal nˆ and distance to the origin 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vi-V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vi-VN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range of possible (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d) values is [−180◦, 180◦] × [−√2, √2], assuming that we are using normalized pixel coordinates (2.61) that lie in [−1, 1] </a:t>
            </a:r>
            <a:endParaRPr lang="en-US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560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Outline of a Hough transform algorithm based on oriented edge segments.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2263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08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7098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are the four convolution masks to detect horizontal, vertical, oblique (+45 degrees), and oblique (−45 degrees) lines in an image.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7593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0476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6485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are the four convolution masks to detect horizontal, vertical, oblique (+45 degrees), and oblique (−45 degrees) lines in an image.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4131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Rectangle detection: (a) indoor corridor and (b) building exterior with grouped facades (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Kosˇecka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́ and Zhang 2005) ⃝c 2005 Elsevier; (c) grammar-based recognition (Han and Zhu 2005) ⃝c 2005 IEEE; (d–f) rectangle matching using a plane sweep algorithm (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Micˇus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ˇ`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ık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Wildenauer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Kosˇecka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́ 2008) ⃝c 2008 IEEE. </a:t>
            </a:r>
            <a:endParaRPr lang="en-US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9146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831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458200" cy="1470025"/>
          </a:xfrm>
        </p:spPr>
        <p:txBody>
          <a:bodyPr/>
          <a:lstStyle>
            <a:lvl1pPr>
              <a:defRPr>
                <a:solidFill>
                  <a:srgbClr val="00206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002060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1524000" cy="228600"/>
          </a:xfrm>
        </p:spPr>
        <p:txBody>
          <a:bodyPr/>
          <a:lstStyle>
            <a:lvl1pPr>
              <a:defRPr>
                <a:solidFill>
                  <a:srgbClr val="00206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0E618B71-B5D7-CC4D-A958-88E9F276163A}" type="datetime1">
              <a:rPr lang="en-US" smtClean="0"/>
              <a:t>31-May-23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629400"/>
            <a:ext cx="4267200" cy="228600"/>
          </a:xfrm>
        </p:spPr>
        <p:txBody>
          <a:bodyPr/>
          <a:lstStyle>
            <a:lvl1pPr>
              <a:defRPr>
                <a:solidFill>
                  <a:srgbClr val="00206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Session 02 - Learning the Java Language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0000" y="6629400"/>
            <a:ext cx="1066800" cy="228600"/>
          </a:xfrm>
        </p:spPr>
        <p:txBody>
          <a:bodyPr/>
          <a:lstStyle>
            <a:lvl1pPr>
              <a:defRPr>
                <a:solidFill>
                  <a:srgbClr val="00206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073B7A44-4BEB-4535-A06C-A1CE01569806}" type="slidenum">
              <a:rPr lang="en-US" smtClean="0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3345707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2">
                  <a:lumMod val="60000"/>
                  <a:lumOff val="40000"/>
                </a:schemeClr>
              </a:buClr>
              <a:buSzPct val="80000"/>
              <a:buFont typeface="Wingdings" pitchFamily="2" charset="2"/>
              <a:buChar char="l"/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</a:defRPr>
            </a:lvl2pPr>
            <a:lvl3pPr>
              <a:defRPr>
                <a:latin typeface="Arial" pitchFamily="34" charset="0"/>
              </a:defRPr>
            </a:lvl3pPr>
            <a:lvl4pPr>
              <a:defRPr>
                <a:latin typeface="Arial" pitchFamily="34" charset="0"/>
              </a:defRPr>
            </a:lvl4pPr>
            <a:lvl5pPr>
              <a:defRPr>
                <a:latin typeface="Arial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4E90EDA-B6DC-2440-807E-253D5864B2CE}" type="datetime1">
              <a:rPr lang="en-US" smtClean="0"/>
              <a:t>31-May-23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67000" y="6356350"/>
            <a:ext cx="38862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Session 02 - Learning the Java Language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017F965C-3CEB-45B2-B97C-76AD457A2442}" type="slidenum">
              <a:rPr lang="en-US" smtClean="0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3860978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34BC61-C3F7-FC47-980B-4AFCF2A14E52}" type="datetime1">
              <a:rPr lang="en-US" smtClean="0"/>
              <a:t>31-May-23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Session 02 - Learning the Java Language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7CAB4-F23C-43F4-B686-8E1D365D3A45}" type="slidenum">
              <a:rPr lang="en-US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223679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8FB61C-9AC5-A842-8CD6-F328B77186EF}" type="datetime1">
              <a:rPr lang="en-US" smtClean="0"/>
              <a:t>31-May-23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Session 02 - Learning the Java Language 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F97DB9-6F1F-4587-B4D8-7611A9895928}" type="slidenum">
              <a:rPr lang="en-US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3318395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6490A4-89ED-044B-A77D-8383698882E2}" type="datetime1">
              <a:rPr lang="en-US" smtClean="0"/>
              <a:t>31-May-23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Session 02 - Learning the Java Language 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FEAE02-80AB-4832-B1BF-4E3BB3B6CC7E}" type="slidenum">
              <a:rPr lang="en-US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1229378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9EDCFC-18B5-4D4A-9044-597C33B3E665}" type="datetime1">
              <a:rPr lang="en-US" smtClean="0"/>
              <a:t>31-May-23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Session 02 - Learning the Java Language 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0E600C-8C4E-4143-B853-68A70D9331C7}" type="slidenum">
              <a:rPr lang="en-US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1438798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7154F0-9B34-F542-BFBB-1483F588FE4C}" type="datetime1">
              <a:rPr lang="en-US" smtClean="0"/>
              <a:t>31-May-23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Session 02 - Learning the Java Language 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14D644-7D5F-464F-ACE6-65B648A8CD0E}" type="slidenum">
              <a:rPr lang="en-US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2051769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D75EFD-CF4C-0C4F-B14E-61A2EC7CC567}" type="datetime1">
              <a:rPr lang="en-US" smtClean="0"/>
              <a:t>31-May-23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Session 02 - Learning the Java Language 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417B27-8B09-402C-8D0C-F158C101AFFB}" type="slidenum">
              <a:rPr lang="en-US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3325677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1C57B2-6E06-DF4F-988E-459A4C6C1F4D}" type="datetime1">
              <a:rPr lang="en-US" smtClean="0"/>
              <a:t>31-May-23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Session 02 - Learning the Java Language 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5AB066-4475-48FE-A074-7E4CA38B9454}" type="slidenum">
              <a:rPr lang="en-US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3289877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687ADA-9CD4-9443-81A8-ECE302D0A888}" type="datetime1">
              <a:rPr lang="en-US" smtClean="0"/>
              <a:t>31-May-23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Session 02 - Learning the Java Language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54EB92-0B2B-4075-BCA3-94B886265CAF}" type="slidenum">
              <a:rPr lang="en-US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894602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59AED7-7B0A-9147-AD79-FC7F61428C99}" type="datetime1">
              <a:rPr lang="en-US" smtClean="0"/>
              <a:t>31-May-23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Session 02 - Learning the Java Language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67E24A-A1FD-41D3-A0A4-2F7DDDF04A0B}" type="slidenum">
              <a:rPr lang="en-US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2482979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F53745F-E0FB-704C-B0AE-0F84FE5C070C}" type="datetime1">
              <a:rPr lang="en-US" smtClean="0"/>
              <a:t>31-May-23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Session 02 - Learning the Java Language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730B33F-D76C-4370-BF16-00D48C2939F7}" type="slidenum">
              <a:rPr lang="en-US" smtClean="0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  <p:pic>
        <p:nvPicPr>
          <p:cNvPr id="1031" name="Picture 10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78105"/>
            <a:ext cx="1600200" cy="32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002060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Title 1"/>
          <p:cNvSpPr>
            <a:spLocks noGrp="1"/>
          </p:cNvSpPr>
          <p:nvPr>
            <p:ph type="ctrTitle"/>
          </p:nvPr>
        </p:nvSpPr>
        <p:spPr>
          <a:xfrm>
            <a:off x="304800" y="1676400"/>
            <a:ext cx="8534400" cy="2438400"/>
          </a:xfrm>
        </p:spPr>
        <p:txBody>
          <a:bodyPr/>
          <a:lstStyle/>
          <a:p>
            <a:pPr eaLnBrk="1" hangingPunct="1"/>
            <a:r>
              <a:rPr lang="en-US" dirty="0"/>
              <a:t>Feature detection and matching </a:t>
            </a:r>
            <a:r>
              <a:rPr lang="vi-VN" dirty="0" smtClean="0">
                <a:latin typeface="Arial" charset="0"/>
                <a:cs typeface="Arial" charset="0"/>
              </a:rPr>
              <a:t/>
            </a:r>
            <a:br>
              <a:rPr lang="vi-VN" dirty="0" smtClean="0">
                <a:latin typeface="Arial" charset="0"/>
                <a:cs typeface="Arial" charset="0"/>
              </a:rPr>
            </a:br>
            <a:r>
              <a:rPr lang="vi-VN" dirty="0" smtClean="0">
                <a:latin typeface="Arial" charset="0"/>
                <a:cs typeface="Arial" charset="0"/>
              </a:rPr>
              <a:t>- </a:t>
            </a:r>
            <a:r>
              <a:rPr lang="vi-VN" b="0" dirty="0" smtClean="0">
                <a:latin typeface="Arial" charset="0"/>
                <a:cs typeface="Arial" charset="0"/>
              </a:rPr>
              <a:t>Lines</a:t>
            </a: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428212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/>
          </p:cNvSpPr>
          <p:nvPr>
            <p:ph type="title"/>
          </p:nvPr>
        </p:nvSpPr>
        <p:spPr>
          <a:xfrm>
            <a:off x="449855" y="457200"/>
            <a:ext cx="8229600" cy="639762"/>
          </a:xfrm>
        </p:spPr>
        <p:txBody>
          <a:bodyPr/>
          <a:lstStyle/>
          <a:p>
            <a:r>
              <a:rPr lang="en-US" sz="4000" dirty="0"/>
              <a:t>Objectives</a:t>
            </a:r>
          </a:p>
        </p:txBody>
      </p:sp>
      <p:sp>
        <p:nvSpPr>
          <p:cNvPr id="3077" name="Rectangle 3"/>
          <p:cNvSpPr>
            <a:spLocks noGrp="1"/>
          </p:cNvSpPr>
          <p:nvPr>
            <p:ph type="body" idx="1"/>
          </p:nvPr>
        </p:nvSpPr>
        <p:spPr>
          <a:xfrm>
            <a:off x="480151" y="1425900"/>
            <a:ext cx="8458200" cy="4618038"/>
          </a:xfrm>
        </p:spPr>
        <p:txBody>
          <a:bodyPr/>
          <a:lstStyle/>
          <a:p>
            <a:pPr>
              <a:lnSpc>
                <a:spcPct val="150000"/>
              </a:lnSpc>
              <a:buClrTx/>
              <a:buSzTx/>
              <a:buFont typeface="Arial" charset="0"/>
              <a:buChar char="•"/>
            </a:pPr>
            <a:r>
              <a:rPr lang="en-US" sz="3000" dirty="0">
                <a:latin typeface="Calibri" charset="0"/>
                <a:ea typeface="Calibri" charset="0"/>
                <a:cs typeface="Calibri" charset="0"/>
              </a:rPr>
              <a:t>Learn the basics of Line </a:t>
            </a:r>
            <a:r>
              <a:rPr lang="en-US" sz="3000" dirty="0" smtClean="0">
                <a:latin typeface="Calibri" charset="0"/>
                <a:ea typeface="Calibri" charset="0"/>
                <a:cs typeface="Calibri" charset="0"/>
              </a:rPr>
              <a:t>Detection</a:t>
            </a:r>
          </a:p>
          <a:p>
            <a:pPr>
              <a:lnSpc>
                <a:spcPct val="150000"/>
              </a:lnSpc>
              <a:buClrTx/>
              <a:buSzTx/>
              <a:buFont typeface="Arial" charset="0"/>
              <a:buChar char="•"/>
            </a:pPr>
            <a:r>
              <a:rPr lang="en-US" sz="3000" dirty="0" smtClean="0">
                <a:latin typeface="Calibri" charset="0"/>
                <a:ea typeface="Calibri" charset="0"/>
                <a:cs typeface="Calibri" charset="0"/>
              </a:rPr>
              <a:t>Learn </a:t>
            </a:r>
            <a:r>
              <a:rPr lang="vi-VN" sz="3000" dirty="0" smtClean="0">
                <a:latin typeface="Calibri" charset="0"/>
                <a:ea typeface="Calibri" charset="0"/>
                <a:cs typeface="Calibri" charset="0"/>
              </a:rPr>
              <a:t>t</a:t>
            </a:r>
            <a:r>
              <a:rPr lang="en-US" sz="3000" dirty="0" smtClean="0">
                <a:latin typeface="Calibri" charset="0"/>
                <a:ea typeface="Calibri" charset="0"/>
                <a:cs typeface="Calibri" charset="0"/>
              </a:rPr>
              <a:t>he </a:t>
            </a:r>
            <a:r>
              <a:rPr lang="en-US" sz="3000" dirty="0">
                <a:latin typeface="Calibri" charset="0"/>
                <a:ea typeface="Calibri" charset="0"/>
                <a:cs typeface="Calibri" charset="0"/>
              </a:rPr>
              <a:t>most popular line </a:t>
            </a:r>
            <a:r>
              <a:rPr lang="en-US" sz="3000" dirty="0" smtClean="0">
                <a:latin typeface="Calibri" charset="0"/>
                <a:ea typeface="Calibri" charset="0"/>
                <a:cs typeface="Calibri" charset="0"/>
              </a:rPr>
              <a:t>detectors: </a:t>
            </a:r>
            <a:r>
              <a:rPr lang="en-US" sz="3000" dirty="0">
                <a:latin typeface="Calibri" charset="0"/>
                <a:ea typeface="Calibri" charset="0"/>
                <a:cs typeface="Calibri" charset="0"/>
              </a:rPr>
              <a:t>Hough </a:t>
            </a:r>
            <a:r>
              <a:rPr lang="en-US" sz="3000" dirty="0" smtClean="0">
                <a:latin typeface="Calibri" charset="0"/>
                <a:ea typeface="Calibri" charset="0"/>
                <a:cs typeface="Calibri" charset="0"/>
              </a:rPr>
              <a:t>transform.</a:t>
            </a:r>
          </a:p>
          <a:p>
            <a:pPr>
              <a:lnSpc>
                <a:spcPct val="150000"/>
              </a:lnSpc>
              <a:buClrTx/>
              <a:buSzTx/>
              <a:buFont typeface="Arial" charset="0"/>
              <a:buChar char="•"/>
            </a:pPr>
            <a:r>
              <a:rPr lang="en-US" sz="3000" dirty="0" smtClean="0">
                <a:latin typeface="Calibri" charset="0"/>
                <a:ea typeface="Calibri" charset="0"/>
                <a:cs typeface="Calibri" charset="0"/>
              </a:rPr>
              <a:t>Learn </a:t>
            </a:r>
            <a:r>
              <a:rPr lang="en-US" sz="3000" dirty="0">
                <a:latin typeface="Calibri" charset="0"/>
                <a:ea typeface="Calibri" charset="0"/>
                <a:cs typeface="Calibri" charset="0"/>
              </a:rPr>
              <a:t>the application of convolution-based techniques in line </a:t>
            </a:r>
            <a:r>
              <a:rPr lang="en-US" sz="3000" dirty="0" smtClean="0">
                <a:latin typeface="Calibri" charset="0"/>
                <a:ea typeface="Calibri" charset="0"/>
                <a:cs typeface="Calibri" charset="0"/>
              </a:rPr>
              <a:t>detection</a:t>
            </a:r>
          </a:p>
          <a:p>
            <a:pPr>
              <a:lnSpc>
                <a:spcPct val="150000"/>
              </a:lnSpc>
              <a:buClrTx/>
              <a:buSzTx/>
              <a:buFont typeface="Arial" charset="0"/>
              <a:buChar char="•"/>
            </a:pPr>
            <a:r>
              <a:rPr lang="en-US" sz="3000" dirty="0" smtClean="0">
                <a:latin typeface="Calibri" charset="0"/>
                <a:ea typeface="Calibri" charset="0"/>
                <a:cs typeface="Calibri" charset="0"/>
              </a:rPr>
              <a:t>Applications </a:t>
            </a:r>
            <a:r>
              <a:rPr lang="en-US" sz="3000" dirty="0">
                <a:latin typeface="Calibri" charset="0"/>
                <a:ea typeface="Calibri" charset="0"/>
                <a:cs typeface="Calibri" charset="0"/>
              </a:rPr>
              <a:t>of line detection in image </a:t>
            </a:r>
            <a:r>
              <a:rPr lang="en-US" sz="3000" dirty="0" smtClean="0">
                <a:latin typeface="Calibri" charset="0"/>
                <a:ea typeface="Calibri" charset="0"/>
                <a:cs typeface="Calibri" charset="0"/>
              </a:rPr>
              <a:t>processing</a:t>
            </a:r>
          </a:p>
        </p:txBody>
      </p:sp>
    </p:spTree>
    <p:extLst>
      <p:ext uri="{BB962C8B-B14F-4D97-AF65-F5344CB8AC3E}">
        <p14:creationId xmlns:p14="http://schemas.microsoft.com/office/powerpoint/2010/main" val="2971645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491490" y="592772"/>
            <a:ext cx="8229600" cy="867162"/>
          </a:xfrm>
        </p:spPr>
        <p:txBody>
          <a:bodyPr/>
          <a:lstStyle/>
          <a:p>
            <a:r>
              <a:rPr lang="en-US" sz="4000" dirty="0" smtClean="0"/>
              <a:t>What is </a:t>
            </a:r>
            <a:r>
              <a:rPr lang="vi-VN" sz="4000" dirty="0" smtClean="0"/>
              <a:t>Line detection</a:t>
            </a:r>
            <a:r>
              <a:rPr lang="en-US" sz="4000" dirty="0" smtClean="0"/>
              <a:t>?</a:t>
            </a:r>
            <a:endParaRPr lang="en-US" sz="40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799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 </a:t>
            </a:r>
            <a:r>
              <a:rPr lang="vi-VN" sz="2000" dirty="0" smtClean="0"/>
              <a:t>L</a:t>
            </a:r>
            <a:r>
              <a:rPr lang="en-US" sz="2000" dirty="0" err="1" smtClean="0"/>
              <a:t>ine</a:t>
            </a:r>
            <a:r>
              <a:rPr lang="en-US" sz="2000" dirty="0" smtClean="0"/>
              <a:t> </a:t>
            </a:r>
            <a:r>
              <a:rPr lang="en-US" sz="2000" dirty="0"/>
              <a:t>detection is an algorithm that takes a collection of n edge points and finds all the lines on which these edge points lie</a:t>
            </a:r>
            <a:r>
              <a:rPr lang="en-US" sz="20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vi-VN" sz="2000" dirty="0" smtClean="0"/>
              <a:t>Two </a:t>
            </a:r>
            <a:r>
              <a:rPr lang="en-US" sz="2000" dirty="0" smtClean="0"/>
              <a:t>types </a:t>
            </a:r>
            <a:r>
              <a:rPr lang="en-US" sz="2000" dirty="0"/>
              <a:t>of techniques</a:t>
            </a:r>
            <a:r>
              <a:rPr lang="en-US" sz="2000" dirty="0" smtClean="0"/>
              <a:t>: 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The Hough </a:t>
            </a:r>
            <a:r>
              <a:rPr lang="en-US" sz="1600" dirty="0" smtClean="0"/>
              <a:t>transform</a:t>
            </a:r>
          </a:p>
          <a:p>
            <a:pPr lvl="1">
              <a:lnSpc>
                <a:spcPct val="150000"/>
              </a:lnSpc>
            </a:pPr>
            <a:r>
              <a:rPr lang="en-US" sz="1600" dirty="0" smtClean="0"/>
              <a:t>Convolution-based techniques</a:t>
            </a:r>
            <a:endParaRPr lang="en-US" sz="1600" dirty="0"/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405" y="3048000"/>
            <a:ext cx="4276596" cy="3308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491490" y="592772"/>
            <a:ext cx="8229600" cy="867162"/>
          </a:xfrm>
        </p:spPr>
        <p:txBody>
          <a:bodyPr/>
          <a:lstStyle/>
          <a:p>
            <a:r>
              <a:rPr lang="vi-VN" sz="4000" dirty="0" smtClean="0"/>
              <a:t>Line detection</a:t>
            </a:r>
            <a:r>
              <a:rPr lang="en-US" sz="4000" dirty="0"/>
              <a:t> </a:t>
            </a:r>
            <a:r>
              <a:rPr lang="vi-VN" sz="4000" dirty="0" smtClean="0"/>
              <a:t>Steps</a:t>
            </a:r>
            <a:endParaRPr lang="en-US" sz="40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799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b="1" dirty="0"/>
              <a:t>The lane detection </a:t>
            </a:r>
            <a:r>
              <a:rPr lang="en-US" sz="2000" dirty="0"/>
              <a:t>pipeline follows these steps</a:t>
            </a:r>
            <a:r>
              <a:rPr lang="en-US" sz="2000" dirty="0" smtClean="0"/>
              <a:t>:</a:t>
            </a:r>
          </a:p>
          <a:p>
            <a:pPr lvl="1">
              <a:lnSpc>
                <a:spcPct val="150000"/>
              </a:lnSpc>
            </a:pPr>
            <a:r>
              <a:rPr lang="en-US" sz="1800" dirty="0" smtClean="0"/>
              <a:t>Pre-process </a:t>
            </a:r>
            <a:r>
              <a:rPr lang="en-US" sz="1800" dirty="0"/>
              <a:t>image using grayscale and G</a:t>
            </a:r>
            <a:r>
              <a:rPr lang="en-US" sz="1800" dirty="0" smtClean="0"/>
              <a:t>aussian </a:t>
            </a:r>
            <a:r>
              <a:rPr lang="en-US" sz="1800" dirty="0"/>
              <a:t>blur</a:t>
            </a:r>
            <a:r>
              <a:rPr lang="en-US" sz="1800" dirty="0" smtClean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1800" dirty="0" smtClean="0"/>
              <a:t>Apply </a:t>
            </a:r>
            <a:r>
              <a:rPr lang="en-US" sz="1800" dirty="0"/>
              <a:t>canny edge detection to the image</a:t>
            </a:r>
            <a:r>
              <a:rPr lang="en-US" sz="1800" dirty="0" smtClean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1800" dirty="0" smtClean="0"/>
              <a:t>Apply </a:t>
            </a:r>
            <a:r>
              <a:rPr lang="en-US" sz="1800" dirty="0"/>
              <a:t>masking region to the image</a:t>
            </a:r>
            <a:r>
              <a:rPr lang="en-US" sz="1800" dirty="0" smtClean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1800" b="1" i="1" u="sng" dirty="0" smtClean="0"/>
              <a:t>Apply </a:t>
            </a:r>
            <a:r>
              <a:rPr lang="en-US" sz="1800" b="1" i="1" u="sng" dirty="0"/>
              <a:t>Hough transform to the </a:t>
            </a:r>
            <a:r>
              <a:rPr lang="en-US" sz="1800" b="1" i="1" u="sng" dirty="0" smtClean="0"/>
              <a:t>image.</a:t>
            </a:r>
          </a:p>
          <a:p>
            <a:pPr lvl="1">
              <a:lnSpc>
                <a:spcPct val="150000"/>
              </a:lnSpc>
            </a:pPr>
            <a:r>
              <a:rPr lang="en-US" sz="1800" dirty="0" smtClean="0"/>
              <a:t>Extrapolate </a:t>
            </a:r>
            <a:r>
              <a:rPr lang="en-US" sz="1800" dirty="0"/>
              <a:t>the lines found in the </a:t>
            </a:r>
            <a:r>
              <a:rPr lang="vi-VN" sz="1800" dirty="0" smtClean="0"/>
              <a:t>H</a:t>
            </a:r>
            <a:r>
              <a:rPr lang="en-US" sz="1800" dirty="0" err="1" smtClean="0"/>
              <a:t>ough</a:t>
            </a:r>
            <a:r>
              <a:rPr lang="en-US" sz="1800" dirty="0" smtClean="0"/>
              <a:t> </a:t>
            </a:r>
            <a:r>
              <a:rPr lang="en-US" sz="1800" dirty="0"/>
              <a:t>transform to construct the left and right lane lines.</a:t>
            </a:r>
          </a:p>
        </p:txBody>
      </p:sp>
    </p:spTree>
    <p:extLst>
      <p:ext uri="{BB962C8B-B14F-4D97-AF65-F5344CB8AC3E}">
        <p14:creationId xmlns:p14="http://schemas.microsoft.com/office/powerpoint/2010/main" val="10150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491490" y="592772"/>
            <a:ext cx="8229600" cy="1083628"/>
          </a:xfrm>
        </p:spPr>
        <p:txBody>
          <a:bodyPr/>
          <a:lstStyle/>
          <a:p>
            <a:r>
              <a:rPr lang="vi-VN" sz="4000" dirty="0" smtClean="0"/>
              <a:t>Line detection</a:t>
            </a:r>
            <a:br>
              <a:rPr lang="vi-VN" sz="4000" dirty="0" smtClean="0"/>
            </a:br>
            <a:r>
              <a:rPr lang="vi-VN" sz="4000" dirty="0" smtClean="0"/>
              <a:t>- </a:t>
            </a:r>
            <a:r>
              <a:rPr lang="en-US" sz="4000" b="0" dirty="0"/>
              <a:t>Hough transform 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799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dirty="0" smtClean="0"/>
              <a:t>I</a:t>
            </a:r>
            <a:r>
              <a:rPr lang="vi-VN" sz="1800" dirty="0" smtClean="0"/>
              <a:t>t is used </a:t>
            </a:r>
            <a:r>
              <a:rPr lang="en-US" sz="1800" dirty="0" smtClean="0"/>
              <a:t>to </a:t>
            </a:r>
            <a:r>
              <a:rPr lang="en-US" sz="1800" dirty="0"/>
              <a:t>recognize complex lines in photographs</a:t>
            </a:r>
            <a:r>
              <a:rPr lang="en-US" sz="1800" dirty="0" smtClean="0"/>
              <a:t>.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For the Hough Transform algorithm, it is crucial to perform edge detection first to produce an edge image which will then be used as input into the algorithm</a:t>
            </a:r>
            <a:r>
              <a:rPr lang="en-US" sz="18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The purpose of the technique is to find imperfect instances of objects within a certain class of shapes by a voting procedure. </a:t>
            </a:r>
            <a:endParaRPr lang="en-US" sz="1800" dirty="0" smtClean="0"/>
          </a:p>
          <a:p>
            <a:pPr>
              <a:lnSpc>
                <a:spcPct val="150000"/>
              </a:lnSpc>
            </a:pPr>
            <a:r>
              <a:rPr lang="en-US" sz="1800" dirty="0"/>
              <a:t>Now day, the Hough transform has been extended to identifying positions of arbitrary shapes, most commonly circles or ellipses.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2000419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491490" y="592772"/>
            <a:ext cx="8229600" cy="1083628"/>
          </a:xfrm>
        </p:spPr>
        <p:txBody>
          <a:bodyPr/>
          <a:lstStyle/>
          <a:p>
            <a:r>
              <a:rPr lang="vi-VN" sz="4000" dirty="0" smtClean="0"/>
              <a:t>Line detection</a:t>
            </a:r>
            <a:br>
              <a:rPr lang="vi-VN" sz="4000" dirty="0" smtClean="0"/>
            </a:br>
            <a:r>
              <a:rPr lang="vi-VN" sz="4000" dirty="0" smtClean="0"/>
              <a:t>- </a:t>
            </a:r>
            <a:r>
              <a:rPr lang="en-US" sz="4000" b="0" dirty="0"/>
              <a:t>Hough transform 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799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dirty="0" smtClean="0"/>
              <a:t>Each </a:t>
            </a:r>
            <a:r>
              <a:rPr lang="en-US" sz="1800" dirty="0"/>
              <a:t>edge point votes for </a:t>
            </a:r>
            <a:r>
              <a:rPr lang="en-US" sz="1800" i="1" dirty="0"/>
              <a:t>all </a:t>
            </a:r>
            <a:r>
              <a:rPr lang="en-US" sz="1800" dirty="0"/>
              <a:t>possible lines passing through it, and lines corresponding to high </a:t>
            </a:r>
            <a:r>
              <a:rPr lang="en-US" sz="1800" i="1" dirty="0"/>
              <a:t>accumulator </a:t>
            </a:r>
            <a:r>
              <a:rPr lang="en-US" sz="1800" dirty="0"/>
              <a:t>or </a:t>
            </a:r>
            <a:r>
              <a:rPr lang="en-US" sz="1800" i="1" dirty="0"/>
              <a:t>bin </a:t>
            </a:r>
            <a:r>
              <a:rPr lang="en-US" sz="1800" dirty="0"/>
              <a:t>values are examined for potential line </a:t>
            </a:r>
            <a:r>
              <a:rPr lang="en-US" sz="1800" dirty="0" smtClean="0"/>
              <a:t>fits</a:t>
            </a:r>
            <a:endParaRPr lang="en-US" sz="1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42" y="3124200"/>
            <a:ext cx="7785253" cy="308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233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491490" y="592772"/>
            <a:ext cx="8229600" cy="1083628"/>
          </a:xfrm>
        </p:spPr>
        <p:txBody>
          <a:bodyPr/>
          <a:lstStyle/>
          <a:p>
            <a:r>
              <a:rPr lang="vi-VN" sz="4000" dirty="0" smtClean="0"/>
              <a:t>Line detection</a:t>
            </a:r>
            <a:br>
              <a:rPr lang="vi-VN" sz="4000" dirty="0" smtClean="0"/>
            </a:br>
            <a:r>
              <a:rPr lang="vi-VN" sz="4000" dirty="0" smtClean="0"/>
              <a:t>- </a:t>
            </a:r>
            <a:r>
              <a:rPr lang="en-US" sz="4000" b="0" dirty="0"/>
              <a:t>Hough transform 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1752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dirty="0"/>
              <a:t>Before we can vote for line hypotheses, we must first choose a suitable representation </a:t>
            </a:r>
            <a:endParaRPr lang="en-US" sz="1800" dirty="0" smtClean="0"/>
          </a:p>
          <a:p>
            <a:pPr>
              <a:lnSpc>
                <a:spcPct val="150000"/>
              </a:lnSpc>
            </a:pPr>
            <a:r>
              <a:rPr lang="en-US" sz="1800" dirty="0"/>
              <a:t>T</a:t>
            </a:r>
            <a:r>
              <a:rPr lang="en-US" sz="1800" dirty="0" smtClean="0"/>
              <a:t>he </a:t>
            </a:r>
            <a:r>
              <a:rPr lang="en-US" sz="1800" dirty="0" smtClean="0"/>
              <a:t>normal-distance          parameterization </a:t>
            </a:r>
            <a:r>
              <a:rPr lang="en-US" sz="1800" dirty="0"/>
              <a:t>for a line. </a:t>
            </a:r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3276600"/>
            <a:ext cx="3505200" cy="1978690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57200" y="3200400"/>
            <a:ext cx="4419600" cy="315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80000"/>
              <a:buFont typeface="Wingdings" pitchFamily="2" charset="2"/>
              <a:buChar char="l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800" dirty="0"/>
              <a:t>To obtain a minimal two-parameter representation for lines, we convert the normal vector into an angle </a:t>
            </a:r>
          </a:p>
          <a:p>
            <a:pPr>
              <a:lnSpc>
                <a:spcPct val="150000"/>
              </a:lnSpc>
            </a:pPr>
            <a:endParaRPr lang="en-US" sz="1800" dirty="0" smtClean="0"/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702" y="4778375"/>
            <a:ext cx="2362199" cy="609601"/>
          </a:xfrm>
          <a:prstGeom prst="rect">
            <a:avLst/>
          </a:prstGeom>
        </p:spPr>
      </p:pic>
      <p:pic>
        <p:nvPicPr>
          <p:cNvPr id="2" name="Picture 1" descr="\documentclass{article}&#10;\usepackage{amsmath}&#10;\usepackage{amssymb}&#10;\newcommand{\vect}[1]{\boldsymbol{#1}}&#10;\newcommand{\matr}[1]{\boldsymbol{#1}}&#10;\newcommand{\gset}[1]{\mathbb{#1}}&#10;\pagestyle{empty}&#10;&#10;\begin{document}&#10;\begin{equation*}&#10;(\hat{n}, d)&#10;\end{equation*}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743200"/>
            <a:ext cx="488229" cy="22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97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491490" y="592772"/>
            <a:ext cx="8229600" cy="1083628"/>
          </a:xfrm>
        </p:spPr>
        <p:txBody>
          <a:bodyPr/>
          <a:lstStyle/>
          <a:p>
            <a:r>
              <a:rPr lang="vi-VN" sz="4000" dirty="0" smtClean="0"/>
              <a:t>Line detection</a:t>
            </a:r>
            <a:br>
              <a:rPr lang="vi-VN" sz="4000" dirty="0" smtClean="0"/>
            </a:br>
            <a:r>
              <a:rPr lang="vi-VN" sz="4000" dirty="0" smtClean="0"/>
              <a:t>- </a:t>
            </a:r>
            <a:r>
              <a:rPr lang="en-US" sz="4000" b="0" dirty="0"/>
              <a:t>Hough transform 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14273"/>
            <a:ext cx="8229600" cy="3604204"/>
          </a:xfrm>
        </p:spPr>
      </p:pic>
    </p:spTree>
    <p:extLst>
      <p:ext uri="{BB962C8B-B14F-4D97-AF65-F5344CB8AC3E}">
        <p14:creationId xmlns:p14="http://schemas.microsoft.com/office/powerpoint/2010/main" val="2077486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491490" y="592772"/>
            <a:ext cx="8229600" cy="1083628"/>
          </a:xfrm>
        </p:spPr>
        <p:txBody>
          <a:bodyPr/>
          <a:lstStyle/>
          <a:p>
            <a:r>
              <a:rPr lang="vi-VN" sz="4000" dirty="0"/>
              <a:t>Line detection</a:t>
            </a:r>
            <a:br>
              <a:rPr lang="vi-VN" sz="4000" dirty="0"/>
            </a:br>
            <a:r>
              <a:rPr lang="vi-VN" sz="4000" dirty="0"/>
              <a:t>- </a:t>
            </a:r>
            <a:r>
              <a:rPr lang="en-US" sz="4000" b="0" dirty="0"/>
              <a:t>Hough transform </a:t>
            </a:r>
            <a:endParaRPr lang="en-US" sz="4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90" y="1993556"/>
            <a:ext cx="8458200" cy="395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63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491490" y="592772"/>
            <a:ext cx="8229600" cy="1083628"/>
          </a:xfrm>
        </p:spPr>
        <p:txBody>
          <a:bodyPr/>
          <a:lstStyle/>
          <a:p>
            <a:r>
              <a:rPr lang="vi-VN" sz="4000" dirty="0" smtClean="0"/>
              <a:t>Line detection</a:t>
            </a:r>
            <a:br>
              <a:rPr lang="vi-VN" sz="4000" dirty="0" smtClean="0"/>
            </a:br>
            <a:r>
              <a:rPr lang="vi-VN" sz="4000" dirty="0" smtClean="0"/>
              <a:t>- </a:t>
            </a:r>
            <a:r>
              <a:rPr lang="vi-VN" sz="4000" b="0" dirty="0" smtClean="0"/>
              <a:t>Convolution based technique</a:t>
            </a:r>
            <a:endParaRPr lang="en-US" sz="4000" b="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981199"/>
            <a:ext cx="8229600" cy="47402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dirty="0"/>
              <a:t>A convolution-based technique that produces an image description of the thin lines in an input image</a:t>
            </a:r>
          </a:p>
          <a:p>
            <a:pPr>
              <a:lnSpc>
                <a:spcPct val="150000"/>
              </a:lnSpc>
            </a:pPr>
            <a:r>
              <a:rPr lang="en-US" sz="1800" dirty="0" smtClean="0"/>
              <a:t>In </a:t>
            </a:r>
            <a:r>
              <a:rPr lang="en-US" sz="1800" dirty="0"/>
              <a:t>a convolution-based technique, the line detector operator consists of a convolution mask tuned to detect the presence of lines of a particular width n and a </a:t>
            </a:r>
            <a:r>
              <a:rPr lang="en-US" sz="1800" dirty="0" err="1"/>
              <a:t>θ</a:t>
            </a:r>
            <a:r>
              <a:rPr lang="en-US" sz="1800" dirty="0"/>
              <a:t> </a:t>
            </a:r>
            <a:r>
              <a:rPr lang="en-US" sz="1800" dirty="0" smtClean="0"/>
              <a:t>orientation</a:t>
            </a:r>
          </a:p>
          <a:p>
            <a:pPr>
              <a:lnSpc>
                <a:spcPct val="150000"/>
              </a:lnSpc>
            </a:pPr>
            <a:r>
              <a:rPr lang="en-US" sz="1800" dirty="0" smtClean="0"/>
              <a:t>F</a:t>
            </a:r>
            <a:r>
              <a:rPr lang="en-US" sz="1800" dirty="0"/>
              <a:t>our convolution </a:t>
            </a:r>
            <a:r>
              <a:rPr lang="en-US" sz="1800" dirty="0" smtClean="0"/>
              <a:t>masks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detect horizontal </a:t>
            </a:r>
            <a:r>
              <a:rPr lang="en-US" sz="1800" dirty="0" smtClean="0"/>
              <a:t>lines</a:t>
            </a:r>
          </a:p>
          <a:p>
            <a:pPr lvl="1">
              <a:lnSpc>
                <a:spcPct val="150000"/>
              </a:lnSpc>
            </a:pPr>
            <a:r>
              <a:rPr lang="en-US" sz="1800" dirty="0" smtClean="0"/>
              <a:t>detect </a:t>
            </a:r>
            <a:r>
              <a:rPr lang="en-US" sz="1800" dirty="0"/>
              <a:t>vertical </a:t>
            </a:r>
            <a:r>
              <a:rPr lang="en-US" sz="1800" dirty="0" smtClean="0"/>
              <a:t>lines</a:t>
            </a:r>
          </a:p>
          <a:p>
            <a:pPr lvl="1">
              <a:lnSpc>
                <a:spcPct val="150000"/>
              </a:lnSpc>
            </a:pPr>
            <a:r>
              <a:rPr lang="en-US" sz="1800" dirty="0" smtClean="0"/>
              <a:t>detect </a:t>
            </a:r>
            <a:r>
              <a:rPr lang="en-US" sz="1800" dirty="0"/>
              <a:t>oblique (+45 degrees) </a:t>
            </a:r>
            <a:r>
              <a:rPr lang="en-US" sz="1800" dirty="0" smtClean="0"/>
              <a:t>lines</a:t>
            </a:r>
          </a:p>
          <a:p>
            <a:pPr lvl="1">
              <a:lnSpc>
                <a:spcPct val="150000"/>
              </a:lnSpc>
            </a:pPr>
            <a:r>
              <a:rPr lang="en-US" sz="1800" dirty="0" smtClean="0"/>
              <a:t>detect </a:t>
            </a:r>
            <a:r>
              <a:rPr lang="en-US" sz="1800" dirty="0"/>
              <a:t>oblique (−45 degrees) lines</a:t>
            </a:r>
            <a:endParaRPr lang="en-US" sz="1800" dirty="0" smtClean="0"/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41148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491490" y="592772"/>
            <a:ext cx="8229600" cy="1083628"/>
          </a:xfrm>
        </p:spPr>
        <p:txBody>
          <a:bodyPr/>
          <a:lstStyle/>
          <a:p>
            <a:r>
              <a:rPr lang="vi-VN" sz="4000" dirty="0" smtClean="0"/>
              <a:t>Line detection</a:t>
            </a:r>
            <a:br>
              <a:rPr lang="vi-VN" sz="4000" dirty="0" smtClean="0"/>
            </a:br>
            <a:r>
              <a:rPr lang="vi-VN" sz="4000" dirty="0" smtClean="0"/>
              <a:t>- </a:t>
            </a:r>
            <a:r>
              <a:rPr lang="vi-VN" sz="4000" b="0" dirty="0" smtClean="0"/>
              <a:t>Convolution based technique</a:t>
            </a:r>
            <a:endParaRPr lang="en-US" sz="4000" b="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301039"/>
              </p:ext>
            </p:extLst>
          </p:nvPr>
        </p:nvGraphicFramePr>
        <p:xfrm>
          <a:off x="1447800" y="2438400"/>
          <a:ext cx="16764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172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81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81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-1</a:t>
                      </a:r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-1</a:t>
                      </a:r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-1</a:t>
                      </a:r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102829"/>
              </p:ext>
            </p:extLst>
          </p:nvPr>
        </p:nvGraphicFramePr>
        <p:xfrm>
          <a:off x="5029200" y="2464106"/>
          <a:ext cx="16764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172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81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81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-1</a:t>
                      </a:r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-1</a:t>
                      </a:r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226057"/>
              </p:ext>
            </p:extLst>
          </p:nvPr>
        </p:nvGraphicFramePr>
        <p:xfrm>
          <a:off x="1447800" y="4648200"/>
          <a:ext cx="16764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172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81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81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-1</a:t>
                      </a:r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-1</a:t>
                      </a:r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059479"/>
              </p:ext>
            </p:extLst>
          </p:nvPr>
        </p:nvGraphicFramePr>
        <p:xfrm>
          <a:off x="5029200" y="4648200"/>
          <a:ext cx="16764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172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81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81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-1</a:t>
                      </a:r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-1</a:t>
                      </a:r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2056215"/>
            <a:ext cx="2287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Horizontal mask(R1)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76426" y="2043362"/>
            <a:ext cx="1454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Vertical (R3)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278868"/>
            <a:ext cx="2935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Oblique (+45 degrees)(R2)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703" y="4203184"/>
            <a:ext cx="2935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Oblique (−45 degrees)(R4)</a:t>
            </a:r>
          </a:p>
        </p:txBody>
      </p:sp>
    </p:spTree>
    <p:extLst>
      <p:ext uri="{BB962C8B-B14F-4D97-AF65-F5344CB8AC3E}">
        <p14:creationId xmlns:p14="http://schemas.microsoft.com/office/powerpoint/2010/main" val="6939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491490" y="592772"/>
            <a:ext cx="8229600" cy="1083628"/>
          </a:xfrm>
        </p:spPr>
        <p:txBody>
          <a:bodyPr/>
          <a:lstStyle/>
          <a:p>
            <a:r>
              <a:rPr lang="vi-VN" sz="4000" dirty="0" smtClean="0"/>
              <a:t>Line detection</a:t>
            </a:r>
            <a:br>
              <a:rPr lang="vi-VN" sz="4000" dirty="0" smtClean="0"/>
            </a:br>
            <a:r>
              <a:rPr lang="vi-VN" sz="4000" dirty="0" smtClean="0"/>
              <a:t>- </a:t>
            </a:r>
            <a:r>
              <a:rPr lang="vi-VN" sz="4000" b="0" dirty="0" smtClean="0"/>
              <a:t>Convolution based technique</a:t>
            </a:r>
            <a:endParaRPr lang="en-US" sz="4000" b="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981199"/>
            <a:ext cx="8229600" cy="47402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These masks above are tuned for light lines against a dark background, and would give a big negative response to dark lines against a light </a:t>
            </a:r>
            <a:r>
              <a:rPr lang="en-US" sz="2000" dirty="0" smtClean="0"/>
              <a:t>background.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If </a:t>
            </a:r>
            <a:r>
              <a:rPr lang="en-US" sz="2000" dirty="0"/>
              <a:t>you are only interested in detecting dark lines against a light background, then you should negate the mask values. </a:t>
            </a:r>
            <a:endParaRPr lang="en-US" sz="2000" dirty="0" smtClean="0"/>
          </a:p>
          <a:p>
            <a:pPr>
              <a:lnSpc>
                <a:spcPct val="150000"/>
              </a:lnSpc>
            </a:pPr>
            <a:r>
              <a:rPr lang="en-US" sz="2000" dirty="0" smtClean="0"/>
              <a:t>Alternatively</a:t>
            </a:r>
            <a:r>
              <a:rPr lang="en-US" sz="2000" dirty="0"/>
              <a:t>, you might be interested in either kind of line, in which case, you could take the absolute value of the convolution output. 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748806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491490" y="592772"/>
            <a:ext cx="8229600" cy="1083628"/>
          </a:xfrm>
        </p:spPr>
        <p:txBody>
          <a:bodyPr/>
          <a:lstStyle/>
          <a:p>
            <a:r>
              <a:rPr lang="vi-VN" sz="4000" dirty="0" smtClean="0"/>
              <a:t>Line detection</a:t>
            </a:r>
            <a:br>
              <a:rPr lang="vi-VN" sz="4000" dirty="0" smtClean="0"/>
            </a:br>
            <a:r>
              <a:rPr lang="vi-VN" sz="4000" dirty="0" smtClean="0"/>
              <a:t>- </a:t>
            </a:r>
            <a:r>
              <a:rPr lang="vi-VN" sz="4000" b="0" dirty="0" smtClean="0"/>
              <a:t>Convolution based technique</a:t>
            </a:r>
            <a:endParaRPr lang="en-US" sz="4000" b="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981199"/>
            <a:ext cx="8229600" cy="47402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If </a:t>
            </a:r>
            <a:r>
              <a:rPr lang="en-US" sz="2000" dirty="0" err="1"/>
              <a:t>Ri</a:t>
            </a:r>
            <a:r>
              <a:rPr lang="en-US" sz="2000" dirty="0"/>
              <a:t> denotes the response of kernel </a:t>
            </a:r>
            <a:r>
              <a:rPr lang="en-US" sz="2000" dirty="0" err="1"/>
              <a:t>i</a:t>
            </a:r>
            <a:r>
              <a:rPr lang="en-US" sz="2000" dirty="0"/>
              <a:t>, we can apply each of these kernels across an image, and for any particular point, if </a:t>
            </a:r>
            <a:r>
              <a:rPr lang="en-US" sz="2000" dirty="0" err="1"/>
              <a:t>Ri</a:t>
            </a:r>
            <a:r>
              <a:rPr lang="en-US" sz="2000" dirty="0"/>
              <a:t>&gt;</a:t>
            </a:r>
            <a:r>
              <a:rPr lang="en-US" sz="2000" dirty="0" err="1"/>
              <a:t>Rj</a:t>
            </a:r>
            <a:r>
              <a:rPr lang="en-US" sz="2000" dirty="0"/>
              <a:t> for all </a:t>
            </a:r>
            <a:r>
              <a:rPr lang="en-US" sz="2000" dirty="0" err="1"/>
              <a:t>i</a:t>
            </a:r>
            <a:r>
              <a:rPr lang="en-US" sz="2000" dirty="0"/>
              <a:t> # j that point is more likely to contain a line whose orientation (and width) corresponds to that of kernel </a:t>
            </a:r>
            <a:r>
              <a:rPr lang="en-US" sz="2000" dirty="0" err="1"/>
              <a:t>i</a:t>
            </a:r>
            <a:r>
              <a:rPr lang="en-US" sz="2000" dirty="0"/>
              <a:t>. </a:t>
            </a:r>
            <a:endParaRPr lang="en-US" sz="2000" dirty="0" smtClean="0"/>
          </a:p>
          <a:p>
            <a:pPr>
              <a:lnSpc>
                <a:spcPct val="150000"/>
              </a:lnSpc>
            </a:pPr>
            <a:r>
              <a:rPr lang="en-US" sz="2000" dirty="0" smtClean="0"/>
              <a:t>One </a:t>
            </a:r>
            <a:r>
              <a:rPr lang="en-US" sz="2000" dirty="0"/>
              <a:t>usually thresholds </a:t>
            </a:r>
            <a:r>
              <a:rPr lang="en-US" sz="2000" dirty="0" err="1"/>
              <a:t>Ri</a:t>
            </a:r>
            <a:r>
              <a:rPr lang="en-US" sz="2000" dirty="0"/>
              <a:t> to eliminate weak lines corresponding to edges and other features with intensity gradients that have a different scale than the desired line width. </a:t>
            </a:r>
            <a:endParaRPr lang="en-US" sz="2000" dirty="0" smtClean="0"/>
          </a:p>
          <a:p>
            <a:pPr>
              <a:lnSpc>
                <a:spcPct val="150000"/>
              </a:lnSpc>
            </a:pPr>
            <a:r>
              <a:rPr lang="en-US" sz="2000" dirty="0" smtClean="0"/>
              <a:t>In </a:t>
            </a:r>
            <a:r>
              <a:rPr lang="en-US" sz="2000" dirty="0"/>
              <a:t>order to find complete lines, one must join together line fragments, e.g., with an edge tracking operator.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376035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497382" y="90799"/>
            <a:ext cx="8229600" cy="1083628"/>
          </a:xfrm>
        </p:spPr>
        <p:txBody>
          <a:bodyPr/>
          <a:lstStyle/>
          <a:p>
            <a:r>
              <a:rPr lang="vi-VN" sz="4000" dirty="0" smtClean="0"/>
              <a:t>Line detection</a:t>
            </a:r>
            <a:br>
              <a:rPr lang="vi-VN" sz="4000" dirty="0" smtClean="0"/>
            </a:br>
            <a:r>
              <a:rPr lang="vi-VN" sz="4000" dirty="0" smtClean="0"/>
              <a:t>- </a:t>
            </a:r>
            <a:r>
              <a:rPr lang="vi-VN" sz="4000" b="0" dirty="0" smtClean="0"/>
              <a:t>Convolution based technique</a:t>
            </a:r>
            <a:endParaRPr lang="en-US" sz="4000" b="0" dirty="0"/>
          </a:p>
        </p:txBody>
      </p:sp>
      <p:sp>
        <p:nvSpPr>
          <p:cNvPr id="5" name="TextBox 4"/>
          <p:cNvSpPr txBox="1"/>
          <p:nvPr/>
        </p:nvSpPr>
        <p:spPr>
          <a:xfrm>
            <a:off x="3825486" y="1174427"/>
            <a:ext cx="1672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Original </a:t>
            </a:r>
            <a:r>
              <a:rPr lang="vi-VN" dirty="0" smtClean="0"/>
              <a:t>image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550645" y="3781984"/>
            <a:ext cx="2544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oblique 135 </a:t>
            </a:r>
            <a:r>
              <a:rPr lang="en-US" dirty="0" smtClean="0"/>
              <a:t>degree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96095" y="3878919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vertical kernel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1993" y="3892153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oblique 45 degree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7767" y="1482090"/>
            <a:ext cx="1868831" cy="224442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99" y="4203184"/>
            <a:ext cx="1862404" cy="22444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612" y="4248251"/>
            <a:ext cx="1868831" cy="22339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7396" y="4199644"/>
            <a:ext cx="1865207" cy="225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28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491490" y="592772"/>
            <a:ext cx="8229600" cy="1159828"/>
          </a:xfrm>
        </p:spPr>
        <p:txBody>
          <a:bodyPr/>
          <a:lstStyle/>
          <a:p>
            <a:r>
              <a:rPr lang="en-US" sz="4000" i="1" dirty="0"/>
              <a:t>Application</a:t>
            </a:r>
            <a:r>
              <a:rPr lang="en-US" sz="4000"/>
              <a:t>: </a:t>
            </a:r>
            <a:r>
              <a:rPr lang="en-US" sz="4000" b="0"/>
              <a:t>Rectangle </a:t>
            </a:r>
            <a:r>
              <a:rPr lang="en-US" sz="4000" b="0" smtClean="0"/>
              <a:t>detection</a:t>
            </a:r>
            <a:endParaRPr lang="en-US" sz="40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56" y="1600200"/>
            <a:ext cx="7107888" cy="4525963"/>
          </a:xfrm>
        </p:spPr>
      </p:pic>
    </p:spTree>
    <p:extLst>
      <p:ext uri="{BB962C8B-B14F-4D97-AF65-F5344CB8AC3E}">
        <p14:creationId xmlns:p14="http://schemas.microsoft.com/office/powerpoint/2010/main" val="207621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1143000"/>
          </a:xfrm>
        </p:spPr>
        <p:txBody>
          <a:bodyPr/>
          <a:lstStyle/>
          <a:p>
            <a:r>
              <a:rPr lang="en-US" sz="4000" dirty="0"/>
              <a:t>Summary</a:t>
            </a:r>
          </a:p>
        </p:txBody>
      </p:sp>
      <p:sp>
        <p:nvSpPr>
          <p:cNvPr id="4101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ClrTx/>
              <a:buSzTx/>
              <a:buFont typeface="Arial" charset="0"/>
              <a:buChar char="•"/>
            </a:pPr>
            <a:r>
              <a:rPr lang="en-US" sz="2800" dirty="0">
                <a:latin typeface="Calibri" charset="0"/>
                <a:ea typeface="Calibri" charset="0"/>
                <a:cs typeface="Calibri" charset="0"/>
              </a:rPr>
              <a:t>Learn the basics of Line Detection</a:t>
            </a:r>
          </a:p>
          <a:p>
            <a:pPr>
              <a:lnSpc>
                <a:spcPct val="150000"/>
              </a:lnSpc>
              <a:buClrTx/>
              <a:buSzTx/>
              <a:buFont typeface="Arial" charset="0"/>
              <a:buChar char="•"/>
            </a:pPr>
            <a:r>
              <a:rPr lang="en-US" sz="2800" dirty="0">
                <a:latin typeface="Calibri" charset="0"/>
                <a:ea typeface="Calibri" charset="0"/>
                <a:cs typeface="Calibri" charset="0"/>
              </a:rPr>
              <a:t>Learn </a:t>
            </a:r>
            <a:r>
              <a:rPr lang="vi-VN" sz="2800" dirty="0">
                <a:latin typeface="Calibri" charset="0"/>
                <a:ea typeface="Calibri" charset="0"/>
                <a:cs typeface="Calibri" charset="0"/>
              </a:rPr>
              <a:t>t</a:t>
            </a:r>
            <a:r>
              <a:rPr lang="en-US" sz="2800" dirty="0">
                <a:latin typeface="Calibri" charset="0"/>
                <a:ea typeface="Calibri" charset="0"/>
                <a:cs typeface="Calibri" charset="0"/>
              </a:rPr>
              <a:t>he most popular line detectors: Hough transform.</a:t>
            </a:r>
          </a:p>
          <a:p>
            <a:pPr>
              <a:lnSpc>
                <a:spcPct val="150000"/>
              </a:lnSpc>
              <a:buClrTx/>
              <a:buSzTx/>
              <a:buFont typeface="Arial" charset="0"/>
              <a:buChar char="•"/>
            </a:pPr>
            <a:r>
              <a:rPr lang="en-US" sz="2800" dirty="0">
                <a:latin typeface="Calibri" charset="0"/>
                <a:ea typeface="Calibri" charset="0"/>
                <a:cs typeface="Calibri" charset="0"/>
              </a:rPr>
              <a:t>Learn the application of convolution-based techniques in line detection</a:t>
            </a:r>
          </a:p>
          <a:p>
            <a:pPr>
              <a:lnSpc>
                <a:spcPct val="150000"/>
              </a:lnSpc>
              <a:buClrTx/>
              <a:buSzTx/>
              <a:buFont typeface="Arial" charset="0"/>
              <a:buChar char="•"/>
            </a:pPr>
            <a:r>
              <a:rPr lang="en-US" sz="2800">
                <a:latin typeface="Calibri" charset="0"/>
                <a:ea typeface="Calibri" charset="0"/>
                <a:cs typeface="Calibri" charset="0"/>
              </a:rPr>
              <a:t>Applications of line detection in image processing</a:t>
            </a:r>
            <a:endParaRPr lang="en-US" sz="28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502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66.9666"/>
  <p:tag name="LATEXADDIN" val="\documentclass{article}&#10;\usepackage{amsmath}&#10;\usepackage{amssymb}&#10;\newcommand{\vect}[1]{\boldsymbol{#1}}&#10;\newcommand{\matr}[1]{\boldsymbol{#1}}&#10;\newcommand{\gset}[1]{\mathbb{#1}}&#10;\pagestyle{empty}&#10;&#10;\begin{document}&#10;\begin{equation*}&#10;(\hat{n}, d)&#10;\end{equation*}&#10;&#10;&#10;\end{document}"/>
  <p:tag name="IGUANATEXSIZE" val="18"/>
  <p:tag name="IGUANATEXCURSOR" val="23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5276</TotalTime>
  <Words>989</Words>
  <Application>Microsoft Office PowerPoint</Application>
  <PresentationFormat>On-screen Show (4:3)</PresentationFormat>
  <Paragraphs>124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Office Theme</vt:lpstr>
      <vt:lpstr>Feature detection and matching  - Lines</vt:lpstr>
      <vt:lpstr>Objectives</vt:lpstr>
      <vt:lpstr>What is Line detection?</vt:lpstr>
      <vt:lpstr>Line detection Steps</vt:lpstr>
      <vt:lpstr>Line detection - Hough transform </vt:lpstr>
      <vt:lpstr>Line detection - Hough transform </vt:lpstr>
      <vt:lpstr>Line detection - Hough transform </vt:lpstr>
      <vt:lpstr>Line detection - Hough transform </vt:lpstr>
      <vt:lpstr>Line detection - Hough transform </vt:lpstr>
      <vt:lpstr>Line detection - Convolution based technique</vt:lpstr>
      <vt:lpstr>Line detection - Convolution based technique</vt:lpstr>
      <vt:lpstr>Line detection - Convolution based technique</vt:lpstr>
      <vt:lpstr>Line detection - Convolution based technique</vt:lpstr>
      <vt:lpstr>Line detection - Convolution based technique</vt:lpstr>
      <vt:lpstr>Application: Rectangle detection</vt:lpstr>
      <vt:lpstr>Summary</vt:lpstr>
    </vt:vector>
  </TitlesOfParts>
  <Company>FPT-Uni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 Java- Introduction</dc:title>
  <dc:creator>DuyDT</dc:creator>
  <cp:lastModifiedBy>Quoc Trinh Vo</cp:lastModifiedBy>
  <cp:revision>676</cp:revision>
  <dcterms:created xsi:type="dcterms:W3CDTF">2007-08-21T04:43:22Z</dcterms:created>
  <dcterms:modified xsi:type="dcterms:W3CDTF">2023-05-31T02:22:09Z</dcterms:modified>
</cp:coreProperties>
</file>