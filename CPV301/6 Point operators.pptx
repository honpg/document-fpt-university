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31" r:id="rId1"/>
  </p:sldMasterIdLst>
  <p:notesMasterIdLst>
    <p:notesMasterId r:id="rId18"/>
  </p:notesMasterIdLst>
  <p:handoutMasterIdLst>
    <p:handoutMasterId r:id="rId19"/>
  </p:handoutMasterIdLst>
  <p:sldIdLst>
    <p:sldId id="439" r:id="rId2"/>
    <p:sldId id="440" r:id="rId3"/>
    <p:sldId id="517" r:id="rId4"/>
    <p:sldId id="558" r:id="rId5"/>
    <p:sldId id="548" r:id="rId6"/>
    <p:sldId id="532" r:id="rId7"/>
    <p:sldId id="549" r:id="rId8"/>
    <p:sldId id="550" r:id="rId9"/>
    <p:sldId id="551" r:id="rId10"/>
    <p:sldId id="552" r:id="rId11"/>
    <p:sldId id="553" r:id="rId12"/>
    <p:sldId id="554" r:id="rId13"/>
    <p:sldId id="555" r:id="rId14"/>
    <p:sldId id="556" r:id="rId15"/>
    <p:sldId id="557" r:id="rId16"/>
    <p:sldId id="476" r:id="rId1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63" autoAdjust="0"/>
    <p:restoredTop sz="86270" autoAdjust="0"/>
  </p:normalViewPr>
  <p:slideViewPr>
    <p:cSldViewPr>
      <p:cViewPr varScale="1">
        <p:scale>
          <a:sx n="72" d="100"/>
          <a:sy n="72" d="100"/>
        </p:scale>
        <p:origin x="159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886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1A1E54-5B88-4DCC-8136-E426A019C818}" type="datetimeFigureOut">
              <a:rPr lang="en-US" smtClean="0"/>
              <a:pPr/>
              <a:t>10/01/2024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03DD3B-01CD-45B6-8030-679E494C59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306945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FE854831-01EB-409C-BAD6-09AACD654632}" type="datetimeFigureOut">
              <a:rPr lang="en-US"/>
              <a:pPr>
                <a:defRPr/>
              </a:pPr>
              <a:t>10/01/2024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2D8747BF-E32F-4C5D-BB9D-96B7E3B67EA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18937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747BF-E32F-4C5D-BB9D-96B7E3B67EAC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7552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747BF-E32F-4C5D-BB9D-96B7E3B67EAC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045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mỗi</a:t>
            </a:r>
            <a:r>
              <a:rPr lang="en-US" dirty="0"/>
              <a:t> pixel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cường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sáng</a:t>
            </a:r>
            <a:endParaRPr lang="en-US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747BF-E32F-4C5D-BB9D-96B7E3B67EAC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5225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 local image processing operations: (a) original image along with its three color (per-channel) histograms; (b) brightness increased (additive offset, b = 16); (c) contrast increased (multiplicative gain, a = 1.1); (d) gamma (partially) linearized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1.2); (e) full histogram equalization; (f) partial histogram equalization.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747BF-E32F-4C5D-BB9D-96B7E3B67EAC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8586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a) original image; (c) grid of numbers; (d) surface plot. For figures (c)–(d), the image was first converted to grayscale. </a:t>
            </a:r>
            <a:endParaRPr lang="en-US" dirty="0"/>
          </a:p>
          <a:p>
            <a:r>
              <a:rPr lang="en-US" dirty="0"/>
              <a:t>H</a:t>
            </a:r>
            <a:r>
              <a:rPr lang="vi-VN" dirty="0"/>
              <a:t>ình dưới là 1 dạng của operator. Thực ra code by python có thể viết đơn giản là f*g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747BF-E32F-4C5D-BB9D-96B7E3B67EAC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9266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a)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original image;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(c) grid of numbers; (d) surface plot. For figures (c)–(d), the image was first converted to grayscale.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747BF-E32F-4C5D-BB9D-96B7E3B67EAC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3466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gamma value of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≈ 2.2 is a reasonable fit for most digital cameras.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747BF-E32F-4C5D-BB9D-96B7E3B67EAC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03884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gamma value of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γ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≈ 2.2 is a reasonable fit for most digital cameras. </a:t>
            </a:r>
            <a:endParaRPr lang="en-US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747BF-E32F-4C5D-BB9D-96B7E3B67EAC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0738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Image matting and compositing (Chuang,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Curless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Salesin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al.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2001) ⃝c 2001 IEEE: (a) source image; (b) extracted foreground object F; (c) alpha matte α shown in grayscale; (d) new composite C.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747BF-E32F-4C5D-BB9D-96B7E3B67EAC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9499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Image matting and compositing (Chuang,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Curless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Salesin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al.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2001) ⃝c 2001 IEEE: (a) source image; (b) extracted foreground object F; (c) alpha matte α shown in grayscale; (d) new composite C. </a:t>
            </a:r>
            <a:endParaRPr lang="en-US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747BF-E32F-4C5D-BB9D-96B7E3B67EAC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55053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747BF-E32F-4C5D-BB9D-96B7E3B67EAC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1716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gamma value of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γ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≈ 2.2 is a reasonable fit for most digital cameras. </a:t>
            </a:r>
            <a:endParaRPr lang="en-US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747BF-E32F-4C5D-BB9D-96B7E3B67EAC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3282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747BF-E32F-4C5D-BB9D-96B7E3B67EAC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4392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747BF-E32F-4C5D-BB9D-96B7E3B67EAC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93722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747BF-E32F-4C5D-BB9D-96B7E3B67EAC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831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458200" cy="1470025"/>
          </a:xfrm>
        </p:spPr>
        <p:txBody>
          <a:bodyPr/>
          <a:lstStyle>
            <a:lvl1pPr>
              <a:defRPr>
                <a:solidFill>
                  <a:srgbClr val="00206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002060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1524000" cy="228600"/>
          </a:xfrm>
        </p:spPr>
        <p:txBody>
          <a:bodyPr/>
          <a:lstStyle>
            <a:lvl1pPr>
              <a:defRPr>
                <a:solidFill>
                  <a:srgbClr val="00206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DE4B89B3-86BD-994C-B748-D7A3D4EC37A5}" type="datetime1">
              <a:rPr lang="en-US" smtClean="0"/>
              <a:t>10/01/2024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629400"/>
            <a:ext cx="4267200" cy="228600"/>
          </a:xfrm>
        </p:spPr>
        <p:txBody>
          <a:bodyPr/>
          <a:lstStyle>
            <a:lvl1pPr>
              <a:defRPr>
                <a:solidFill>
                  <a:srgbClr val="00206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dirty="0"/>
              <a:t>Session 02 - Learning the Java Language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20000" y="6629400"/>
            <a:ext cx="1066800" cy="228600"/>
          </a:xfrm>
        </p:spPr>
        <p:txBody>
          <a:bodyPr/>
          <a:lstStyle>
            <a:lvl1pPr>
              <a:defRPr>
                <a:solidFill>
                  <a:srgbClr val="00206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073B7A44-4BEB-4535-A06C-A1CE01569806}" type="slidenum">
              <a:rPr lang="en-US" smtClean="0"/>
              <a:pPr>
                <a:defRPr/>
              </a:pPr>
              <a:t>‹#›</a:t>
            </a:fld>
            <a:r>
              <a:rPr lang="en-US" dirty="0"/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3345707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tx2">
                  <a:lumMod val="60000"/>
                  <a:lumOff val="40000"/>
                </a:schemeClr>
              </a:buClr>
              <a:buSzPct val="80000"/>
              <a:buFont typeface="Wingdings" pitchFamily="2" charset="2"/>
              <a:buChar char="l"/>
              <a:defRPr>
                <a:latin typeface="Arial" pitchFamily="34" charset="0"/>
                <a:cs typeface="Arial" pitchFamily="34" charset="0"/>
              </a:defRPr>
            </a:lvl1pPr>
            <a:lvl2pPr>
              <a:defRPr>
                <a:latin typeface="Arial" pitchFamily="34" charset="0"/>
              </a:defRPr>
            </a:lvl2pPr>
            <a:lvl3pPr>
              <a:defRPr>
                <a:latin typeface="Arial" pitchFamily="34" charset="0"/>
              </a:defRPr>
            </a:lvl3pPr>
            <a:lvl4pPr>
              <a:defRPr>
                <a:latin typeface="Arial" pitchFamily="34" charset="0"/>
              </a:defRPr>
            </a:lvl4pPr>
            <a:lvl5pPr>
              <a:defRPr>
                <a:latin typeface="Arial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7918165A-FB6A-DC44-B512-264F8FEE2813}" type="datetime1">
              <a:rPr lang="en-US" smtClean="0"/>
              <a:t>10/01/2024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67000" y="6356350"/>
            <a:ext cx="3886200" cy="365125"/>
          </a:xfrm>
        </p:spPr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dirty="0"/>
              <a:t>Session 02 - Learning the Java Language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017F965C-3CEB-45B2-B97C-76AD457A2442}" type="slidenum">
              <a:rPr lang="en-US" smtClean="0"/>
              <a:pPr>
                <a:defRPr/>
              </a:pPr>
              <a:t>‹#›</a:t>
            </a:fld>
            <a:r>
              <a:rPr lang="en-US" dirty="0"/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3860978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604926-CB50-1F4D-BEC0-36B751162B29}" type="datetime1">
              <a:rPr lang="en-US" smtClean="0"/>
              <a:t>10/01/2024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Session 02 - Learning the Java Language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37CAB4-F23C-43F4-B686-8E1D365D3A45}" type="slidenum">
              <a:rPr lang="en-US"/>
              <a:pPr>
                <a:defRPr/>
              </a:pPr>
              <a:t>‹#›</a:t>
            </a:fld>
            <a:r>
              <a:rPr lang="en-US" dirty="0"/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223679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7F18B2-0244-4B4E-ADF6-2C3F9FF8A575}" type="datetime1">
              <a:rPr lang="en-US" smtClean="0"/>
              <a:t>10/01/2024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Session 02 - Learning the Java Language 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F97DB9-6F1F-4587-B4D8-7611A9895928}" type="slidenum">
              <a:rPr lang="en-US"/>
              <a:pPr>
                <a:defRPr/>
              </a:pPr>
              <a:t>‹#›</a:t>
            </a:fld>
            <a:r>
              <a:rPr lang="en-US" dirty="0"/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3318395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1BEE0-498E-B442-B812-3D881DCA4829}" type="datetime1">
              <a:rPr lang="en-US" smtClean="0"/>
              <a:t>10/01/2024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Session 02 - Learning the Java Language 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FEAE02-80AB-4832-B1BF-4E3BB3B6CC7E}" type="slidenum">
              <a:rPr lang="en-US"/>
              <a:pPr>
                <a:defRPr/>
              </a:pPr>
              <a:t>‹#›</a:t>
            </a:fld>
            <a:r>
              <a:rPr lang="en-US" dirty="0"/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1229378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A4DCA5-65A8-DE48-BCB8-5214AE91587B}" type="datetime1">
              <a:rPr lang="en-US" smtClean="0"/>
              <a:t>10/01/2024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Session 02 - Learning the Java Language 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0E600C-8C4E-4143-B853-68A70D9331C7}" type="slidenum">
              <a:rPr lang="en-US"/>
              <a:pPr>
                <a:defRPr/>
              </a:pPr>
              <a:t>‹#›</a:t>
            </a:fld>
            <a:r>
              <a:rPr lang="en-US" dirty="0"/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1438798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462433-7342-DC45-A5A6-A72BBA747833}" type="datetime1">
              <a:rPr lang="en-US" smtClean="0"/>
              <a:t>10/01/2024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Session 02 - Learning the Java Language 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14D644-7D5F-464F-ACE6-65B648A8CD0E}" type="slidenum">
              <a:rPr lang="en-US"/>
              <a:pPr>
                <a:defRPr/>
              </a:pPr>
              <a:t>‹#›</a:t>
            </a:fld>
            <a:r>
              <a:rPr lang="en-US" dirty="0"/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2051769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C807B3-5A51-2849-B2F9-B653474B27EE}" type="datetime1">
              <a:rPr lang="en-US" smtClean="0"/>
              <a:t>10/01/2024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Session 02 - Learning the Java Language 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417B27-8B09-402C-8D0C-F158C101AFFB}" type="slidenum">
              <a:rPr lang="en-US"/>
              <a:pPr>
                <a:defRPr/>
              </a:pPr>
              <a:t>‹#›</a:t>
            </a:fld>
            <a:r>
              <a:rPr lang="en-US" dirty="0"/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3325677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EC75DB-663C-7C43-B0CB-BB5559CB234A}" type="datetime1">
              <a:rPr lang="en-US" smtClean="0"/>
              <a:t>10/01/2024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Session 02 - Learning the Java Language 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5AB066-4475-48FE-A074-7E4CA38B9454}" type="slidenum">
              <a:rPr lang="en-US"/>
              <a:pPr>
                <a:defRPr/>
              </a:pPr>
              <a:t>‹#›</a:t>
            </a:fld>
            <a:r>
              <a:rPr lang="en-US" dirty="0"/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3289877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61E73E-9E56-3448-A550-2E6D3B5F094C}" type="datetime1">
              <a:rPr lang="en-US" smtClean="0"/>
              <a:t>10/01/2024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Session 02 - Learning the Java Language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54EB92-0B2B-4075-BCA3-94B886265CAF}" type="slidenum">
              <a:rPr lang="en-US"/>
              <a:pPr>
                <a:defRPr/>
              </a:pPr>
              <a:t>‹#›</a:t>
            </a:fld>
            <a:r>
              <a:rPr lang="en-US" dirty="0"/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894602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4399DC-AD06-4E42-8293-1699997516FD}" type="datetime1">
              <a:rPr lang="en-US" smtClean="0"/>
              <a:t>10/01/2024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Session 02 - Learning the Java Language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67E24A-A1FD-41D3-A0A4-2F7DDDF04A0B}" type="slidenum">
              <a:rPr lang="en-US"/>
              <a:pPr>
                <a:defRPr/>
              </a:pPr>
              <a:t>‹#›</a:t>
            </a:fld>
            <a:r>
              <a:rPr lang="en-US" dirty="0"/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2482979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5C92E067-DA86-E14F-8998-7D599056A17A}" type="datetime1">
              <a:rPr lang="en-US" smtClean="0"/>
              <a:t>10/01/2024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dirty="0"/>
              <a:t>Session 02 - Learning the Java Language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730B33F-D76C-4370-BF16-00D48C2939F7}" type="slidenum">
              <a:rPr lang="en-US" smtClean="0"/>
              <a:pPr>
                <a:defRPr/>
              </a:pPr>
              <a:t>‹#›</a:t>
            </a:fld>
            <a:r>
              <a:rPr lang="en-US" dirty="0"/>
              <a:t>/11</a:t>
            </a:r>
          </a:p>
        </p:txBody>
      </p:sp>
      <p:pic>
        <p:nvPicPr>
          <p:cNvPr id="1031" name="Picture 10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78105"/>
            <a:ext cx="1600200" cy="320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002060"/>
          </a:solidFill>
          <a:latin typeface="Arial" pitchFamily="34" charset="0"/>
          <a:ea typeface="+mj-ea"/>
          <a:cs typeface="Arial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Title 1"/>
          <p:cNvSpPr>
            <a:spLocks noGrp="1"/>
          </p:cNvSpPr>
          <p:nvPr>
            <p:ph type="ctrTitle"/>
          </p:nvPr>
        </p:nvSpPr>
        <p:spPr>
          <a:xfrm>
            <a:off x="304800" y="1676400"/>
            <a:ext cx="8534400" cy="2438400"/>
          </a:xfrm>
        </p:spPr>
        <p:txBody>
          <a:bodyPr/>
          <a:lstStyle/>
          <a:p>
            <a:pPr eaLnBrk="1" hangingPunct="1"/>
            <a:r>
              <a:rPr lang="vi-VN" dirty="0">
                <a:latin typeface="Arial" charset="0"/>
                <a:cs typeface="Arial" charset="0"/>
              </a:rPr>
              <a:t>Image processing</a:t>
            </a:r>
            <a:br>
              <a:rPr lang="vi-VN" dirty="0">
                <a:latin typeface="Arial" charset="0"/>
                <a:cs typeface="Arial" charset="0"/>
              </a:rPr>
            </a:br>
            <a:r>
              <a:rPr lang="vi-VN" dirty="0">
                <a:latin typeface="Arial" charset="0"/>
                <a:cs typeface="Arial" charset="0"/>
              </a:rPr>
              <a:t>- Point Operators</a:t>
            </a:r>
            <a:endParaRPr 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428212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Objectives</a:t>
            </a:r>
          </a:p>
        </p:txBody>
      </p:sp>
      <p:sp>
        <p:nvSpPr>
          <p:cNvPr id="3077" name="Rectangle 3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</p:spPr>
        <p:txBody>
          <a:bodyPr/>
          <a:lstStyle/>
          <a:p>
            <a:pPr>
              <a:buClrTx/>
              <a:buSzTx/>
              <a:buFont typeface="Arial" charset="0"/>
              <a:buChar char="•"/>
            </a:pPr>
            <a:r>
              <a:rPr lang="en-US" dirty="0">
                <a:latin typeface="Calibri" pitchFamily="34" charset="0"/>
              </a:rPr>
              <a:t>Learn </a:t>
            </a:r>
            <a:r>
              <a:rPr lang="vi-VN" dirty="0">
                <a:latin typeface="Calibri" pitchFamily="34" charset="0"/>
              </a:rPr>
              <a:t>Image processing</a:t>
            </a:r>
            <a:endParaRPr lang="en-US" dirty="0">
              <a:latin typeface="Calibri" pitchFamily="34" charset="0"/>
            </a:endParaRPr>
          </a:p>
          <a:p>
            <a:pPr>
              <a:buClrTx/>
              <a:buSzTx/>
              <a:buFont typeface="Arial" charset="0"/>
              <a:buChar char="•"/>
            </a:pPr>
            <a:r>
              <a:rPr lang="en-US" dirty="0">
                <a:latin typeface="Calibri" pitchFamily="34" charset="0"/>
              </a:rPr>
              <a:t>Image Arithmetic</a:t>
            </a:r>
          </a:p>
          <a:p>
            <a:pPr>
              <a:buClrTx/>
              <a:buSzTx/>
              <a:buFont typeface="Arial" charset="0"/>
              <a:buChar char="•"/>
            </a:pPr>
            <a:r>
              <a:rPr lang="en-US" dirty="0">
                <a:latin typeface="Calibri" pitchFamily="34" charset="0"/>
              </a:rPr>
              <a:t>Understand </a:t>
            </a:r>
            <a:r>
              <a:rPr lang="vi-VN" dirty="0">
                <a:latin typeface="Calibri" pitchFamily="34" charset="0"/>
              </a:rPr>
              <a:t>Pixel transforms</a:t>
            </a:r>
          </a:p>
          <a:p>
            <a:pPr>
              <a:buClrTx/>
              <a:buSzTx/>
              <a:buFont typeface="Arial" charset="0"/>
              <a:buChar char="•"/>
            </a:pPr>
            <a:r>
              <a:rPr lang="vi-VN" dirty="0">
                <a:latin typeface="Calibri" pitchFamily="34" charset="0"/>
              </a:rPr>
              <a:t>Color transforms</a:t>
            </a:r>
          </a:p>
          <a:p>
            <a:pPr>
              <a:buClrTx/>
              <a:buSzTx/>
              <a:buFont typeface="Arial" charset="0"/>
              <a:buChar char="•"/>
            </a:pPr>
            <a:r>
              <a:rPr lang="vi-VN" dirty="0">
                <a:latin typeface="Calibri" pitchFamily="34" charset="0"/>
              </a:rPr>
              <a:t>Histogram based image operations</a:t>
            </a:r>
            <a:endParaRPr lang="en-US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645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xfrm>
            <a:off x="491490" y="592772"/>
            <a:ext cx="8229600" cy="639762"/>
          </a:xfrm>
        </p:spPr>
        <p:txBody>
          <a:bodyPr/>
          <a:lstStyle/>
          <a:p>
            <a:r>
              <a:rPr lang="vi-VN" sz="4000" dirty="0">
                <a:latin typeface="Arial" charset="0"/>
                <a:cs typeface="Arial" charset="0"/>
              </a:rPr>
              <a:t>Image processing</a:t>
            </a:r>
            <a:endParaRPr lang="en-US" sz="4000" dirty="0">
              <a:latin typeface="Arial" charset="0"/>
              <a:cs typeface="Arial" charset="0"/>
            </a:endParaRP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>
          <a:xfrm>
            <a:off x="457200" y="1592262"/>
            <a:ext cx="8229600" cy="4808538"/>
          </a:xfrm>
        </p:spPr>
        <p:txBody>
          <a:bodyPr/>
          <a:lstStyle/>
          <a:p>
            <a:r>
              <a:rPr lang="en-US" sz="2000" dirty="0"/>
              <a:t>Digital image processing is the use of a digital computer to process digital images through an algorithm. The generation and development of digital image processing are mainly affected by three factors: </a:t>
            </a:r>
          </a:p>
          <a:p>
            <a:pPr lvl="1"/>
            <a:r>
              <a:rPr lang="en-US" sz="1600" dirty="0"/>
              <a:t>The development of computers. </a:t>
            </a:r>
          </a:p>
          <a:p>
            <a:pPr lvl="1"/>
            <a:r>
              <a:rPr lang="en-US" sz="1600" dirty="0"/>
              <a:t>The development of mathematics.</a:t>
            </a:r>
          </a:p>
          <a:p>
            <a:pPr lvl="1"/>
            <a:r>
              <a:rPr lang="en-US" sz="1600" dirty="0"/>
              <a:t>The demand for a wide range of applications in environment, agriculture, military, industry and medical science has increased.</a:t>
            </a:r>
          </a:p>
          <a:p>
            <a:r>
              <a:rPr lang="en-US" sz="2000" dirty="0"/>
              <a:t>Image processing is a method to perform some operations on an image, in order to get an enhanced image or to extract some useful information from it. </a:t>
            </a:r>
          </a:p>
          <a:p>
            <a:r>
              <a:rPr lang="en-US" sz="2000" dirty="0"/>
              <a:t>It is a type of signal processing in which input is an image and output may be image or characteristics/features associated with that image.</a:t>
            </a:r>
            <a:br>
              <a:rPr lang="en-US" sz="2000" dirty="0"/>
            </a:b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xfrm>
            <a:off x="491490" y="592772"/>
            <a:ext cx="8229600" cy="639762"/>
          </a:xfrm>
        </p:spPr>
        <p:txBody>
          <a:bodyPr/>
          <a:lstStyle/>
          <a:p>
            <a:r>
              <a:rPr lang="vi-VN" sz="4000" dirty="0">
                <a:latin typeface="Arial" charset="0"/>
                <a:cs typeface="Arial" charset="0"/>
              </a:rPr>
              <a:t>Image processing</a:t>
            </a:r>
            <a:endParaRPr lang="en-US" sz="4000" dirty="0">
              <a:latin typeface="Arial" charset="0"/>
              <a:cs typeface="Arial" charset="0"/>
            </a:endParaRP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>
          <a:xfrm>
            <a:off x="457200" y="1592262"/>
            <a:ext cx="8229600" cy="922338"/>
          </a:xfrm>
        </p:spPr>
        <p:txBody>
          <a:bodyPr/>
          <a:lstStyle/>
          <a:p>
            <a:r>
              <a:rPr lang="en-US" sz="2000"/>
              <a:t>Image processing to preprocess the image and convert it into a form suitable for further analysis</a:t>
            </a:r>
            <a:endParaRPr lang="en-US" sz="2000" dirty="0"/>
          </a:p>
          <a:p>
            <a:endParaRPr lang="en-US" sz="2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36" y="2438400"/>
            <a:ext cx="3859064" cy="4063789"/>
          </a:xfrm>
          <a:prstGeom prst="rect">
            <a:avLst/>
          </a:prstGeom>
        </p:spPr>
      </p:pic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4343400" y="2670206"/>
            <a:ext cx="4495800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80000"/>
              <a:buFont typeface="Wingdings" pitchFamily="2" charset="2"/>
              <a:buChar char="l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2000" dirty="0"/>
              <a:t>Digital image is a two dimensional array of pixel</a:t>
            </a:r>
          </a:p>
          <a:p>
            <a:r>
              <a:rPr lang="vi-VN" sz="2000" dirty="0"/>
              <a:t>Each pixel:</a:t>
            </a:r>
          </a:p>
          <a:p>
            <a:pPr lvl="1"/>
            <a:r>
              <a:rPr lang="en-US" sz="1600" dirty="0"/>
              <a:t>I</a:t>
            </a:r>
            <a:r>
              <a:rPr lang="vi-VN" sz="1600" dirty="0"/>
              <a:t>ntensity value- represented by a digital number</a:t>
            </a:r>
          </a:p>
          <a:p>
            <a:pPr lvl="1"/>
            <a:r>
              <a:rPr lang="en-US" sz="1600" dirty="0"/>
              <a:t>P</a:t>
            </a:r>
            <a:r>
              <a:rPr lang="vi-VN" sz="1600" dirty="0"/>
              <a:t>osition address- its row and column numbers</a:t>
            </a:r>
          </a:p>
          <a:p>
            <a:r>
              <a:rPr lang="vi-VN" sz="2000" dirty="0"/>
              <a:t>How to calculate intensity value of pixel in RGB space?</a:t>
            </a: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895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xfrm>
            <a:off x="491490" y="592772"/>
            <a:ext cx="8229600" cy="639762"/>
          </a:xfrm>
        </p:spPr>
        <p:txBody>
          <a:bodyPr/>
          <a:lstStyle/>
          <a:p>
            <a:r>
              <a:rPr lang="vi-VN" sz="4000" dirty="0">
                <a:latin typeface="Arial" charset="0"/>
                <a:cs typeface="Arial" charset="0"/>
              </a:rPr>
              <a:t>Image processing</a:t>
            </a:r>
            <a:endParaRPr lang="en-US" sz="4000" dirty="0">
              <a:latin typeface="Arial" charset="0"/>
              <a:cs typeface="Arial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47800"/>
            <a:ext cx="5029200" cy="259294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1493159"/>
            <a:ext cx="2464265" cy="254759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186" y="4191000"/>
            <a:ext cx="2438400" cy="238387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1586" y="4187352"/>
            <a:ext cx="5162479" cy="238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697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xfrm>
            <a:off x="491490" y="592772"/>
            <a:ext cx="8229600" cy="639762"/>
          </a:xfrm>
        </p:spPr>
        <p:txBody>
          <a:bodyPr/>
          <a:lstStyle/>
          <a:p>
            <a:r>
              <a:rPr lang="en-US" sz="4000" b="0" dirty="0"/>
              <a:t>Pixel transforms </a:t>
            </a:r>
            <a:endParaRPr lang="en-US" sz="4000" dirty="0"/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>
          <a:xfrm>
            <a:off x="457200" y="1592262"/>
            <a:ext cx="8229600" cy="3132138"/>
          </a:xfrm>
        </p:spPr>
        <p:txBody>
          <a:bodyPr/>
          <a:lstStyle/>
          <a:p>
            <a:r>
              <a:rPr lang="en-US" sz="2000" dirty="0"/>
              <a:t>Pixel-by-pixel processing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2175871"/>
            <a:ext cx="3076965" cy="244171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2722" y="2315070"/>
            <a:ext cx="2480878" cy="218513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931" y="2303887"/>
            <a:ext cx="2992669" cy="218568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4601057"/>
            <a:ext cx="5147310" cy="19103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1851" y="4692644"/>
            <a:ext cx="3221990" cy="172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570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xfrm>
            <a:off x="491490" y="592772"/>
            <a:ext cx="8229600" cy="639762"/>
          </a:xfrm>
        </p:spPr>
        <p:txBody>
          <a:bodyPr/>
          <a:lstStyle/>
          <a:p>
            <a:r>
              <a:rPr lang="en-US" sz="4000" b="0" dirty="0"/>
              <a:t>Pixel </a:t>
            </a:r>
            <a:r>
              <a:rPr lang="vi-VN" sz="4000" b="0" dirty="0"/>
              <a:t>Operators</a:t>
            </a:r>
            <a:endParaRPr lang="en-US" sz="4000" dirty="0"/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>
          <a:xfrm>
            <a:off x="457200" y="1592262"/>
            <a:ext cx="8229600" cy="3132138"/>
          </a:xfrm>
        </p:spPr>
        <p:txBody>
          <a:bodyPr/>
          <a:lstStyle/>
          <a:p>
            <a:r>
              <a:rPr lang="en-US" sz="2000" i="1" dirty="0"/>
              <a:t>Operator </a:t>
            </a:r>
            <a:r>
              <a:rPr lang="en-US" sz="2000" dirty="0"/>
              <a:t>is a function that takes one or more input images and produces an output image: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Discrete (sampled) images, </a:t>
            </a:r>
            <a:r>
              <a:rPr lang="en-US" sz="2000" i="1" dirty="0"/>
              <a:t>pixel locations</a:t>
            </a:r>
            <a:r>
              <a:rPr lang="en-US" sz="2000" dirty="0"/>
              <a:t>, x = (</a:t>
            </a:r>
            <a:r>
              <a:rPr lang="en-US" sz="2000" dirty="0" err="1"/>
              <a:t>i</a:t>
            </a:r>
            <a:r>
              <a:rPr lang="en-US" sz="2000" dirty="0"/>
              <a:t>, j) 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Multiplication and addition with a constant </a:t>
            </a:r>
          </a:p>
          <a:p>
            <a:endParaRPr lang="en-US" sz="2000" dirty="0"/>
          </a:p>
          <a:p>
            <a:endParaRPr lang="en-US" sz="2000" dirty="0"/>
          </a:p>
          <a:p>
            <a:pPr lvl="1"/>
            <a:r>
              <a:rPr lang="en-US" sz="1600" dirty="0"/>
              <a:t>The parameters a &gt; 0 and b are often called the </a:t>
            </a:r>
            <a:r>
              <a:rPr lang="en-US" sz="1600" i="1" dirty="0"/>
              <a:t>gain </a:t>
            </a:r>
            <a:r>
              <a:rPr lang="en-US" sz="1600" dirty="0"/>
              <a:t>and </a:t>
            </a:r>
            <a:r>
              <a:rPr lang="en-US" sz="1600" i="1" dirty="0"/>
              <a:t>bias </a:t>
            </a:r>
            <a:r>
              <a:rPr lang="en-US" sz="1600" dirty="0"/>
              <a:t>parameters </a:t>
            </a:r>
          </a:p>
          <a:p>
            <a:pPr lvl="1"/>
            <a:r>
              <a:rPr lang="vi-VN" sz="1600" dirty="0"/>
              <a:t>Control contrast and brightness</a:t>
            </a:r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2362200"/>
            <a:ext cx="6400800" cy="55991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3486730"/>
            <a:ext cx="2895600" cy="51923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4599464"/>
            <a:ext cx="3048000" cy="543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28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xfrm>
            <a:off x="491490" y="592772"/>
            <a:ext cx="8229600" cy="639762"/>
          </a:xfrm>
        </p:spPr>
        <p:txBody>
          <a:bodyPr/>
          <a:lstStyle/>
          <a:p>
            <a:r>
              <a:rPr lang="en-US" sz="4000" b="0" dirty="0"/>
              <a:t>Pixel </a:t>
            </a:r>
            <a:r>
              <a:rPr lang="vi-VN" sz="4000" b="0" dirty="0"/>
              <a:t>Operators</a:t>
            </a:r>
            <a:endParaRPr lang="en-US" sz="4000" dirty="0"/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>
          <a:xfrm>
            <a:off x="457200" y="1592262"/>
            <a:ext cx="8229600" cy="3132138"/>
          </a:xfrm>
        </p:spPr>
        <p:txBody>
          <a:bodyPr/>
          <a:lstStyle/>
          <a:p>
            <a:r>
              <a:rPr lang="en-US" sz="2000" dirty="0"/>
              <a:t>Multiplicative gain -</a:t>
            </a:r>
            <a:r>
              <a:rPr lang="en-US" sz="2000" i="1" dirty="0"/>
              <a:t>Superposition principle</a:t>
            </a:r>
            <a:r>
              <a:rPr lang="en-US" sz="2000" dirty="0"/>
              <a:t>: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i="1" dirty="0"/>
          </a:p>
          <a:p>
            <a:r>
              <a:rPr lang="en-US" sz="2000" i="1" dirty="0"/>
              <a:t>Dyadic </a:t>
            </a:r>
            <a:r>
              <a:rPr lang="en-US" sz="2000" dirty="0"/>
              <a:t>(two-input) operator is the </a:t>
            </a:r>
            <a:r>
              <a:rPr lang="en-US" sz="2000" i="1" dirty="0"/>
              <a:t>linear blend </a:t>
            </a:r>
            <a:r>
              <a:rPr lang="en-US" sz="2000" dirty="0"/>
              <a:t>operator  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Invert the gamma mapping applied by the sensor </a:t>
            </a:r>
          </a:p>
          <a:p>
            <a:pPr marL="0" indent="0">
              <a:buNone/>
            </a:pPr>
            <a:r>
              <a:rPr lang="en-US" sz="2000" dirty="0"/>
              <a:t> </a:t>
            </a:r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1998492"/>
            <a:ext cx="4191000" cy="6096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3623922"/>
            <a:ext cx="4495800" cy="56707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5048323"/>
            <a:ext cx="3086302" cy="613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308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xfrm>
            <a:off x="491490" y="592772"/>
            <a:ext cx="8229600" cy="639762"/>
          </a:xfrm>
        </p:spPr>
        <p:txBody>
          <a:bodyPr/>
          <a:lstStyle/>
          <a:p>
            <a:r>
              <a:rPr lang="vi-VN" sz="4000" b="0" dirty="0"/>
              <a:t>Color transforms</a:t>
            </a:r>
            <a:endParaRPr lang="en-US" sz="4000" dirty="0"/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>
          <a:xfrm>
            <a:off x="457200" y="1592262"/>
            <a:ext cx="8229600" cy="4503738"/>
          </a:xfrm>
        </p:spPr>
        <p:txBody>
          <a:bodyPr/>
          <a:lstStyle/>
          <a:p>
            <a:r>
              <a:rPr lang="en-US" sz="2000" dirty="0"/>
              <a:t>brightness increased (additive offset, b = 16)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6000"/>
            <a:ext cx="8686800" cy="3765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207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xfrm>
            <a:off x="491490" y="592772"/>
            <a:ext cx="8229600" cy="639762"/>
          </a:xfrm>
        </p:spPr>
        <p:txBody>
          <a:bodyPr/>
          <a:lstStyle/>
          <a:p>
            <a:r>
              <a:rPr lang="en-US" sz="4000" dirty="0"/>
              <a:t>Compositing and matting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395710"/>
            <a:ext cx="7350135" cy="2667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99" y="4036087"/>
            <a:ext cx="7350135" cy="244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608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xfrm>
            <a:off x="491490" y="592772"/>
            <a:ext cx="8229600" cy="639762"/>
          </a:xfrm>
        </p:spPr>
        <p:txBody>
          <a:bodyPr/>
          <a:lstStyle/>
          <a:p>
            <a:r>
              <a:rPr lang="en-US" sz="4000" dirty="0"/>
              <a:t>Compositing </a:t>
            </a:r>
            <a:r>
              <a:rPr lang="vi-VN" sz="4000" dirty="0"/>
              <a:t>Equation</a:t>
            </a:r>
            <a:endParaRPr lang="en-US" sz="4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5026690"/>
            <a:ext cx="3317913" cy="44637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133600"/>
            <a:ext cx="84582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0030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xfrm>
            <a:off x="491490" y="592772"/>
            <a:ext cx="8229600" cy="639762"/>
          </a:xfrm>
        </p:spPr>
        <p:txBody>
          <a:bodyPr/>
          <a:lstStyle/>
          <a:p>
            <a:r>
              <a:rPr lang="en-US" sz="4000" dirty="0"/>
              <a:t>Histogram equalization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>
          <a:xfrm>
            <a:off x="457200" y="1592262"/>
            <a:ext cx="8229600" cy="4503738"/>
          </a:xfrm>
        </p:spPr>
        <p:txBody>
          <a:bodyPr/>
          <a:lstStyle/>
          <a:p>
            <a:r>
              <a:rPr lang="en-US" sz="2000" dirty="0"/>
              <a:t>Increases the global contrast of many image (especially when the image is represented by a narrow range of intensity values)</a:t>
            </a:r>
          </a:p>
          <a:p>
            <a:endParaRPr lang="en-US" sz="2000" dirty="0"/>
          </a:p>
          <a:p>
            <a:r>
              <a:rPr lang="en-US" sz="2000" dirty="0"/>
              <a:t>Equalization is often used to normalize the gray values (or luminance in color images) to be invariant to changes in illumination conditions.</a:t>
            </a:r>
          </a:p>
          <a:p>
            <a:endParaRPr lang="en-US" sz="2000" dirty="0"/>
          </a:p>
          <a:p>
            <a:r>
              <a:rPr lang="en-US" sz="2000" dirty="0"/>
              <a:t>The cumulative distribution c(I) </a:t>
            </a:r>
          </a:p>
          <a:p>
            <a:endParaRPr lang="en-US" sz="2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1690" y="4495800"/>
            <a:ext cx="5029200" cy="957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1043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xfrm>
            <a:off x="491490" y="592772"/>
            <a:ext cx="8229600" cy="639762"/>
          </a:xfrm>
        </p:spPr>
        <p:txBody>
          <a:bodyPr/>
          <a:lstStyle/>
          <a:p>
            <a:r>
              <a:rPr lang="en-US" sz="4000" dirty="0"/>
              <a:t>Histogram equalization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490" y="1574292"/>
            <a:ext cx="7391400" cy="3352800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490" y="5286293"/>
            <a:ext cx="6260932" cy="109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6731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xfrm>
            <a:off x="491490" y="592772"/>
            <a:ext cx="8229600" cy="639762"/>
          </a:xfrm>
        </p:spPr>
        <p:txBody>
          <a:bodyPr/>
          <a:lstStyle/>
          <a:p>
            <a:r>
              <a:rPr lang="en-US" sz="4000" dirty="0" err="1"/>
              <a:t>Thresholding</a:t>
            </a:r>
            <a:endParaRPr lang="en-US" sz="4000" dirty="0"/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>
          <a:xfrm>
            <a:off x="457200" y="1592262"/>
            <a:ext cx="8229600" cy="4503738"/>
          </a:xfrm>
        </p:spPr>
        <p:txBody>
          <a:bodyPr/>
          <a:lstStyle/>
          <a:p>
            <a:r>
              <a:rPr lang="en-US" sz="2000" dirty="0" err="1"/>
              <a:t>Thresholding</a:t>
            </a:r>
            <a:r>
              <a:rPr lang="en-US" sz="2000" dirty="0"/>
              <a:t> methods replace each pixel in an image with a black pixel if the image intensity I(</a:t>
            </a:r>
            <a:r>
              <a:rPr lang="en-US" sz="2000" dirty="0" err="1"/>
              <a:t>i,j</a:t>
            </a:r>
            <a:r>
              <a:rPr lang="en-US" sz="2000" dirty="0"/>
              <a:t>) is less than some fixed constant T or a white pixel if the image intensity is greater than that constant.</a:t>
            </a:r>
          </a:p>
          <a:p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4DE669-74C6-45E8-A1CE-547538495B78}" type="slidenum">
              <a:rPr lang="en-US"/>
              <a:pPr>
                <a:defRPr/>
              </a:pPr>
              <a:t>14</a:t>
            </a:fld>
            <a:r>
              <a:rPr lang="en-US" dirty="0"/>
              <a:t>/40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895600"/>
            <a:ext cx="8380325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61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xfrm>
            <a:off x="491490" y="592772"/>
            <a:ext cx="8229600" cy="639762"/>
          </a:xfrm>
        </p:spPr>
        <p:txBody>
          <a:bodyPr/>
          <a:lstStyle/>
          <a:p>
            <a:r>
              <a:rPr lang="en-US" sz="4000" dirty="0"/>
              <a:t>Contrast stretching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>
          <a:xfrm>
            <a:off x="457200" y="1592262"/>
            <a:ext cx="8229600" cy="4503738"/>
          </a:xfrm>
        </p:spPr>
        <p:txBody>
          <a:bodyPr/>
          <a:lstStyle/>
          <a:p>
            <a:r>
              <a:rPr lang="en-US" sz="2000" dirty="0"/>
              <a:t>Contrast stretching (also called Normalization) attempts to improve an image by stretching the range of intensity values it contains to make full use of possible values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743200"/>
            <a:ext cx="7620000" cy="371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3006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10600" cy="1143000"/>
          </a:xfrm>
        </p:spPr>
        <p:txBody>
          <a:bodyPr/>
          <a:lstStyle/>
          <a:p>
            <a:r>
              <a:rPr lang="en-US" sz="4000" dirty="0"/>
              <a:t>Summary</a:t>
            </a:r>
          </a:p>
        </p:txBody>
      </p:sp>
      <p:sp>
        <p:nvSpPr>
          <p:cNvPr id="4101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ClrTx/>
              <a:buSzTx/>
              <a:buFont typeface="Arial" charset="0"/>
              <a:buChar char="•"/>
            </a:pPr>
            <a:r>
              <a:rPr lang="en-US" dirty="0">
                <a:latin typeface="Calibri" pitchFamily="34" charset="0"/>
              </a:rPr>
              <a:t>Learn </a:t>
            </a:r>
            <a:r>
              <a:rPr lang="vi-VN" dirty="0">
                <a:latin typeface="Calibri" pitchFamily="34" charset="0"/>
              </a:rPr>
              <a:t>Image processing</a:t>
            </a:r>
            <a:endParaRPr lang="en-US" dirty="0">
              <a:latin typeface="Calibri" pitchFamily="34" charset="0"/>
            </a:endParaRPr>
          </a:p>
          <a:p>
            <a:pPr>
              <a:buClrTx/>
              <a:buSzTx/>
              <a:buFont typeface="Arial" charset="0"/>
              <a:buChar char="•"/>
            </a:pPr>
            <a:r>
              <a:rPr lang="en-US" dirty="0">
                <a:latin typeface="Calibri" pitchFamily="34" charset="0"/>
              </a:rPr>
              <a:t>Image Arithmetic</a:t>
            </a:r>
          </a:p>
          <a:p>
            <a:pPr>
              <a:buClrTx/>
              <a:buSzTx/>
              <a:buFont typeface="Arial" charset="0"/>
              <a:buChar char="•"/>
            </a:pPr>
            <a:r>
              <a:rPr lang="en-US" dirty="0">
                <a:latin typeface="Calibri" pitchFamily="34" charset="0"/>
              </a:rPr>
              <a:t>Understand </a:t>
            </a:r>
            <a:r>
              <a:rPr lang="vi-VN" dirty="0">
                <a:latin typeface="Calibri" pitchFamily="34" charset="0"/>
              </a:rPr>
              <a:t>Pixel transforms</a:t>
            </a:r>
          </a:p>
          <a:p>
            <a:pPr>
              <a:buClrTx/>
              <a:buSzTx/>
              <a:buFont typeface="Arial" charset="0"/>
              <a:buChar char="•"/>
            </a:pPr>
            <a:r>
              <a:rPr lang="vi-VN" dirty="0">
                <a:latin typeface="Calibri" pitchFamily="34" charset="0"/>
              </a:rPr>
              <a:t>Color transforms</a:t>
            </a:r>
          </a:p>
          <a:p>
            <a:pPr>
              <a:buClrTx/>
              <a:buSzTx/>
              <a:buFont typeface="Arial" charset="0"/>
              <a:buChar char="•"/>
            </a:pPr>
            <a:r>
              <a:rPr lang="vi-VN" dirty="0">
                <a:latin typeface="Calibri" pitchFamily="34" charset="0"/>
              </a:rPr>
              <a:t>Histogram based image operations</a:t>
            </a:r>
            <a:endParaRPr lang="en-US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1502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3686</TotalTime>
  <Words>794</Words>
  <Application>Microsoft Office PowerPoint</Application>
  <PresentationFormat>On-screen Show (4:3)</PresentationFormat>
  <Paragraphs>94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Wingdings</vt:lpstr>
      <vt:lpstr>Office Theme</vt:lpstr>
      <vt:lpstr>Image processing - Point Operators</vt:lpstr>
      <vt:lpstr>Objectives</vt:lpstr>
      <vt:lpstr>Image processing</vt:lpstr>
      <vt:lpstr>Image processing</vt:lpstr>
      <vt:lpstr>Image processing</vt:lpstr>
      <vt:lpstr>Pixel transforms </vt:lpstr>
      <vt:lpstr>Pixel Operators</vt:lpstr>
      <vt:lpstr>Pixel Operators</vt:lpstr>
      <vt:lpstr>Color transforms</vt:lpstr>
      <vt:lpstr>Compositing and matting </vt:lpstr>
      <vt:lpstr>Compositing Equation</vt:lpstr>
      <vt:lpstr>Histogram equalization</vt:lpstr>
      <vt:lpstr>Histogram equalization</vt:lpstr>
      <vt:lpstr>Thresholding</vt:lpstr>
      <vt:lpstr>Contrast stretching</vt:lpstr>
      <vt:lpstr>Summary</vt:lpstr>
    </vt:vector>
  </TitlesOfParts>
  <Company>FPT-Uni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Core Java- Introduction</dc:title>
  <dc:creator>DuyDT</dc:creator>
  <cp:lastModifiedBy>‎‎  ‎‎</cp:lastModifiedBy>
  <cp:revision>511</cp:revision>
  <dcterms:created xsi:type="dcterms:W3CDTF">2007-08-21T04:43:22Z</dcterms:created>
  <dcterms:modified xsi:type="dcterms:W3CDTF">2024-01-10T01:34:21Z</dcterms:modified>
</cp:coreProperties>
</file>